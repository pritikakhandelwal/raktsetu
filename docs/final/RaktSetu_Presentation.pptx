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ject" id="{A072FF1E-D61B-0364-D8AE-EDFE531FADD5}">
          <p14:sldIdLst>
            <p14:sldId id="256"/>
            <p14:sldId id="257"/>
            <p14:sldId id="258"/>
            <p14:sldId id="259"/>
          </p14:sldIdLst>
        </p14:section>
        <p14:section name="The app" id="{3511C732-6132-21D3-B788-7B264AD71473}">
          <p14:sldIdLst>
            <p14:sldId id="260"/>
            <p14:sldId id="261"/>
          </p14:sldIdLst>
        </p14:section>
        <p14:section name="OOP in the code" id="{1A3B02A2-1B08-1F01-F323-8F14307C14DA}">
          <p14:sldIdLst>
            <p14:sldId id="262"/>
            <p14:sldId id="263"/>
            <p14:sldId id="264"/>
            <p14:sldId id="265"/>
            <p14:sldId id="266"/>
            <p14:sldId id="267"/>
            <p14:sldId id="268"/>
            <p14:sldId id="269"/>
            <p14:sldId id="270"/>
          </p14:sldIdLst>
        </p14:section>
        <p14:section name="Research" id="{5E8BA060-06BF-9514-15A0-87B34573D758}">
          <p14:sldIdLst>
            <p14:sldId id="271"/>
          </p14:sldIdLst>
        </p14:section>
        <p14:section name="Results" id="{515087B4-D5C7-EB4E-8C1A-57B56704F888}">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628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RaktSetu: 'rakt' means blood and 'setu' means bridge. It finds blood units that are about to expire unused, and recommends moving them, with staff approval, to the hospitals that need them. We built it in Java as our OOP project, and it is live on the internet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2025 India discarded 17.43 lakh units of blood, and 46 percent of them expired. Platelets last only five days. Supply follows donation camps rather than patients, shelf lives are short, and stock reports are often days old. e-Raktkosh, the national system, shows where blood is, but not which units will be wasted or where they should go. That is the gap RaktSetu fills.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RaktSetu works in four steps: track every unit and its expiry; use the last 14 days of usage to spot units that will not be used in time; plan transfers only to centres that will use them, approved by the administrator; and serve emergencies from the nearest safe stock, logging every move. Three kinds of user share it, and one Java engine powers a console app, the web app and a research simulator.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we used and what each one does. Java 21 is the core: the whole object-oriented engine, in seven Maven modules. Spring Boot and Spring Security turn it into a web server with sign-in and roles. PostgreSQL, hosted on Neon, is the live database, and Flyway applies database changes in order. H2 is the built-in database for the console app and demo. The website is React with TypeScript, the map uses Leaflet and OpenStreetMap, JUnit and Vitest run over 230 tests, JMH measures speed, and Docker on Render hosts the live site, with GitHub Actions testing every change.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administrator's dashboard. It shows 182 units in stock, 21 at risk this week and 10 that expire within two days. Below it, the at-risk units are listed soonest first, so the administrator knows exactly what needs to move. Emergency requests search centres within 90 minutes, nearest first, using compatible units closest to expiry.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requests page. A hospital asks for blood: in an emergency RaktSetu searches centres within 90 minutes, nearest first, and issues compatible units closest to expiry. The Is it safe panel checks compatibility for each component. Every request is then tracked from reserved, to on its way, to received.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core of our project: the object-oriented design. We have two abstract classes, BloodComponent with four kinds of blood, and Facility with three kinds of facility. Each facility owns its inventory, which is composition. Interfaces keep the parts swappable. The next slides show each concept in our real code or in the live app.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BloodComponent is abstract, so nobody can create a 'plain' blood component. Its abstract methods force every kind of blood to give its shelf life. On line 91 the code calls getShelfLifeDays without knowing the type, and Java runs the right override at run time: 5 days for platelets, 42 for red cells, 365 for plasma. That is run-time polymorphism.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keeps all its stock in private fields, so nothing outside can change it directly. The only way in is the add method, which refuses duplicate units and keeps the earliest expiry correct. Its constructor is not public, so only a Facility can create one. On the Network page, each centre's table is read through those methods.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Platelets extends BloodComponent, so a platelet unit is a blood component. Its constructors call super to reuse the parent's code, so checking the ID and dates is written once. It has two constructors, which is overloading. Hospital extends Facility and overrides canStore to return false, because hospitals hold no stock.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AuditTrail is an interface: a contract with one method. The engine records events through it and never knows where they go: AuditLogger writes a file, the tests use memory, and the website uses the database, which is what you see on this Audit page. Transfusable shows a default method built on the abstract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abstract class holds the planning algorithm. The plan method is final, so every strategy follows the same steps and checks; subclasses only fill in two abstract steps. That is the Template Method pattern. The strategies are the Strategy pattern: on the Transfers page the admin compares nearest-first and expiry-first, and nothing moves until they approve. ComponentType.newUnit is a factory method.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problems are custom checked exceptions. InsufficientStockException extends RaktSetuException and carries how many units were requested and available. The inventory throws it; the console catches it and keeps running; the website turns it into an HTTP 409. Here request 198 could not be met: the app shows requested 2, available 0, and flags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is generic with a bounded type parameter, so one class stores any identifiable record with no casts. Stock is an EnumMap of TreeSets sorted soonest-expiring first. The sort order itself is a lambda: the FEFO comparator, first expiry, first out. That is why the At risk list is always soonest first.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users share one network on the website, so a read-write lock lets reads run together while a change waits its turn; finally guarantees the lock is released. The work itself is passed in as a lambda: Action is a functional interface with one method, so each request hands lock.writeSafely an arrow function with its code. The console's audit log is a file: each line is appended with a SHA-256 hash, inside a synchronized method so two threads cannot write at once.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approach is backed by published research. Hajjaj and colleagues, in the journal Transfusion in 2024, studied redistributing near-expiry blood products from hospitals with low usage to hospitals more likely to use them. They also evaluated transport failures and costs. That is exactly what RaktSetu does across a network.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120-day simulation of a Pune district network, moving at-risk blood cut expired units by about 60 percent. Profiling made emergency allocation 66 times faster and the server 4.4 times faster, and more than 230 automated tests run on every change. One surprise: more accurate forecasts did not give better plans. Thank you; RaktSetu is live at raktsetu-ubvx.onrender.com, and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d">
    <p:bg>
      <p:bgPr>
        <a:solidFill>
          <a:srgbClr val="EF3E2B"/>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11111"/>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ck">
    <p:bg>
      <p:bgPr>
        <a:solidFill>
          <a:srgbClr val="11111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rtlCol="0"/>
          <a:lstStyle>
            <a:lvl1pPr marL="0" indent="0">
              <a:buNone/>
              <a:defRPr lang="en-US" sz="1300" b="1" kern="0" spc="300" dirty="0">
                <a:solidFill>
                  <a:srgbClr val="EF3E2B"/>
                </a:solidFill>
              </a:defRPr>
            </a:lvl1pPr>
          </a:lstStyle>
          <a:p>
            <a:pPr marL="0" indent="0">
              <a:buNone/>
            </a:pP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rtlCol="0"/>
          <a:lstStyle>
            <a:lvl1pPr marL="0" indent="0" algn="l">
              <a:buNone/>
              <a:defRPr lang="en-US" sz="4000" dirty="0">
                <a:solidFill>
                  <a:srgbClr val="FFFFFF"/>
                </a:solidFill>
                <a:latin typeface="Anton" pitchFamily="34" charset="0"/>
                <a:ea typeface="Anton" pitchFamily="34" charset="-122"/>
                <a:cs typeface="Anton" pitchFamily="34" charset="-120"/>
              </a:defRPr>
            </a:lvl1pPr>
          </a:lstStyle>
          <a:p>
            <a:pPr marL="0" indent="0" algn="l">
              <a:buNone/>
            </a:pPr>
            <a:endParaRPr lang="en-US" sz="4000" dirty="0"/>
          </a:p>
        </p:txBody>
      </p:sp>
      <p:sp>
        <p:nvSpPr>
          <p:cNvPr id="4" name="Text 0"/>
          <p:cNvSpPr/>
          <p:nvPr/>
        </p:nvSpPr>
        <p:spPr>
          <a:xfrm>
            <a:off x="502920" y="6446520"/>
            <a:ext cx="4572000" cy="274320"/>
          </a:xfrm>
          <a:prstGeom prst="rect">
            <a:avLst/>
          </a:prstGeom>
          <a:noFill/>
          <a:ln/>
        </p:spPr>
        <p:txBody>
          <a:bodyPr wrap="square" lIns="0" tIns="0" rIns="0" bIns="0" rtlCol="0" anchor="ctr"/>
          <a:lstStyle/>
          <a:p>
            <a:pPr marL="0" indent="0">
              <a:buNone/>
            </a:pPr>
            <a:r>
              <a:rPr lang="en-US" sz="1100" dirty="0">
                <a:solidFill>
                  <a:srgbClr val="8A847C"/>
                </a:solidFill>
              </a:rPr>
              <a:t>RaktSetu · OOP in Java</a:t>
            </a:r>
            <a:endParaRPr lang="en-US" sz="11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1111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oi.org/10.1111/trf.17876" TargetMode="External"/><Relationship Id="rId4" Type="http://schemas.openxmlformats.org/officeDocument/2006/relationships/hyperlink" Target="https://pubmed.ncbi.nlm.nih.gov/3875238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71600"/>
            <a:ext cx="6400800" cy="365760"/>
          </a:xfrm>
          <a:prstGeom prst="rect">
            <a:avLst/>
          </a:prstGeom>
          <a:noFill/>
          <a:ln/>
        </p:spPr>
        <p:txBody>
          <a:bodyPr wrap="square" lIns="0" tIns="0" rIns="0" bIns="0" rtlCol="0" anchor="ctr"/>
          <a:lstStyle/>
          <a:p>
            <a:pPr marL="0" indent="0">
              <a:buNone/>
            </a:pPr>
            <a:r>
              <a:rPr lang="en-US" sz="1600" b="1" kern="0" spc="300" dirty="0">
                <a:solidFill>
                  <a:schemeClr val="tx1"/>
                </a:solidFill>
              </a:rPr>
              <a:t>EXPIRY-AWARE BLOOD REDISTRIBUTION</a:t>
            </a:r>
            <a:endParaRPr lang="en-US" sz="1600" dirty="0"/>
          </a:p>
        </p:txBody>
      </p:sp>
      <p:sp>
        <p:nvSpPr>
          <p:cNvPr id="3" name="Text 1"/>
          <p:cNvSpPr txBox="1"/>
          <p:nvPr/>
        </p:nvSpPr>
        <p:spPr>
          <a:xfrm>
            <a:off x="640080" y="1783080"/>
            <a:ext cx="6400800" cy="1828800"/>
          </a:xfrm>
          <a:prstGeom prst="rect">
            <a:avLst/>
          </a:prstGeom>
          <a:noFill/>
          <a:ln/>
        </p:spPr>
        <p:txBody>
          <a:bodyPr wrap="square" lIns="0" tIns="0" rIns="0" bIns="0" rtlCol="0" anchor="ctr"/>
          <a:lstStyle/>
          <a:p>
            <a:pPr marL="0" indent="0">
              <a:buNone/>
            </a:pPr>
            <a:r>
              <a:rPr lang="en-US" sz="12000" dirty="0">
                <a:solidFill>
                  <a:schemeClr val="tx1"/>
                </a:solidFill>
                <a:latin typeface="Anton" pitchFamily="34" charset="0"/>
                <a:ea typeface="Anton" pitchFamily="34" charset="-122"/>
                <a:cs typeface="Anton" pitchFamily="34" charset="-120"/>
              </a:rPr>
              <a:t>RAKTSETU</a:t>
            </a:r>
            <a:endParaRPr lang="en-US" sz="12000" dirty="0"/>
          </a:p>
        </p:txBody>
      </p:sp>
      <p:sp>
        <p:nvSpPr>
          <p:cNvPr id="4" name="Text 2"/>
          <p:cNvSpPr txBox="1"/>
          <p:nvPr/>
        </p:nvSpPr>
        <p:spPr>
          <a:xfrm>
            <a:off x="640080" y="3611880"/>
            <a:ext cx="6400800" cy="822960"/>
          </a:xfrm>
          <a:prstGeom prst="rect">
            <a:avLst/>
          </a:prstGeom>
          <a:noFill/>
          <a:ln/>
        </p:spPr>
        <p:txBody>
          <a:bodyPr wrap="square" lIns="0" tIns="0" rIns="0" bIns="0" rtlCol="0" anchor="ctr"/>
          <a:lstStyle/>
          <a:p>
            <a:pPr marL="0" indent="0">
              <a:buNone/>
            </a:pPr>
            <a:r>
              <a:rPr lang="en-US" sz="4000" dirty="0">
                <a:solidFill>
                  <a:schemeClr val="bg1"/>
                </a:solidFill>
                <a:latin typeface="Anton" pitchFamily="34" charset="0"/>
                <a:ea typeface="Anton" pitchFamily="34" charset="-122"/>
                <a:cs typeface="Anton" pitchFamily="34" charset="-120"/>
              </a:rPr>
              <a:t>EVERY UNIT COUNTS.</a:t>
            </a:r>
            <a:endParaRPr lang="en-US" sz="4000" dirty="0"/>
          </a:p>
        </p:txBody>
      </p:sp>
      <p:sp>
        <p:nvSpPr>
          <p:cNvPr id="5" name="Text 3"/>
          <p:cNvSpPr txBox="1"/>
          <p:nvPr/>
        </p:nvSpPr>
        <p:spPr>
          <a:xfrm>
            <a:off x="640080" y="4526280"/>
            <a:ext cx="5852160" cy="914400"/>
          </a:xfrm>
          <a:prstGeom prst="rect">
            <a:avLst/>
          </a:prstGeom>
          <a:noFill/>
          <a:ln/>
        </p:spPr>
        <p:txBody>
          <a:bodyPr wrap="square" lIns="0" tIns="0" rIns="0" bIns="0" rtlCol="0" anchor="t"/>
          <a:lstStyle/>
          <a:p>
            <a:pPr marL="0" indent="0">
              <a:buNone/>
            </a:pPr>
            <a:r>
              <a:rPr lang="en-US" sz="1800" dirty="0">
                <a:solidFill>
                  <a:schemeClr val="tx1"/>
                </a:solidFill>
              </a:rPr>
              <a:t>Finds blood that will expire unused and moves it, with staff approval, to the hospitals that need it.</a:t>
            </a:r>
            <a:endParaRPr lang="en-US" sz="1800" dirty="0"/>
          </a:p>
        </p:txBody>
      </p:sp>
      <p:sp>
        <p:nvSpPr>
          <p:cNvPr id="6" name="cover-box"/>
          <p:cNvSpPr/>
          <p:nvPr/>
        </p:nvSpPr>
        <p:spPr>
          <a:xfrm>
            <a:off x="7086600" y="1463040"/>
            <a:ext cx="4526280" cy="3520440"/>
          </a:xfrm>
          <a:prstGeom prst="roundRect">
            <a:avLst>
              <a:gd name="adj" fmla="val 2078"/>
            </a:avLst>
          </a:prstGeom>
          <a:solidFill>
            <a:srgbClr val="1D1D1D"/>
          </a:solidFill>
          <a:ln w="12700">
            <a:solidFill>
              <a:srgbClr val="333333"/>
            </a:solidFill>
            <a:prstDash val="solid"/>
          </a:ln>
        </p:spPr>
        <p:txBody>
          <a:bodyPr/>
          <a:lstStyle/>
          <a:p>
            <a:endParaRPr lang="en-IN"/>
          </a:p>
        </p:txBody>
      </p:sp>
      <p:sp>
        <p:nvSpPr>
          <p:cNvPr id="7" name="Text 5"/>
          <p:cNvSpPr txBox="1"/>
          <p:nvPr/>
        </p:nvSpPr>
        <p:spPr>
          <a:xfrm>
            <a:off x="7452360" y="1783080"/>
            <a:ext cx="3886200" cy="3017520"/>
          </a:xfrm>
          <a:prstGeom prst="rect">
            <a:avLst/>
          </a:prstGeom>
          <a:noFill/>
          <a:ln/>
        </p:spPr>
        <p:txBody>
          <a:bodyPr wrap="square" lIns="0" tIns="0" rIns="0" bIns="0" rtlCol="0" anchor="t"/>
          <a:lstStyle/>
          <a:p>
            <a:pPr marL="0" indent="0">
              <a:spcAft>
                <a:spcPts val="1400"/>
              </a:spcAft>
              <a:buNone/>
            </a:pPr>
            <a:r>
              <a:rPr lang="en-US" sz="1400" b="1" kern="0" spc="200" dirty="0">
                <a:solidFill>
                  <a:schemeClr val="accent3"/>
                </a:solidFill>
              </a:rPr>
              <a:t>OOP IN JAVA · COURSE PROJECT</a:t>
            </a:r>
            <a:endParaRPr lang="en-US" sz="1400" dirty="0"/>
          </a:p>
          <a:p>
            <a:pPr marL="0" indent="0">
              <a:spcAft>
                <a:spcPts val="600"/>
              </a:spcAft>
              <a:buNone/>
            </a:pPr>
            <a:r>
              <a:rPr lang="en-US" sz="2000" dirty="0">
                <a:solidFill>
                  <a:schemeClr val="bg1"/>
                </a:solidFill>
              </a:rPr>
              <a:t>Pritika Khandelwal · R037</a:t>
            </a:r>
            <a:endParaRPr lang="en-US" sz="1400" dirty="0"/>
          </a:p>
          <a:p>
            <a:pPr marL="0" indent="0">
              <a:spcAft>
                <a:spcPts val="600"/>
              </a:spcAft>
              <a:buNone/>
            </a:pPr>
            <a:r>
              <a:rPr lang="en-US" sz="1700" dirty="0">
                <a:solidFill>
                  <a:schemeClr val="accent5"/>
                </a:solidFill>
              </a:rPr>
              <a:t>MBA Tech AI · MPSTME</a:t>
            </a:r>
            <a:endParaRPr lang="en-US" sz="1400" dirty="0"/>
          </a:p>
          <a:p>
            <a:pPr marL="0" indent="0">
              <a:buNone/>
            </a:pPr>
            <a:r>
              <a:rPr lang="en-US" sz="1700" dirty="0">
                <a:solidFill>
                  <a:schemeClr val="accent3"/>
                </a:solidFill>
              </a:rPr>
              <a:t>raktsetu-ubvx.onrender.com</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111111"/>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THE PROBLEM</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BLOOD EXPIRES IN THE WRONG PLACE</a:t>
            </a:r>
            <a:endParaRPr lang="en-US" sz="4000" dirty="0"/>
          </a:p>
        </p:txBody>
      </p:sp>
      <p:sp>
        <p:nvSpPr>
          <p:cNvPr id="4" name="stat-1"/>
          <p:cNvSpPr/>
          <p:nvPr/>
        </p:nvSpPr>
        <p:spPr>
          <a:xfrm>
            <a:off x="502920" y="1645920"/>
            <a:ext cx="3611880" cy="2011680"/>
          </a:xfrm>
          <a:prstGeom prst="roundRect">
            <a:avLst>
              <a:gd name="adj" fmla="val 3636"/>
            </a:avLst>
          </a:prstGeom>
          <a:solidFill>
            <a:srgbClr val="EF3E2B"/>
          </a:solidFill>
          <a:ln w="12700">
            <a:solidFill>
              <a:srgbClr val="EF3E2B"/>
            </a:solidFill>
            <a:prstDash val="solid"/>
          </a:ln>
        </p:spPr>
        <p:txBody>
          <a:bodyPr/>
          <a:lstStyle/>
          <a:p>
            <a:endParaRPr lang="en-IN"/>
          </a:p>
        </p:txBody>
      </p:sp>
      <p:sp>
        <p:nvSpPr>
          <p:cNvPr id="5" name="Text 3"/>
          <p:cNvSpPr txBox="1"/>
          <p:nvPr/>
        </p:nvSpPr>
        <p:spPr>
          <a:xfrm>
            <a:off x="777240" y="1783080"/>
            <a:ext cx="3108960" cy="914400"/>
          </a:xfrm>
          <a:prstGeom prst="rect">
            <a:avLst/>
          </a:prstGeom>
          <a:noFill/>
          <a:ln/>
        </p:spPr>
        <p:txBody>
          <a:bodyPr wrap="square" lIns="0" tIns="0" rIns="0" bIns="0" rtlCol="0" anchor="ctr"/>
          <a:lstStyle/>
          <a:p>
            <a:pPr marL="0" indent="0">
              <a:buNone/>
            </a:pPr>
            <a:r>
              <a:rPr lang="en-US" sz="5400" dirty="0">
                <a:solidFill>
                  <a:schemeClr val="tx1"/>
                </a:solidFill>
                <a:latin typeface="Anton" pitchFamily="34" charset="0"/>
                <a:ea typeface="Anton" pitchFamily="34" charset="-122"/>
                <a:cs typeface="Anton" pitchFamily="34" charset="-120"/>
              </a:rPr>
              <a:t>17.43 lakh</a:t>
            </a:r>
            <a:endParaRPr lang="en-US" sz="5400" dirty="0"/>
          </a:p>
        </p:txBody>
      </p:sp>
      <p:sp>
        <p:nvSpPr>
          <p:cNvPr id="6" name="Text 4"/>
          <p:cNvSpPr txBox="1"/>
          <p:nvPr/>
        </p:nvSpPr>
        <p:spPr>
          <a:xfrm>
            <a:off x="777240" y="2788920"/>
            <a:ext cx="3108960" cy="731520"/>
          </a:xfrm>
          <a:prstGeom prst="rect">
            <a:avLst/>
          </a:prstGeom>
          <a:noFill/>
          <a:ln/>
        </p:spPr>
        <p:txBody>
          <a:bodyPr wrap="square" lIns="0" tIns="0" rIns="0" bIns="0" rtlCol="0" anchor="t"/>
          <a:lstStyle/>
          <a:p>
            <a:pPr marL="0" indent="0">
              <a:buNone/>
            </a:pPr>
            <a:r>
              <a:rPr lang="en-US" sz="1700" dirty="0">
                <a:solidFill>
                  <a:schemeClr val="tx1"/>
                </a:solidFill>
              </a:rPr>
              <a:t>units of blood discarded in India in 2025</a:t>
            </a:r>
            <a:endParaRPr lang="en-US" sz="1700" dirty="0"/>
          </a:p>
        </p:txBody>
      </p:sp>
      <p:sp>
        <p:nvSpPr>
          <p:cNvPr id="7" name="stat-2"/>
          <p:cNvSpPr/>
          <p:nvPr/>
        </p:nvSpPr>
        <p:spPr>
          <a:xfrm>
            <a:off x="4297680" y="1645920"/>
            <a:ext cx="3611880" cy="2011680"/>
          </a:xfrm>
          <a:prstGeom prst="roundRect">
            <a:avLst>
              <a:gd name="adj" fmla="val 3636"/>
            </a:avLst>
          </a:prstGeom>
          <a:solidFill>
            <a:srgbClr val="1D1D1D"/>
          </a:solidFill>
          <a:ln w="12700">
            <a:solidFill>
              <a:srgbClr val="333333"/>
            </a:solidFill>
            <a:prstDash val="solid"/>
          </a:ln>
        </p:spPr>
        <p:txBody>
          <a:bodyPr/>
          <a:lstStyle/>
          <a:p>
            <a:endParaRPr lang="en-IN"/>
          </a:p>
        </p:txBody>
      </p:sp>
      <p:sp>
        <p:nvSpPr>
          <p:cNvPr id="8" name="Text 6"/>
          <p:cNvSpPr txBox="1"/>
          <p:nvPr/>
        </p:nvSpPr>
        <p:spPr>
          <a:xfrm>
            <a:off x="4572000" y="1783080"/>
            <a:ext cx="3108960" cy="914400"/>
          </a:xfrm>
          <a:prstGeom prst="rect">
            <a:avLst/>
          </a:prstGeom>
          <a:noFill/>
          <a:ln/>
        </p:spPr>
        <p:txBody>
          <a:bodyPr wrap="square" lIns="0" tIns="0" rIns="0" bIns="0" rtlCol="0" anchor="ctr"/>
          <a:lstStyle/>
          <a:p>
            <a:pPr marL="0" indent="0">
              <a:buNone/>
            </a:pPr>
            <a:r>
              <a:rPr lang="en-US" sz="5400" dirty="0">
                <a:solidFill>
                  <a:schemeClr val="accent1"/>
                </a:solidFill>
                <a:latin typeface="Anton" pitchFamily="34" charset="0"/>
                <a:ea typeface="Anton" pitchFamily="34" charset="-122"/>
                <a:cs typeface="Anton" pitchFamily="34" charset="-120"/>
              </a:rPr>
              <a:t>46%</a:t>
            </a:r>
            <a:endParaRPr lang="en-US" sz="5400" dirty="0"/>
          </a:p>
        </p:txBody>
      </p:sp>
      <p:sp>
        <p:nvSpPr>
          <p:cNvPr id="9" name="Text 7"/>
          <p:cNvSpPr txBox="1"/>
          <p:nvPr/>
        </p:nvSpPr>
        <p:spPr>
          <a:xfrm>
            <a:off x="4572000" y="2788920"/>
            <a:ext cx="3108960" cy="731520"/>
          </a:xfrm>
          <a:prstGeom prst="rect">
            <a:avLst/>
          </a:prstGeom>
          <a:noFill/>
          <a:ln/>
        </p:spPr>
        <p:txBody>
          <a:bodyPr wrap="square" lIns="0" tIns="0" rIns="0" bIns="0" rtlCol="0" anchor="t"/>
          <a:lstStyle/>
          <a:p>
            <a:pPr marL="0" indent="0">
              <a:buNone/>
            </a:pPr>
            <a:r>
              <a:rPr lang="en-US" sz="1700" dirty="0">
                <a:solidFill>
                  <a:schemeClr val="bg1"/>
                </a:solidFill>
              </a:rPr>
              <a:t>of those were discarded because they expired</a:t>
            </a:r>
            <a:endParaRPr lang="en-US" sz="1700" dirty="0"/>
          </a:p>
        </p:txBody>
      </p:sp>
      <p:sp>
        <p:nvSpPr>
          <p:cNvPr id="10" name="stat-3"/>
          <p:cNvSpPr/>
          <p:nvPr/>
        </p:nvSpPr>
        <p:spPr>
          <a:xfrm>
            <a:off x="8092440" y="1645920"/>
            <a:ext cx="3611880" cy="2011680"/>
          </a:xfrm>
          <a:prstGeom prst="roundRect">
            <a:avLst>
              <a:gd name="adj" fmla="val 3636"/>
            </a:avLst>
          </a:prstGeom>
          <a:solidFill>
            <a:srgbClr val="1D1D1D"/>
          </a:solidFill>
          <a:ln w="12700">
            <a:solidFill>
              <a:srgbClr val="333333"/>
            </a:solidFill>
            <a:prstDash val="solid"/>
          </a:ln>
        </p:spPr>
        <p:txBody>
          <a:bodyPr/>
          <a:lstStyle/>
          <a:p>
            <a:endParaRPr lang="en-IN"/>
          </a:p>
        </p:txBody>
      </p:sp>
      <p:sp>
        <p:nvSpPr>
          <p:cNvPr id="11" name="Text 9"/>
          <p:cNvSpPr txBox="1"/>
          <p:nvPr/>
        </p:nvSpPr>
        <p:spPr>
          <a:xfrm>
            <a:off x="8366760" y="1783080"/>
            <a:ext cx="3108960" cy="914400"/>
          </a:xfrm>
          <a:prstGeom prst="rect">
            <a:avLst/>
          </a:prstGeom>
          <a:noFill/>
          <a:ln/>
        </p:spPr>
        <p:txBody>
          <a:bodyPr wrap="square" lIns="0" tIns="0" rIns="0" bIns="0" rtlCol="0" anchor="ctr"/>
          <a:lstStyle/>
          <a:p>
            <a:pPr marL="0" indent="0">
              <a:buNone/>
            </a:pPr>
            <a:r>
              <a:rPr lang="en-US" sz="5400" dirty="0">
                <a:solidFill>
                  <a:schemeClr val="accent1"/>
                </a:solidFill>
                <a:latin typeface="Anton" pitchFamily="34" charset="0"/>
                <a:ea typeface="Anton" pitchFamily="34" charset="-122"/>
                <a:cs typeface="Anton" pitchFamily="34" charset="-120"/>
              </a:rPr>
              <a:t>5 days</a:t>
            </a:r>
            <a:endParaRPr lang="en-US" sz="5400" dirty="0"/>
          </a:p>
        </p:txBody>
      </p:sp>
      <p:sp>
        <p:nvSpPr>
          <p:cNvPr id="12" name="Text 10"/>
          <p:cNvSpPr txBox="1"/>
          <p:nvPr/>
        </p:nvSpPr>
        <p:spPr>
          <a:xfrm>
            <a:off x="8366760" y="2788920"/>
            <a:ext cx="3108960" cy="731520"/>
          </a:xfrm>
          <a:prstGeom prst="rect">
            <a:avLst/>
          </a:prstGeom>
          <a:noFill/>
          <a:ln/>
        </p:spPr>
        <p:txBody>
          <a:bodyPr wrap="square" lIns="0" tIns="0" rIns="0" bIns="0" rtlCol="0" anchor="t"/>
          <a:lstStyle/>
          <a:p>
            <a:pPr marL="0" indent="0">
              <a:buNone/>
            </a:pPr>
            <a:r>
              <a:rPr lang="en-US" sz="1700" dirty="0">
                <a:solidFill>
                  <a:schemeClr val="bg1"/>
                </a:solidFill>
              </a:rPr>
              <a:t>is all platelets last; red cells last 42</a:t>
            </a:r>
            <a:endParaRPr lang="en-US" sz="1700" dirty="0"/>
          </a:p>
        </p:txBody>
      </p:sp>
      <p:sp>
        <p:nvSpPr>
          <p:cNvPr id="13" name="why"/>
          <p:cNvSpPr/>
          <p:nvPr/>
        </p:nvSpPr>
        <p:spPr>
          <a:xfrm>
            <a:off x="502920" y="3886200"/>
            <a:ext cx="5486400" cy="2240280"/>
          </a:xfrm>
          <a:prstGeom prst="roundRect">
            <a:avLst>
              <a:gd name="adj" fmla="val 3265"/>
            </a:avLst>
          </a:prstGeom>
          <a:solidFill>
            <a:srgbClr val="1D1D1D"/>
          </a:solidFill>
          <a:ln w="12700">
            <a:solidFill>
              <a:srgbClr val="333333"/>
            </a:solidFill>
            <a:prstDash val="solid"/>
          </a:ln>
        </p:spPr>
        <p:txBody>
          <a:bodyPr/>
          <a:lstStyle/>
          <a:p>
            <a:endParaRPr lang="en-IN"/>
          </a:p>
        </p:txBody>
      </p:sp>
      <p:sp>
        <p:nvSpPr>
          <p:cNvPr id="14" name="Text 12"/>
          <p:cNvSpPr txBox="1"/>
          <p:nvPr/>
        </p:nvSpPr>
        <p:spPr>
          <a:xfrm>
            <a:off x="777240" y="4069080"/>
            <a:ext cx="4937760" cy="1965960"/>
          </a:xfrm>
          <a:prstGeom prst="rect">
            <a:avLst/>
          </a:prstGeom>
          <a:noFill/>
          <a:ln/>
        </p:spPr>
        <p:txBody>
          <a:bodyPr wrap="square" lIns="0" tIns="0" rIns="0" bIns="0" rtlCol="0" anchor="t"/>
          <a:lstStyle/>
          <a:p>
            <a:pPr marL="0" indent="0">
              <a:spcAft>
                <a:spcPts val="200"/>
              </a:spcAft>
              <a:buNone/>
            </a:pPr>
            <a:r>
              <a:rPr lang="en-US" sz="1600" b="1" kern="0" spc="100" dirty="0">
                <a:solidFill>
                  <a:schemeClr val="accent3"/>
                </a:solidFill>
              </a:rPr>
              <a:t>WHY IT HAPPENS</a:t>
            </a:r>
            <a:endParaRPr lang="en-US" sz="1600" dirty="0"/>
          </a:p>
          <a:p>
            <a:pPr marL="203200" indent="-203200">
              <a:spcAft>
                <a:spcPts val="500"/>
              </a:spcAft>
              <a:buSzPct val="100000"/>
              <a:buChar char="•"/>
            </a:pPr>
            <a:r>
              <a:rPr lang="en-US" sz="1900" dirty="0">
                <a:solidFill>
                  <a:schemeClr val="bg1"/>
                </a:solidFill>
              </a:rPr>
              <a:t>Supply follows donation camps, not patients</a:t>
            </a:r>
            <a:endParaRPr lang="en-US" sz="1600" dirty="0"/>
          </a:p>
          <a:p>
            <a:pPr marL="203200" indent="-203200">
              <a:spcAft>
                <a:spcPts val="500"/>
              </a:spcAft>
              <a:buSzPct val="100000"/>
              <a:buChar char="•"/>
            </a:pPr>
            <a:r>
              <a:rPr lang="en-US" sz="1900" dirty="0">
                <a:solidFill>
                  <a:schemeClr val="bg1"/>
                </a:solidFill>
              </a:rPr>
              <a:t>Short, fixed shelf lives</a:t>
            </a:r>
            <a:endParaRPr lang="en-US" sz="1600" dirty="0"/>
          </a:p>
          <a:p>
            <a:pPr marL="203200" indent="-203200">
              <a:spcAft>
                <a:spcPts val="500"/>
              </a:spcAft>
              <a:buSzPct val="100000"/>
              <a:buChar char="•"/>
            </a:pPr>
            <a:r>
              <a:rPr lang="en-US" sz="1900" dirty="0">
                <a:solidFill>
                  <a:schemeClr val="bg1"/>
                </a:solidFill>
              </a:rPr>
              <a:t>Stock reports are days out of date</a:t>
            </a:r>
            <a:endParaRPr lang="en-US" sz="1600" dirty="0"/>
          </a:p>
        </p:txBody>
      </p:sp>
      <p:sp>
        <p:nvSpPr>
          <p:cNvPr id="15" name="gap"/>
          <p:cNvSpPr/>
          <p:nvPr/>
        </p:nvSpPr>
        <p:spPr>
          <a:xfrm>
            <a:off x="6217920" y="3886200"/>
            <a:ext cx="5486400" cy="2240280"/>
          </a:xfrm>
          <a:prstGeom prst="roundRect">
            <a:avLst>
              <a:gd name="adj" fmla="val 3265"/>
            </a:avLst>
          </a:prstGeom>
          <a:solidFill>
            <a:srgbClr val="1D1D1D"/>
          </a:solidFill>
          <a:ln w="12700">
            <a:solidFill>
              <a:srgbClr val="333333"/>
            </a:solidFill>
            <a:prstDash val="solid"/>
          </a:ln>
        </p:spPr>
        <p:txBody>
          <a:bodyPr/>
          <a:lstStyle/>
          <a:p>
            <a:endParaRPr lang="en-IN"/>
          </a:p>
        </p:txBody>
      </p:sp>
      <p:sp>
        <p:nvSpPr>
          <p:cNvPr id="16" name="Text 14"/>
          <p:cNvSpPr txBox="1"/>
          <p:nvPr/>
        </p:nvSpPr>
        <p:spPr>
          <a:xfrm>
            <a:off x="6492240" y="4069080"/>
            <a:ext cx="4937760" cy="1965960"/>
          </a:xfrm>
          <a:prstGeom prst="rect">
            <a:avLst/>
          </a:prstGeom>
          <a:noFill/>
          <a:ln/>
        </p:spPr>
        <p:txBody>
          <a:bodyPr wrap="square" lIns="0" tIns="0" rIns="0" bIns="0" rtlCol="0" anchor="t"/>
          <a:lstStyle/>
          <a:p>
            <a:pPr marL="0" indent="0">
              <a:spcAft>
                <a:spcPts val="200"/>
              </a:spcAft>
              <a:buNone/>
            </a:pPr>
            <a:r>
              <a:rPr lang="en-US" sz="1600" b="1" kern="0" spc="100" dirty="0">
                <a:solidFill>
                  <a:schemeClr val="accent3"/>
                </a:solidFill>
              </a:rPr>
              <a:t>THE GAP</a:t>
            </a:r>
            <a:endParaRPr lang="en-US" sz="1600" dirty="0"/>
          </a:p>
          <a:p>
            <a:pPr marL="0" indent="0">
              <a:spcAft>
                <a:spcPts val="500"/>
              </a:spcAft>
              <a:buNone/>
            </a:pPr>
            <a:r>
              <a:rPr lang="en-US" sz="1900" dirty="0">
                <a:solidFill>
                  <a:schemeClr val="bg1"/>
                </a:solidFill>
              </a:rPr>
              <a:t>e-Raktkosh shows where blood is. Nobody shows which units will be wasted, or where they should go. RaktSetu fills that gap.</a:t>
            </a:r>
            <a:endParaRPr lang="en-US" sz="1600" dirty="0"/>
          </a:p>
        </p:txBody>
      </p:sp>
      <p:sp>
        <p:nvSpPr>
          <p:cNvPr id="17" name="Text 15"/>
          <p:cNvSpPr txBox="1"/>
          <p:nvPr/>
        </p:nvSpPr>
        <p:spPr>
          <a:xfrm>
            <a:off x="502920" y="6172200"/>
            <a:ext cx="8229600" cy="228600"/>
          </a:xfrm>
          <a:prstGeom prst="rect">
            <a:avLst/>
          </a:prstGeom>
          <a:noFill/>
          <a:ln/>
        </p:spPr>
        <p:txBody>
          <a:bodyPr wrap="square" lIns="0" tIns="0" rIns="0" bIns="0" rtlCol="0" anchor="ctr"/>
          <a:lstStyle/>
          <a:p>
            <a:pPr marL="0" indent="0">
              <a:buNone/>
            </a:pPr>
            <a:r>
              <a:rPr lang="en-US" sz="1100" dirty="0">
                <a:solidFill>
                  <a:srgbClr val="8A847C"/>
                </a:solidFill>
              </a:rPr>
              <a:t>Source: Rajya Sabha Unstarred Question 1882 (4 Aug 2026), e-Raktkosh data.</a:t>
            </a:r>
            <a:endParaRPr lang="en-US" sz="11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OUR SOLUTION</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FIND IT. MOVE IT. PROVE IT.</a:t>
            </a:r>
            <a:endParaRPr lang="en-US" sz="4000" dirty="0"/>
          </a:p>
        </p:txBody>
      </p:sp>
      <p:sp>
        <p:nvSpPr>
          <p:cNvPr id="4" name="step-1"/>
          <p:cNvSpPr/>
          <p:nvPr/>
        </p:nvSpPr>
        <p:spPr>
          <a:xfrm>
            <a:off x="502920" y="1645920"/>
            <a:ext cx="2651760" cy="2514600"/>
          </a:xfrm>
          <a:prstGeom prst="roundRect">
            <a:avLst>
              <a:gd name="adj" fmla="val 2909"/>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58952" y="1783080"/>
            <a:ext cx="731520" cy="685800"/>
          </a:xfrm>
          <a:prstGeom prst="rect">
            <a:avLst/>
          </a:prstGeom>
          <a:noFill/>
          <a:ln/>
        </p:spPr>
        <p:txBody>
          <a:bodyPr wrap="square" lIns="0" tIns="0" rIns="0" bIns="0" rtlCol="0" anchor="ctr"/>
          <a:lstStyle/>
          <a:p>
            <a:pPr marL="0" indent="0">
              <a:buNone/>
            </a:pPr>
            <a:r>
              <a:rPr lang="en-US" sz="4000" dirty="0">
                <a:solidFill>
                  <a:schemeClr val="accent1"/>
                </a:solidFill>
                <a:latin typeface="Anton" pitchFamily="34" charset="0"/>
                <a:ea typeface="Anton" pitchFamily="34" charset="-122"/>
                <a:cs typeface="Anton" pitchFamily="34" charset="-120"/>
              </a:rPr>
              <a:t>1</a:t>
            </a:r>
            <a:endParaRPr lang="en-US" sz="4000" dirty="0"/>
          </a:p>
        </p:txBody>
      </p:sp>
      <p:sp>
        <p:nvSpPr>
          <p:cNvPr id="6" name="Text 4"/>
          <p:cNvSpPr txBox="1"/>
          <p:nvPr/>
        </p:nvSpPr>
        <p:spPr>
          <a:xfrm>
            <a:off x="758952" y="2514600"/>
            <a:ext cx="2194560" cy="1600200"/>
          </a:xfrm>
          <a:prstGeom prst="rect">
            <a:avLst/>
          </a:prstGeom>
          <a:noFill/>
          <a:ln/>
        </p:spPr>
        <p:txBody>
          <a:bodyPr wrap="square" lIns="0" tIns="0" rIns="0" bIns="0" rtlCol="0" anchor="t"/>
          <a:lstStyle/>
          <a:p>
            <a:pPr marL="0" indent="0">
              <a:spcAft>
                <a:spcPts val="600"/>
              </a:spcAft>
              <a:buNone/>
            </a:pPr>
            <a:r>
              <a:rPr lang="en-US" sz="2000" b="1" dirty="0">
                <a:solidFill>
                  <a:schemeClr val="bg1"/>
                </a:solidFill>
              </a:rPr>
              <a:t>Track</a:t>
            </a:r>
            <a:endParaRPr lang="en-US" sz="2000" dirty="0"/>
          </a:p>
          <a:p>
            <a:pPr marL="0" indent="0">
              <a:buNone/>
            </a:pPr>
            <a:r>
              <a:rPr lang="en-US" sz="1500" dirty="0">
                <a:solidFill>
                  <a:schemeClr val="accent5"/>
                </a:solidFill>
              </a:rPr>
              <a:t>Centres log every bag; expiry is worked out per component.</a:t>
            </a:r>
            <a:endParaRPr lang="en-US" sz="2000" dirty="0"/>
          </a:p>
        </p:txBody>
      </p:sp>
      <p:sp>
        <p:nvSpPr>
          <p:cNvPr id="7" name="step-2"/>
          <p:cNvSpPr/>
          <p:nvPr/>
        </p:nvSpPr>
        <p:spPr>
          <a:xfrm>
            <a:off x="3337560" y="1645920"/>
            <a:ext cx="2651760" cy="2514600"/>
          </a:xfrm>
          <a:prstGeom prst="roundRect">
            <a:avLst>
              <a:gd name="adj" fmla="val 2909"/>
            </a:avLst>
          </a:prstGeom>
          <a:solidFill>
            <a:srgbClr val="1D1D1D"/>
          </a:solidFill>
          <a:ln w="12700">
            <a:solidFill>
              <a:srgbClr val="333333"/>
            </a:solidFill>
            <a:prstDash val="solid"/>
          </a:ln>
        </p:spPr>
        <p:txBody>
          <a:bodyPr/>
          <a:lstStyle/>
          <a:p>
            <a:endParaRPr lang="en-IN"/>
          </a:p>
        </p:txBody>
      </p:sp>
      <p:sp>
        <p:nvSpPr>
          <p:cNvPr id="8" name="Text 6"/>
          <p:cNvSpPr txBox="1"/>
          <p:nvPr/>
        </p:nvSpPr>
        <p:spPr>
          <a:xfrm>
            <a:off x="3593592" y="1783080"/>
            <a:ext cx="731520" cy="685800"/>
          </a:xfrm>
          <a:prstGeom prst="rect">
            <a:avLst/>
          </a:prstGeom>
          <a:noFill/>
          <a:ln/>
        </p:spPr>
        <p:txBody>
          <a:bodyPr wrap="square" lIns="0" tIns="0" rIns="0" bIns="0" rtlCol="0" anchor="ctr"/>
          <a:lstStyle/>
          <a:p>
            <a:pPr marL="0" indent="0">
              <a:buNone/>
            </a:pPr>
            <a:r>
              <a:rPr lang="en-US" sz="4000" dirty="0">
                <a:solidFill>
                  <a:schemeClr val="accent1"/>
                </a:solidFill>
                <a:latin typeface="Anton" pitchFamily="34" charset="0"/>
                <a:ea typeface="Anton" pitchFamily="34" charset="-122"/>
                <a:cs typeface="Anton" pitchFamily="34" charset="-120"/>
              </a:rPr>
              <a:t>2</a:t>
            </a:r>
            <a:endParaRPr lang="en-US" sz="4000" dirty="0"/>
          </a:p>
        </p:txBody>
      </p:sp>
      <p:sp>
        <p:nvSpPr>
          <p:cNvPr id="9" name="Text 7"/>
          <p:cNvSpPr txBox="1"/>
          <p:nvPr/>
        </p:nvSpPr>
        <p:spPr>
          <a:xfrm>
            <a:off x="3593592" y="2514600"/>
            <a:ext cx="2194560" cy="1600200"/>
          </a:xfrm>
          <a:prstGeom prst="rect">
            <a:avLst/>
          </a:prstGeom>
          <a:noFill/>
          <a:ln/>
        </p:spPr>
        <p:txBody>
          <a:bodyPr wrap="square" lIns="0" tIns="0" rIns="0" bIns="0" rtlCol="0" anchor="t"/>
          <a:lstStyle/>
          <a:p>
            <a:pPr marL="0" indent="0">
              <a:spcAft>
                <a:spcPts val="600"/>
              </a:spcAft>
              <a:buNone/>
            </a:pPr>
            <a:r>
              <a:rPr lang="en-US" sz="2000" b="1" dirty="0">
                <a:solidFill>
                  <a:schemeClr val="bg1"/>
                </a:solidFill>
              </a:rPr>
              <a:t>Spot risk</a:t>
            </a:r>
            <a:endParaRPr lang="en-US" sz="2000" dirty="0"/>
          </a:p>
          <a:p>
            <a:pPr marL="0" indent="0">
              <a:buNone/>
            </a:pPr>
            <a:r>
              <a:rPr lang="en-US" sz="1500" dirty="0">
                <a:solidFill>
                  <a:schemeClr val="accent5"/>
                </a:solidFill>
              </a:rPr>
              <a:t>14 days of usage show which units will not be used in time.</a:t>
            </a:r>
            <a:endParaRPr lang="en-US" sz="2000" dirty="0"/>
          </a:p>
        </p:txBody>
      </p:sp>
      <p:sp>
        <p:nvSpPr>
          <p:cNvPr id="10" name="step-3"/>
          <p:cNvSpPr/>
          <p:nvPr/>
        </p:nvSpPr>
        <p:spPr>
          <a:xfrm>
            <a:off x="6172200" y="1645920"/>
            <a:ext cx="2651760" cy="2514600"/>
          </a:xfrm>
          <a:prstGeom prst="roundRect">
            <a:avLst>
              <a:gd name="adj" fmla="val 2909"/>
            </a:avLst>
          </a:prstGeom>
          <a:solidFill>
            <a:srgbClr val="EF3E2B"/>
          </a:solidFill>
          <a:ln w="12700">
            <a:solidFill>
              <a:srgbClr val="EF3E2B"/>
            </a:solidFill>
            <a:prstDash val="solid"/>
          </a:ln>
        </p:spPr>
        <p:txBody>
          <a:bodyPr/>
          <a:lstStyle/>
          <a:p>
            <a:endParaRPr lang="en-IN"/>
          </a:p>
        </p:txBody>
      </p:sp>
      <p:sp>
        <p:nvSpPr>
          <p:cNvPr id="11" name="Text 9"/>
          <p:cNvSpPr txBox="1"/>
          <p:nvPr/>
        </p:nvSpPr>
        <p:spPr>
          <a:xfrm>
            <a:off x="6428232" y="1783080"/>
            <a:ext cx="731520" cy="685800"/>
          </a:xfrm>
          <a:prstGeom prst="rect">
            <a:avLst/>
          </a:prstGeom>
          <a:noFill/>
          <a:ln/>
        </p:spPr>
        <p:txBody>
          <a:bodyPr wrap="square" lIns="0" tIns="0" rIns="0" bIns="0" rtlCol="0" anchor="ctr"/>
          <a:lstStyle/>
          <a:p>
            <a:pPr marL="0" indent="0">
              <a:buNone/>
            </a:pPr>
            <a:r>
              <a:rPr lang="en-US" sz="4000" dirty="0">
                <a:solidFill>
                  <a:schemeClr val="tx1"/>
                </a:solidFill>
                <a:latin typeface="Anton" pitchFamily="34" charset="0"/>
                <a:ea typeface="Anton" pitchFamily="34" charset="-122"/>
                <a:cs typeface="Anton" pitchFamily="34" charset="-120"/>
              </a:rPr>
              <a:t>3</a:t>
            </a:r>
            <a:endParaRPr lang="en-US" sz="4000" dirty="0"/>
          </a:p>
        </p:txBody>
      </p:sp>
      <p:sp>
        <p:nvSpPr>
          <p:cNvPr id="12" name="Text 10"/>
          <p:cNvSpPr txBox="1"/>
          <p:nvPr/>
        </p:nvSpPr>
        <p:spPr>
          <a:xfrm>
            <a:off x="6428232" y="2514600"/>
            <a:ext cx="2194560" cy="1600200"/>
          </a:xfrm>
          <a:prstGeom prst="rect">
            <a:avLst/>
          </a:prstGeom>
          <a:noFill/>
          <a:ln/>
        </p:spPr>
        <p:txBody>
          <a:bodyPr wrap="square" lIns="0" tIns="0" rIns="0" bIns="0" rtlCol="0" anchor="t"/>
          <a:lstStyle/>
          <a:p>
            <a:pPr marL="0" indent="0">
              <a:spcAft>
                <a:spcPts val="600"/>
              </a:spcAft>
              <a:buNone/>
            </a:pPr>
            <a:r>
              <a:rPr lang="en-US" sz="2000" b="1" dirty="0">
                <a:solidFill>
                  <a:schemeClr val="tx1"/>
                </a:solidFill>
              </a:rPr>
              <a:t>Plan &amp; approve</a:t>
            </a:r>
            <a:endParaRPr lang="en-US" sz="2000" dirty="0"/>
          </a:p>
          <a:p>
            <a:pPr marL="0" indent="0">
              <a:buNone/>
            </a:pPr>
            <a:r>
              <a:rPr lang="en-US" sz="1500" dirty="0">
                <a:solidFill>
                  <a:schemeClr val="tx1"/>
                </a:solidFill>
              </a:rPr>
              <a:t>Transfers go only where units will be used; the admin approves.</a:t>
            </a:r>
            <a:endParaRPr lang="en-US" sz="2000" dirty="0"/>
          </a:p>
        </p:txBody>
      </p:sp>
      <p:sp>
        <p:nvSpPr>
          <p:cNvPr id="13" name="step-4"/>
          <p:cNvSpPr/>
          <p:nvPr/>
        </p:nvSpPr>
        <p:spPr>
          <a:xfrm>
            <a:off x="9006840" y="1645920"/>
            <a:ext cx="2651760" cy="2514600"/>
          </a:xfrm>
          <a:prstGeom prst="roundRect">
            <a:avLst>
              <a:gd name="adj" fmla="val 2909"/>
            </a:avLst>
          </a:prstGeom>
          <a:solidFill>
            <a:srgbClr val="1D1D1D"/>
          </a:solidFill>
          <a:ln w="12700">
            <a:solidFill>
              <a:srgbClr val="333333"/>
            </a:solidFill>
            <a:prstDash val="solid"/>
          </a:ln>
        </p:spPr>
        <p:txBody>
          <a:bodyPr/>
          <a:lstStyle/>
          <a:p>
            <a:endParaRPr lang="en-IN"/>
          </a:p>
        </p:txBody>
      </p:sp>
      <p:sp>
        <p:nvSpPr>
          <p:cNvPr id="14" name="Text 12"/>
          <p:cNvSpPr txBox="1"/>
          <p:nvPr/>
        </p:nvSpPr>
        <p:spPr>
          <a:xfrm>
            <a:off x="9262872" y="1783080"/>
            <a:ext cx="731520" cy="685800"/>
          </a:xfrm>
          <a:prstGeom prst="rect">
            <a:avLst/>
          </a:prstGeom>
          <a:noFill/>
          <a:ln/>
        </p:spPr>
        <p:txBody>
          <a:bodyPr wrap="square" lIns="0" tIns="0" rIns="0" bIns="0" rtlCol="0" anchor="ctr"/>
          <a:lstStyle/>
          <a:p>
            <a:pPr marL="0" indent="0">
              <a:buNone/>
            </a:pPr>
            <a:r>
              <a:rPr lang="en-US" sz="4000" dirty="0">
                <a:solidFill>
                  <a:schemeClr val="accent1"/>
                </a:solidFill>
                <a:latin typeface="Anton" pitchFamily="34" charset="0"/>
                <a:ea typeface="Anton" pitchFamily="34" charset="-122"/>
                <a:cs typeface="Anton" pitchFamily="34" charset="-120"/>
              </a:rPr>
              <a:t>4</a:t>
            </a:r>
            <a:endParaRPr lang="en-US" sz="4000" dirty="0"/>
          </a:p>
        </p:txBody>
      </p:sp>
      <p:sp>
        <p:nvSpPr>
          <p:cNvPr id="15" name="Text 13"/>
          <p:cNvSpPr txBox="1"/>
          <p:nvPr/>
        </p:nvSpPr>
        <p:spPr>
          <a:xfrm>
            <a:off x="9262872" y="2514600"/>
            <a:ext cx="2194560" cy="1600200"/>
          </a:xfrm>
          <a:prstGeom prst="rect">
            <a:avLst/>
          </a:prstGeom>
          <a:noFill/>
          <a:ln/>
        </p:spPr>
        <p:txBody>
          <a:bodyPr wrap="square" lIns="0" tIns="0" rIns="0" bIns="0" rtlCol="0" anchor="t"/>
          <a:lstStyle/>
          <a:p>
            <a:pPr marL="0" indent="0">
              <a:spcAft>
                <a:spcPts val="600"/>
              </a:spcAft>
              <a:buNone/>
            </a:pPr>
            <a:r>
              <a:rPr lang="en-US" sz="2000" b="1" dirty="0">
                <a:solidFill>
                  <a:schemeClr val="bg1"/>
                </a:solidFill>
              </a:rPr>
              <a:t>Serve &amp; prove</a:t>
            </a:r>
            <a:endParaRPr lang="en-US" sz="2000" dirty="0"/>
          </a:p>
          <a:p>
            <a:pPr marL="0" indent="0">
              <a:buNone/>
            </a:pPr>
            <a:r>
              <a:rPr lang="en-US" sz="1500" dirty="0">
                <a:solidFill>
                  <a:schemeClr val="accent5"/>
                </a:solidFill>
              </a:rPr>
              <a:t>Nearest safe blood for emergencies; every move on a tamper-evident log.</a:t>
            </a:r>
            <a:endParaRPr lang="en-US" sz="2000" dirty="0"/>
          </a:p>
        </p:txBody>
      </p:sp>
      <p:sp>
        <p:nvSpPr>
          <p:cNvPr id="16" name="roles"/>
          <p:cNvSpPr/>
          <p:nvPr/>
        </p:nvSpPr>
        <p:spPr>
          <a:xfrm>
            <a:off x="502920" y="4389120"/>
            <a:ext cx="6446520" cy="1783080"/>
          </a:xfrm>
          <a:prstGeom prst="roundRect">
            <a:avLst>
              <a:gd name="adj" fmla="val 4103"/>
            </a:avLst>
          </a:prstGeom>
          <a:solidFill>
            <a:srgbClr val="1D1D1D"/>
          </a:solidFill>
          <a:ln w="12700">
            <a:solidFill>
              <a:srgbClr val="333333"/>
            </a:solidFill>
            <a:prstDash val="solid"/>
          </a:ln>
        </p:spPr>
        <p:txBody>
          <a:bodyPr/>
          <a:lstStyle/>
          <a:p>
            <a:endParaRPr lang="en-IN"/>
          </a:p>
        </p:txBody>
      </p:sp>
      <p:sp>
        <p:nvSpPr>
          <p:cNvPr id="17" name="Text 15"/>
          <p:cNvSpPr txBox="1"/>
          <p:nvPr/>
        </p:nvSpPr>
        <p:spPr>
          <a:xfrm>
            <a:off x="777240" y="4553712"/>
            <a:ext cx="5943600" cy="15544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WHO USES IT</a:t>
            </a:r>
            <a:endParaRPr lang="en-US" sz="1500" dirty="0"/>
          </a:p>
          <a:p>
            <a:pPr marL="203200" indent="-203200">
              <a:spcAft>
                <a:spcPts val="500"/>
              </a:spcAft>
              <a:buSzPct val="100000"/>
              <a:buChar char="•"/>
            </a:pPr>
            <a:r>
              <a:rPr lang="en-US" sz="1600" dirty="0">
                <a:solidFill>
                  <a:schemeClr val="bg1"/>
                </a:solidFill>
              </a:rPr>
              <a:t>Administrator: builds the network, approves people and transfers</a:t>
            </a:r>
            <a:endParaRPr lang="en-US" sz="1500" dirty="0"/>
          </a:p>
          <a:p>
            <a:pPr marL="203200" indent="-203200">
              <a:spcAft>
                <a:spcPts val="500"/>
              </a:spcAft>
              <a:buSzPct val="100000"/>
              <a:buChar char="•"/>
            </a:pPr>
            <a:r>
              <a:rPr lang="en-US" sz="1600" dirty="0">
                <a:solidFill>
                  <a:schemeClr val="bg1"/>
                </a:solidFill>
              </a:rPr>
              <a:t>Blood-centre staff: log, report and dispatch stock</a:t>
            </a:r>
            <a:endParaRPr lang="en-US" sz="1500" dirty="0"/>
          </a:p>
          <a:p>
            <a:pPr marL="203200" indent="-203200">
              <a:spcAft>
                <a:spcPts val="500"/>
              </a:spcAft>
              <a:buSzPct val="100000"/>
              <a:buChar char="•"/>
            </a:pPr>
            <a:r>
              <a:rPr lang="en-US" sz="1600" dirty="0">
                <a:solidFill>
                  <a:schemeClr val="bg1"/>
                </a:solidFill>
              </a:rPr>
              <a:t>Hospital staff: raise requests, confirm delivery</a:t>
            </a:r>
            <a:endParaRPr lang="en-US" sz="1500" dirty="0"/>
          </a:p>
        </p:txBody>
      </p:sp>
      <p:sp>
        <p:nvSpPr>
          <p:cNvPr id="18" name="stack"/>
          <p:cNvSpPr/>
          <p:nvPr/>
        </p:nvSpPr>
        <p:spPr>
          <a:xfrm>
            <a:off x="7178040" y="4389120"/>
            <a:ext cx="4526280" cy="1783080"/>
          </a:xfrm>
          <a:prstGeom prst="roundRect">
            <a:avLst>
              <a:gd name="adj" fmla="val 4103"/>
            </a:avLst>
          </a:prstGeom>
          <a:solidFill>
            <a:srgbClr val="1D1D1D"/>
          </a:solidFill>
          <a:ln w="12700">
            <a:solidFill>
              <a:srgbClr val="333333"/>
            </a:solidFill>
            <a:prstDash val="solid"/>
          </a:ln>
        </p:spPr>
        <p:txBody>
          <a:bodyPr/>
          <a:lstStyle/>
          <a:p>
            <a:endParaRPr lang="en-IN"/>
          </a:p>
        </p:txBody>
      </p:sp>
      <p:sp>
        <p:nvSpPr>
          <p:cNvPr id="19" name="Text 17"/>
          <p:cNvSpPr txBox="1"/>
          <p:nvPr/>
        </p:nvSpPr>
        <p:spPr>
          <a:xfrm>
            <a:off x="7452360" y="4553712"/>
            <a:ext cx="4023360" cy="15544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BUILT WITH</a:t>
            </a:r>
            <a:endParaRPr lang="en-US" sz="1500" dirty="0"/>
          </a:p>
          <a:p>
            <a:pPr marL="0" indent="0">
              <a:spcAft>
                <a:spcPts val="500"/>
              </a:spcAft>
              <a:buNone/>
            </a:pPr>
            <a:r>
              <a:rPr lang="en-US" sz="1600" dirty="0">
                <a:solidFill>
                  <a:schemeClr val="bg1"/>
                </a:solidFill>
              </a:rPr>
              <a:t>Java 21 (7 modules) · Spring Boot · PostgreSQL · React. One engine runs a console app, a web app and a simulator.</a:t>
            </a: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BUILT WITH</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THE TOOLS AND WHAT EACH ONE DOES</a:t>
            </a:r>
            <a:endParaRPr lang="en-US" sz="4000" dirty="0"/>
          </a:p>
        </p:txBody>
      </p:sp>
      <p:sp>
        <p:nvSpPr>
          <p:cNvPr id="4" name="tool-1"/>
          <p:cNvSpPr/>
          <p:nvPr/>
        </p:nvSpPr>
        <p:spPr>
          <a:xfrm>
            <a:off x="502920" y="1645920"/>
            <a:ext cx="2697480" cy="1444752"/>
          </a:xfrm>
          <a:prstGeom prst="roundRect">
            <a:avLst>
              <a:gd name="adj" fmla="val 5063"/>
            </a:avLst>
          </a:prstGeom>
          <a:solidFill>
            <a:srgbClr val="EF3E2B"/>
          </a:solidFill>
          <a:ln w="12700">
            <a:solidFill>
              <a:srgbClr val="EF3E2B"/>
            </a:solidFill>
            <a:prstDash val="solid"/>
          </a:ln>
        </p:spPr>
        <p:txBody>
          <a:bodyPr/>
          <a:lstStyle/>
          <a:p>
            <a:endParaRPr lang="en-IN"/>
          </a:p>
        </p:txBody>
      </p:sp>
      <p:sp>
        <p:nvSpPr>
          <p:cNvPr id="5" name="Text 3"/>
          <p:cNvSpPr txBox="1"/>
          <p:nvPr/>
        </p:nvSpPr>
        <p:spPr>
          <a:xfrm>
            <a:off x="704088" y="1792224"/>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Java 21</a:t>
            </a:r>
            <a:endParaRPr lang="en-US" sz="1800" dirty="0"/>
          </a:p>
          <a:p>
            <a:pPr marL="0" indent="0">
              <a:buNone/>
            </a:pPr>
            <a:r>
              <a:rPr lang="en-US" sz="1400" dirty="0">
                <a:solidFill>
                  <a:schemeClr val="tx1"/>
                </a:solidFill>
              </a:rPr>
              <a:t>The whole engine: OOP model, transfer planning, simulator. 7 Maven modules.</a:t>
            </a:r>
            <a:endParaRPr lang="en-US" sz="1800" dirty="0"/>
          </a:p>
        </p:txBody>
      </p:sp>
      <p:sp>
        <p:nvSpPr>
          <p:cNvPr id="6" name="tool-2"/>
          <p:cNvSpPr/>
          <p:nvPr/>
        </p:nvSpPr>
        <p:spPr>
          <a:xfrm>
            <a:off x="3337560" y="1645920"/>
            <a:ext cx="2697480" cy="1444752"/>
          </a:xfrm>
          <a:prstGeom prst="roundRect">
            <a:avLst>
              <a:gd name="adj" fmla="val 5063"/>
            </a:avLst>
          </a:prstGeom>
          <a:solidFill>
            <a:srgbClr val="EF3E2B"/>
          </a:solidFill>
          <a:ln w="12700">
            <a:solidFill>
              <a:srgbClr val="EF3E2B"/>
            </a:solidFill>
            <a:prstDash val="solid"/>
          </a:ln>
        </p:spPr>
        <p:txBody>
          <a:bodyPr/>
          <a:lstStyle/>
          <a:p>
            <a:endParaRPr lang="en-IN"/>
          </a:p>
        </p:txBody>
      </p:sp>
      <p:sp>
        <p:nvSpPr>
          <p:cNvPr id="7" name="Text 5"/>
          <p:cNvSpPr txBox="1"/>
          <p:nvPr/>
        </p:nvSpPr>
        <p:spPr>
          <a:xfrm>
            <a:off x="3538728" y="1792224"/>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Spring Boot + Security</a:t>
            </a:r>
            <a:endParaRPr lang="en-US" sz="1800" dirty="0"/>
          </a:p>
          <a:p>
            <a:pPr marL="0" indent="0">
              <a:buNone/>
            </a:pPr>
            <a:r>
              <a:rPr lang="en-US" sz="1400" dirty="0">
                <a:solidFill>
                  <a:schemeClr val="tx1"/>
                </a:solidFill>
              </a:rPr>
              <a:t>The web server and REST API; sign-in, roles and admin approval.</a:t>
            </a:r>
            <a:endParaRPr lang="en-US" sz="1800" dirty="0"/>
          </a:p>
        </p:txBody>
      </p:sp>
      <p:sp>
        <p:nvSpPr>
          <p:cNvPr id="8" name="tool-3"/>
          <p:cNvSpPr/>
          <p:nvPr/>
        </p:nvSpPr>
        <p:spPr>
          <a:xfrm>
            <a:off x="6172200" y="1645920"/>
            <a:ext cx="2697480" cy="1444752"/>
          </a:xfrm>
          <a:prstGeom prst="roundRect">
            <a:avLst>
              <a:gd name="adj" fmla="val 5063"/>
            </a:avLst>
          </a:prstGeom>
          <a:solidFill>
            <a:srgbClr val="EF3E2B"/>
          </a:solidFill>
          <a:ln w="12700">
            <a:solidFill>
              <a:srgbClr val="EF3E2B"/>
            </a:solidFill>
            <a:prstDash val="solid"/>
          </a:ln>
        </p:spPr>
        <p:txBody>
          <a:bodyPr/>
          <a:lstStyle/>
          <a:p>
            <a:endParaRPr lang="en-IN"/>
          </a:p>
        </p:txBody>
      </p:sp>
      <p:sp>
        <p:nvSpPr>
          <p:cNvPr id="9" name="Text 7"/>
          <p:cNvSpPr txBox="1"/>
          <p:nvPr/>
        </p:nvSpPr>
        <p:spPr>
          <a:xfrm>
            <a:off x="6373368" y="1792224"/>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PostgreSQL (Neon)</a:t>
            </a:r>
            <a:endParaRPr lang="en-US" sz="1800" dirty="0"/>
          </a:p>
          <a:p>
            <a:pPr marL="0" indent="0">
              <a:buNone/>
            </a:pPr>
            <a:r>
              <a:rPr lang="en-US" sz="1400" dirty="0">
                <a:solidFill>
                  <a:schemeClr val="tx1"/>
                </a:solidFill>
              </a:rPr>
              <a:t>The live database: stock, requests, accounts and the audit log.</a:t>
            </a:r>
            <a:endParaRPr lang="en-US" sz="1800" dirty="0"/>
          </a:p>
        </p:txBody>
      </p:sp>
      <p:sp>
        <p:nvSpPr>
          <p:cNvPr id="10" name="tool-4"/>
          <p:cNvSpPr/>
          <p:nvPr/>
        </p:nvSpPr>
        <p:spPr>
          <a:xfrm>
            <a:off x="9006840" y="1645920"/>
            <a:ext cx="2697480" cy="1444752"/>
          </a:xfrm>
          <a:prstGeom prst="roundRect">
            <a:avLst>
              <a:gd name="adj" fmla="val 5063"/>
            </a:avLst>
          </a:prstGeom>
          <a:solidFill>
            <a:srgbClr val="EF3E2B"/>
          </a:solidFill>
          <a:ln w="12700">
            <a:solidFill>
              <a:srgbClr val="EF3E2B"/>
            </a:solidFill>
            <a:prstDash val="solid"/>
          </a:ln>
        </p:spPr>
        <p:txBody>
          <a:bodyPr/>
          <a:lstStyle/>
          <a:p>
            <a:endParaRPr lang="en-IN"/>
          </a:p>
        </p:txBody>
      </p:sp>
      <p:sp>
        <p:nvSpPr>
          <p:cNvPr id="11" name="Text 9"/>
          <p:cNvSpPr txBox="1"/>
          <p:nvPr/>
        </p:nvSpPr>
        <p:spPr>
          <a:xfrm>
            <a:off x="9208008" y="1792224"/>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React + TypeScript</a:t>
            </a:r>
            <a:endParaRPr lang="en-US" sz="1800" dirty="0"/>
          </a:p>
          <a:p>
            <a:pPr marL="0" indent="0">
              <a:buNone/>
            </a:pPr>
            <a:r>
              <a:rPr lang="en-US" sz="1400" dirty="0">
                <a:solidFill>
                  <a:schemeClr val="tx1"/>
                </a:solidFill>
              </a:rPr>
              <a:t>The website staff and admins use, built with Vite; works on phones.</a:t>
            </a:r>
            <a:endParaRPr lang="en-US" sz="1800" dirty="0"/>
          </a:p>
        </p:txBody>
      </p:sp>
      <p:sp>
        <p:nvSpPr>
          <p:cNvPr id="12" name="tool-5"/>
          <p:cNvSpPr/>
          <p:nvPr/>
        </p:nvSpPr>
        <p:spPr>
          <a:xfrm>
            <a:off x="502920" y="3218688"/>
            <a:ext cx="2697480" cy="1444752"/>
          </a:xfrm>
          <a:prstGeom prst="roundRect">
            <a:avLst>
              <a:gd name="adj" fmla="val 5063"/>
            </a:avLst>
          </a:prstGeom>
          <a:solidFill>
            <a:srgbClr val="1D1D1D"/>
          </a:solidFill>
          <a:ln w="12700">
            <a:solidFill>
              <a:srgbClr val="333333"/>
            </a:solidFill>
            <a:prstDash val="solid"/>
          </a:ln>
        </p:spPr>
        <p:txBody>
          <a:bodyPr/>
          <a:lstStyle/>
          <a:p>
            <a:endParaRPr lang="en-IN"/>
          </a:p>
        </p:txBody>
      </p:sp>
      <p:sp>
        <p:nvSpPr>
          <p:cNvPr id="13" name="Text 11"/>
          <p:cNvSpPr txBox="1"/>
          <p:nvPr/>
        </p:nvSpPr>
        <p:spPr>
          <a:xfrm>
            <a:off x="704088" y="3364992"/>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Maven</a:t>
            </a:r>
            <a:endParaRPr lang="en-US" sz="1800" dirty="0"/>
          </a:p>
          <a:p>
            <a:pPr marL="0" indent="0">
              <a:buNone/>
            </a:pPr>
            <a:r>
              <a:rPr lang="en-US" sz="1400" dirty="0">
                <a:solidFill>
                  <a:schemeClr val="accent5"/>
                </a:solidFill>
              </a:rPr>
              <a:t>Builds the modules, runs the tests, packages the Windows release.</a:t>
            </a:r>
            <a:endParaRPr lang="en-US" sz="1800" dirty="0"/>
          </a:p>
        </p:txBody>
      </p:sp>
      <p:sp>
        <p:nvSpPr>
          <p:cNvPr id="14" name="tool-6"/>
          <p:cNvSpPr/>
          <p:nvPr/>
        </p:nvSpPr>
        <p:spPr>
          <a:xfrm>
            <a:off x="3337560" y="3218688"/>
            <a:ext cx="2697480" cy="1444752"/>
          </a:xfrm>
          <a:prstGeom prst="roundRect">
            <a:avLst>
              <a:gd name="adj" fmla="val 5063"/>
            </a:avLst>
          </a:prstGeom>
          <a:solidFill>
            <a:srgbClr val="1D1D1D"/>
          </a:solidFill>
          <a:ln w="12700">
            <a:solidFill>
              <a:srgbClr val="333333"/>
            </a:solidFill>
            <a:prstDash val="solid"/>
          </a:ln>
        </p:spPr>
        <p:txBody>
          <a:bodyPr/>
          <a:lstStyle/>
          <a:p>
            <a:endParaRPr lang="en-IN"/>
          </a:p>
        </p:txBody>
      </p:sp>
      <p:sp>
        <p:nvSpPr>
          <p:cNvPr id="15" name="Text 13"/>
          <p:cNvSpPr txBox="1"/>
          <p:nvPr/>
        </p:nvSpPr>
        <p:spPr>
          <a:xfrm>
            <a:off x="3538728" y="3364992"/>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Flyway</a:t>
            </a:r>
            <a:endParaRPr lang="en-US" sz="1800" dirty="0"/>
          </a:p>
          <a:p>
            <a:pPr marL="0" indent="0">
              <a:buNone/>
            </a:pPr>
            <a:r>
              <a:rPr lang="en-US" sz="1400" dirty="0">
                <a:solidFill>
                  <a:schemeClr val="accent5"/>
                </a:solidFill>
              </a:rPr>
              <a:t>Versioned database changes (V1–V12), applied automatically on start.</a:t>
            </a:r>
            <a:endParaRPr lang="en-US" sz="1800" dirty="0"/>
          </a:p>
        </p:txBody>
      </p:sp>
      <p:sp>
        <p:nvSpPr>
          <p:cNvPr id="16" name="tool-7"/>
          <p:cNvSpPr/>
          <p:nvPr/>
        </p:nvSpPr>
        <p:spPr>
          <a:xfrm>
            <a:off x="6172200" y="3218688"/>
            <a:ext cx="2697480" cy="1444752"/>
          </a:xfrm>
          <a:prstGeom prst="roundRect">
            <a:avLst>
              <a:gd name="adj" fmla="val 5063"/>
            </a:avLst>
          </a:prstGeom>
          <a:solidFill>
            <a:srgbClr val="1D1D1D"/>
          </a:solidFill>
          <a:ln w="12700">
            <a:solidFill>
              <a:srgbClr val="333333"/>
            </a:solidFill>
            <a:prstDash val="solid"/>
          </a:ln>
        </p:spPr>
        <p:txBody>
          <a:bodyPr/>
          <a:lstStyle/>
          <a:p>
            <a:endParaRPr lang="en-IN"/>
          </a:p>
        </p:txBody>
      </p:sp>
      <p:sp>
        <p:nvSpPr>
          <p:cNvPr id="17" name="Text 15"/>
          <p:cNvSpPr txBox="1"/>
          <p:nvPr/>
        </p:nvSpPr>
        <p:spPr>
          <a:xfrm>
            <a:off x="6373368" y="3364992"/>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H2</a:t>
            </a:r>
            <a:endParaRPr lang="en-US" sz="1800" dirty="0"/>
          </a:p>
          <a:p>
            <a:pPr marL="0" indent="0">
              <a:buNone/>
            </a:pPr>
            <a:r>
              <a:rPr lang="en-US" sz="1400" dirty="0">
                <a:solidFill>
                  <a:schemeClr val="accent5"/>
                </a:solidFill>
              </a:rPr>
              <a:t>Built-in database for the console app and the offline demo.</a:t>
            </a:r>
            <a:endParaRPr lang="en-US" sz="1800" dirty="0"/>
          </a:p>
        </p:txBody>
      </p:sp>
      <p:sp>
        <p:nvSpPr>
          <p:cNvPr id="18" name="tool-8"/>
          <p:cNvSpPr/>
          <p:nvPr/>
        </p:nvSpPr>
        <p:spPr>
          <a:xfrm>
            <a:off x="9006840" y="3218688"/>
            <a:ext cx="2697480" cy="1444752"/>
          </a:xfrm>
          <a:prstGeom prst="roundRect">
            <a:avLst>
              <a:gd name="adj" fmla="val 5063"/>
            </a:avLst>
          </a:prstGeom>
          <a:solidFill>
            <a:srgbClr val="1D1D1D"/>
          </a:solidFill>
          <a:ln w="12700">
            <a:solidFill>
              <a:srgbClr val="333333"/>
            </a:solidFill>
            <a:prstDash val="solid"/>
          </a:ln>
        </p:spPr>
        <p:txBody>
          <a:bodyPr/>
          <a:lstStyle/>
          <a:p>
            <a:endParaRPr lang="en-IN"/>
          </a:p>
        </p:txBody>
      </p:sp>
      <p:sp>
        <p:nvSpPr>
          <p:cNvPr id="19" name="Text 17"/>
          <p:cNvSpPr txBox="1"/>
          <p:nvPr/>
        </p:nvSpPr>
        <p:spPr>
          <a:xfrm>
            <a:off x="9208008" y="3364992"/>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Leaflet + OpenStreetMap</a:t>
            </a:r>
            <a:endParaRPr lang="en-US" sz="1800" dirty="0"/>
          </a:p>
          <a:p>
            <a:pPr marL="0" indent="0">
              <a:buNone/>
            </a:pPr>
            <a:r>
              <a:rPr lang="en-US" sz="1400" dirty="0">
                <a:solidFill>
                  <a:schemeClr val="accent5"/>
                </a:solidFill>
              </a:rPr>
              <a:t>The facilities map, and a directory of ~52,000 Indian hospitals and blood centres.</a:t>
            </a:r>
            <a:endParaRPr lang="en-US" sz="1800" dirty="0"/>
          </a:p>
        </p:txBody>
      </p:sp>
      <p:sp>
        <p:nvSpPr>
          <p:cNvPr id="20" name="tool-9"/>
          <p:cNvSpPr/>
          <p:nvPr/>
        </p:nvSpPr>
        <p:spPr>
          <a:xfrm>
            <a:off x="502920" y="4791456"/>
            <a:ext cx="2697480" cy="1444752"/>
          </a:xfrm>
          <a:prstGeom prst="roundRect">
            <a:avLst>
              <a:gd name="adj" fmla="val 5063"/>
            </a:avLst>
          </a:prstGeom>
          <a:solidFill>
            <a:srgbClr val="1D1D1D"/>
          </a:solidFill>
          <a:ln w="12700">
            <a:solidFill>
              <a:srgbClr val="333333"/>
            </a:solidFill>
            <a:prstDash val="solid"/>
          </a:ln>
        </p:spPr>
        <p:txBody>
          <a:bodyPr/>
          <a:lstStyle/>
          <a:p>
            <a:endParaRPr lang="en-IN"/>
          </a:p>
        </p:txBody>
      </p:sp>
      <p:sp>
        <p:nvSpPr>
          <p:cNvPr id="21" name="Text 19"/>
          <p:cNvSpPr txBox="1"/>
          <p:nvPr/>
        </p:nvSpPr>
        <p:spPr>
          <a:xfrm>
            <a:off x="704088" y="4937760"/>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JUnit 5 + Vitest</a:t>
            </a:r>
            <a:endParaRPr lang="en-US" sz="1800" dirty="0"/>
          </a:p>
          <a:p>
            <a:pPr marL="0" indent="0">
              <a:buNone/>
            </a:pPr>
            <a:r>
              <a:rPr lang="en-US" sz="1400" dirty="0">
                <a:solidFill>
                  <a:schemeClr val="accent5"/>
                </a:solidFill>
              </a:rPr>
              <a:t>230+ automated tests for the Java and the web code.</a:t>
            </a:r>
            <a:endParaRPr lang="en-US" sz="1800" dirty="0"/>
          </a:p>
        </p:txBody>
      </p:sp>
      <p:sp>
        <p:nvSpPr>
          <p:cNvPr id="22" name="tool-10"/>
          <p:cNvSpPr/>
          <p:nvPr/>
        </p:nvSpPr>
        <p:spPr>
          <a:xfrm>
            <a:off x="3337560" y="4791456"/>
            <a:ext cx="2697480" cy="1444752"/>
          </a:xfrm>
          <a:prstGeom prst="roundRect">
            <a:avLst>
              <a:gd name="adj" fmla="val 5063"/>
            </a:avLst>
          </a:prstGeom>
          <a:solidFill>
            <a:srgbClr val="1D1D1D"/>
          </a:solidFill>
          <a:ln w="12700">
            <a:solidFill>
              <a:srgbClr val="333333"/>
            </a:solidFill>
            <a:prstDash val="solid"/>
          </a:ln>
        </p:spPr>
        <p:txBody>
          <a:bodyPr/>
          <a:lstStyle/>
          <a:p>
            <a:endParaRPr lang="en-IN"/>
          </a:p>
        </p:txBody>
      </p:sp>
      <p:sp>
        <p:nvSpPr>
          <p:cNvPr id="23" name="Text 21"/>
          <p:cNvSpPr txBox="1"/>
          <p:nvPr/>
        </p:nvSpPr>
        <p:spPr>
          <a:xfrm>
            <a:off x="3538728" y="4937760"/>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JMH</a:t>
            </a:r>
            <a:endParaRPr lang="en-US" sz="1800" dirty="0"/>
          </a:p>
          <a:p>
            <a:pPr marL="0" indent="0">
              <a:buNone/>
            </a:pPr>
            <a:r>
              <a:rPr lang="en-US" sz="1400" dirty="0">
                <a:solidFill>
                  <a:schemeClr val="accent5"/>
                </a:solidFill>
              </a:rPr>
              <a:t>Benchmarks that guided the 66× faster emergency allocation.</a:t>
            </a:r>
            <a:endParaRPr lang="en-US" sz="1800" dirty="0"/>
          </a:p>
        </p:txBody>
      </p:sp>
      <p:sp>
        <p:nvSpPr>
          <p:cNvPr id="24" name="tool-11"/>
          <p:cNvSpPr/>
          <p:nvPr/>
        </p:nvSpPr>
        <p:spPr>
          <a:xfrm>
            <a:off x="6172200" y="4791456"/>
            <a:ext cx="2697480" cy="1444752"/>
          </a:xfrm>
          <a:prstGeom prst="roundRect">
            <a:avLst>
              <a:gd name="adj" fmla="val 5063"/>
            </a:avLst>
          </a:prstGeom>
          <a:solidFill>
            <a:srgbClr val="1D1D1D"/>
          </a:solidFill>
          <a:ln w="12700">
            <a:solidFill>
              <a:srgbClr val="333333"/>
            </a:solidFill>
            <a:prstDash val="solid"/>
          </a:ln>
        </p:spPr>
        <p:txBody>
          <a:bodyPr/>
          <a:lstStyle/>
          <a:p>
            <a:endParaRPr lang="en-IN"/>
          </a:p>
        </p:txBody>
      </p:sp>
      <p:sp>
        <p:nvSpPr>
          <p:cNvPr id="25" name="Text 23"/>
          <p:cNvSpPr txBox="1"/>
          <p:nvPr/>
        </p:nvSpPr>
        <p:spPr>
          <a:xfrm>
            <a:off x="6373368" y="4937760"/>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Docker + Render</a:t>
            </a:r>
            <a:endParaRPr lang="en-US" sz="1800" dirty="0"/>
          </a:p>
          <a:p>
            <a:pPr marL="0" indent="0">
              <a:buNone/>
            </a:pPr>
            <a:r>
              <a:rPr lang="en-US" sz="1400" dirty="0">
                <a:solidFill>
                  <a:schemeClr val="accent5"/>
                </a:solidFill>
              </a:rPr>
              <a:t>Packages the app and hosts it at raktsetu-ubvx.onrender.com.</a:t>
            </a:r>
            <a:endParaRPr lang="en-US" sz="1800" dirty="0"/>
          </a:p>
        </p:txBody>
      </p:sp>
      <p:sp>
        <p:nvSpPr>
          <p:cNvPr id="26" name="tool-12"/>
          <p:cNvSpPr/>
          <p:nvPr/>
        </p:nvSpPr>
        <p:spPr>
          <a:xfrm>
            <a:off x="9006840" y="4791456"/>
            <a:ext cx="2697480" cy="1444752"/>
          </a:xfrm>
          <a:prstGeom prst="roundRect">
            <a:avLst>
              <a:gd name="adj" fmla="val 5063"/>
            </a:avLst>
          </a:prstGeom>
          <a:solidFill>
            <a:srgbClr val="1D1D1D"/>
          </a:solidFill>
          <a:ln w="12700">
            <a:solidFill>
              <a:srgbClr val="333333"/>
            </a:solidFill>
            <a:prstDash val="solid"/>
          </a:ln>
        </p:spPr>
        <p:txBody>
          <a:bodyPr/>
          <a:lstStyle/>
          <a:p>
            <a:endParaRPr lang="en-IN"/>
          </a:p>
        </p:txBody>
      </p:sp>
      <p:sp>
        <p:nvSpPr>
          <p:cNvPr id="27" name="Text 25"/>
          <p:cNvSpPr txBox="1"/>
          <p:nvPr/>
        </p:nvSpPr>
        <p:spPr>
          <a:xfrm>
            <a:off x="9208008" y="4937760"/>
            <a:ext cx="2331720" cy="1188720"/>
          </a:xfrm>
          <a:prstGeom prst="rect">
            <a:avLst/>
          </a:prstGeom>
          <a:noFill/>
          <a:ln/>
        </p:spPr>
        <p:txBody>
          <a:bodyPr wrap="square" lIns="0" tIns="0" rIns="0" bIns="0" rtlCol="0" anchor="t"/>
          <a:lstStyle/>
          <a:p>
            <a:pPr marL="0" indent="0">
              <a:spcAft>
                <a:spcPts val="400"/>
              </a:spcAft>
              <a:buNone/>
            </a:pPr>
            <a:r>
              <a:rPr lang="en-US" sz="1800" b="1" dirty="0">
                <a:solidFill>
                  <a:schemeClr val="bg1"/>
                </a:solidFill>
              </a:rPr>
              <a:t>GitHub Actions</a:t>
            </a:r>
            <a:endParaRPr lang="en-US" sz="1800" dirty="0"/>
          </a:p>
          <a:p>
            <a:pPr marL="0" indent="0">
              <a:buNone/>
            </a:pPr>
            <a:r>
              <a:rPr lang="en-US" sz="1400" dirty="0">
                <a:solidFill>
                  <a:schemeClr val="accent5"/>
                </a:solidFill>
              </a:rPr>
              <a:t>Builds and tests every change before it can be merged.</a:t>
            </a:r>
            <a:endParaRPr lang="en-US" sz="1800" dirty="0"/>
          </a:p>
        </p:txBody>
      </p:sp>
      <p:sp>
        <p:nvSpPr>
          <p:cNvPr id="28"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THE APP · ADMIN VIEW</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ONE GLANCE: STOCK AND RISK</a:t>
            </a:r>
            <a:endParaRPr lang="en-US" sz="4000" dirty="0"/>
          </a:p>
        </p:txBody>
      </p:sp>
      <p:sp>
        <p:nvSpPr>
          <p:cNvPr id="4" name="Text 2"/>
          <p:cNvSpPr txBox="1"/>
          <p:nvPr/>
        </p:nvSpPr>
        <p:spPr>
          <a:xfrm>
            <a:off x="502920" y="1627632"/>
            <a:ext cx="4343400" cy="822960"/>
          </a:xfrm>
          <a:prstGeom prst="rect">
            <a:avLst/>
          </a:prstGeom>
          <a:noFill/>
          <a:ln/>
        </p:spPr>
        <p:txBody>
          <a:bodyPr wrap="square" lIns="0" tIns="0" rIns="0" bIns="0" rtlCol="0" anchor="t"/>
          <a:lstStyle/>
          <a:p>
            <a:pPr marL="0" indent="0">
              <a:buNone/>
            </a:pPr>
            <a:r>
              <a:rPr lang="en-US" sz="1700" i="1" dirty="0">
                <a:solidFill>
                  <a:schemeClr val="accent5"/>
                </a:solidFill>
              </a:rPr>
              <a:t>The first page the network administrator sees.</a:t>
            </a:r>
            <a:endParaRPr lang="en-US" sz="1700" dirty="0"/>
          </a:p>
        </p:txBody>
      </p:sp>
      <p:sp>
        <p:nvSpPr>
          <p:cNvPr id="5" name="dot-1"/>
          <p:cNvSpPr/>
          <p:nvPr/>
        </p:nvSpPr>
        <p:spPr>
          <a:xfrm>
            <a:off x="502920" y="2560320"/>
            <a:ext cx="457200" cy="457200"/>
          </a:xfrm>
          <a:prstGeom prst="ellipse">
            <a:avLst/>
          </a:prstGeom>
          <a:solidFill>
            <a:srgbClr val="EF3E2B"/>
          </a:solidFill>
          <a:ln w="12700">
            <a:solidFill>
              <a:srgbClr val="EF3E2B"/>
            </a:solidFill>
            <a:prstDash val="solid"/>
          </a:ln>
        </p:spPr>
        <p:txBody>
          <a:bodyPr/>
          <a:lstStyle/>
          <a:p>
            <a:endParaRPr lang="en-IN"/>
          </a:p>
        </p:txBody>
      </p:sp>
      <p:sp>
        <p:nvSpPr>
          <p:cNvPr id="6" name="Text 4"/>
          <p:cNvSpPr txBox="1"/>
          <p:nvPr/>
        </p:nvSpPr>
        <p:spPr>
          <a:xfrm>
            <a:off x="502920" y="2560320"/>
            <a:ext cx="457200" cy="45720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7" name="Text 5"/>
          <p:cNvSpPr txBox="1"/>
          <p:nvPr/>
        </p:nvSpPr>
        <p:spPr>
          <a:xfrm>
            <a:off x="1115568" y="2514600"/>
            <a:ext cx="3749040" cy="1188720"/>
          </a:xfrm>
          <a:prstGeom prst="rect">
            <a:avLst/>
          </a:prstGeom>
          <a:noFill/>
          <a:ln/>
        </p:spPr>
        <p:txBody>
          <a:bodyPr wrap="square" lIns="0" tIns="0" rIns="0" bIns="0" rtlCol="0" anchor="t"/>
          <a:lstStyle/>
          <a:p>
            <a:pPr marL="0" indent="0">
              <a:buNone/>
            </a:pPr>
            <a:r>
              <a:rPr lang="en-US" sz="1800" b="1" dirty="0">
                <a:solidFill>
                  <a:schemeClr val="bg1"/>
                </a:solidFill>
              </a:rPr>
              <a:t>Whole network at a glance</a:t>
            </a:r>
            <a:endParaRPr lang="en-US" sz="1800" dirty="0"/>
          </a:p>
          <a:p>
            <a:pPr marL="0" indent="0">
              <a:buNone/>
            </a:pPr>
            <a:r>
              <a:rPr lang="en-US" sz="1500" dirty="0">
                <a:solidFill>
                  <a:schemeClr val="accent5"/>
                </a:solidFill>
              </a:rPr>
              <a:t>182 units in stock across every centre, counted live.</a:t>
            </a:r>
            <a:endParaRPr lang="en-US" sz="1800" dirty="0"/>
          </a:p>
        </p:txBody>
      </p:sp>
      <p:sp>
        <p:nvSpPr>
          <p:cNvPr id="8" name="dot-2"/>
          <p:cNvSpPr/>
          <p:nvPr/>
        </p:nvSpPr>
        <p:spPr>
          <a:xfrm>
            <a:off x="502920" y="3822192"/>
            <a:ext cx="457200" cy="457200"/>
          </a:xfrm>
          <a:prstGeom prst="ellipse">
            <a:avLst/>
          </a:prstGeom>
          <a:solidFill>
            <a:srgbClr val="EF3E2B"/>
          </a:solidFill>
          <a:ln w="12700">
            <a:solidFill>
              <a:srgbClr val="EF3E2B"/>
            </a:solidFill>
            <a:prstDash val="solid"/>
          </a:ln>
        </p:spPr>
        <p:txBody>
          <a:bodyPr/>
          <a:lstStyle/>
          <a:p>
            <a:endParaRPr lang="en-IN"/>
          </a:p>
        </p:txBody>
      </p:sp>
      <p:sp>
        <p:nvSpPr>
          <p:cNvPr id="9" name="Text 7"/>
          <p:cNvSpPr txBox="1"/>
          <p:nvPr/>
        </p:nvSpPr>
        <p:spPr>
          <a:xfrm>
            <a:off x="502920" y="3822192"/>
            <a:ext cx="457200" cy="45720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10" name="Text 8"/>
          <p:cNvSpPr txBox="1"/>
          <p:nvPr/>
        </p:nvSpPr>
        <p:spPr>
          <a:xfrm>
            <a:off x="1115568" y="3776472"/>
            <a:ext cx="3749040" cy="1188720"/>
          </a:xfrm>
          <a:prstGeom prst="rect">
            <a:avLst/>
          </a:prstGeom>
          <a:noFill/>
          <a:ln/>
        </p:spPr>
        <p:txBody>
          <a:bodyPr wrap="square" lIns="0" tIns="0" rIns="0" bIns="0" rtlCol="0" anchor="t"/>
          <a:lstStyle/>
          <a:p>
            <a:pPr marL="0" indent="0">
              <a:buNone/>
            </a:pPr>
            <a:r>
              <a:rPr lang="en-US" sz="1800" b="1" dirty="0">
                <a:solidFill>
                  <a:schemeClr val="bg1"/>
                </a:solidFill>
              </a:rPr>
              <a:t>Risk up front</a:t>
            </a:r>
            <a:endParaRPr lang="en-US" sz="1800" dirty="0"/>
          </a:p>
          <a:p>
            <a:pPr marL="0" indent="0">
              <a:buNone/>
            </a:pPr>
            <a:r>
              <a:rPr lang="en-US" sz="1500" dirty="0">
                <a:solidFill>
                  <a:schemeClr val="accent5"/>
                </a:solidFill>
              </a:rPr>
              <a:t>21 units will likely expire unused this week, 10 within two days; listed soonest first.</a:t>
            </a:r>
            <a:endParaRPr lang="en-US" sz="1800" dirty="0"/>
          </a:p>
        </p:txBody>
      </p:sp>
      <p:sp>
        <p:nvSpPr>
          <p:cNvPr id="11" name="dot-3"/>
          <p:cNvSpPr/>
          <p:nvPr/>
        </p:nvSpPr>
        <p:spPr>
          <a:xfrm>
            <a:off x="502920" y="5084064"/>
            <a:ext cx="457200" cy="457200"/>
          </a:xfrm>
          <a:prstGeom prst="ellipse">
            <a:avLst/>
          </a:prstGeom>
          <a:solidFill>
            <a:srgbClr val="EF3E2B"/>
          </a:solidFill>
          <a:ln w="12700">
            <a:solidFill>
              <a:srgbClr val="EF3E2B"/>
            </a:solidFill>
            <a:prstDash val="solid"/>
          </a:ln>
        </p:spPr>
        <p:txBody>
          <a:bodyPr/>
          <a:lstStyle/>
          <a:p>
            <a:endParaRPr lang="en-IN"/>
          </a:p>
        </p:txBody>
      </p:sp>
      <p:sp>
        <p:nvSpPr>
          <p:cNvPr id="12" name="Text 10"/>
          <p:cNvSpPr txBox="1"/>
          <p:nvPr/>
        </p:nvSpPr>
        <p:spPr>
          <a:xfrm>
            <a:off x="502920" y="5084064"/>
            <a:ext cx="457200" cy="45720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13" name="Text 11"/>
          <p:cNvSpPr txBox="1"/>
          <p:nvPr/>
        </p:nvSpPr>
        <p:spPr>
          <a:xfrm>
            <a:off x="1115568" y="5038344"/>
            <a:ext cx="3749040" cy="1188720"/>
          </a:xfrm>
          <a:prstGeom prst="rect">
            <a:avLst/>
          </a:prstGeom>
          <a:noFill/>
          <a:ln/>
        </p:spPr>
        <p:txBody>
          <a:bodyPr wrap="square" lIns="0" tIns="0" rIns="0" bIns="0" rtlCol="0" anchor="t"/>
          <a:lstStyle/>
          <a:p>
            <a:pPr marL="0" indent="0">
              <a:buNone/>
            </a:pPr>
            <a:r>
              <a:rPr lang="en-US" sz="1800" b="1" dirty="0">
                <a:solidFill>
                  <a:schemeClr val="bg1"/>
                </a:solidFill>
              </a:rPr>
              <a:t>Act from here</a:t>
            </a:r>
            <a:endParaRPr lang="en-US" sz="1800" dirty="0"/>
          </a:p>
          <a:p>
            <a:pPr marL="0" indent="0">
              <a:buNone/>
            </a:pPr>
            <a:r>
              <a:rPr lang="en-US" sz="1500" dirty="0">
                <a:solidFill>
                  <a:schemeClr val="accent5"/>
                </a:solidFill>
              </a:rPr>
              <a:t>Raise an emergency request: nearest compatible blood within 90 minutes.</a:t>
            </a:r>
            <a:endParaRPr lang="en-US" sz="1800" dirty="0"/>
          </a:p>
        </p:txBody>
      </p:sp>
      <p:pic>
        <p:nvPicPr>
          <p:cNvPr id="14" name="dashboard" descr="RaktSetu overview for the administrator"/>
          <p:cNvPicPr>
            <a:picLocks noChangeAspect="1"/>
          </p:cNvPicPr>
          <p:nvPr/>
        </p:nvPicPr>
        <p:blipFill>
          <a:blip r:embed="rId3"/>
          <a:stretch>
            <a:fillRect/>
          </a:stretch>
        </p:blipFill>
        <p:spPr>
          <a:xfrm>
            <a:off x="5120640" y="1901952"/>
            <a:ext cx="6583680" cy="4114800"/>
          </a:xfrm>
          <a:prstGeom prst="rect">
            <a:avLst/>
          </a:prstGeom>
          <a:effectLst>
            <a:outerShdw blurRad="177800" dist="50800" dir="5400000" algn="bl" rotWithShape="0">
              <a:srgbClr val="000000">
                <a:alpha val="60000"/>
              </a:srgbClr>
            </a:outerShdw>
          </a:effectLst>
        </p:spPr>
      </p:pic>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THE APP · REQUESTS</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BLOOD WHEN A PATIENT NEEDS IT</a:t>
            </a:r>
            <a:endParaRPr lang="en-US" sz="4000" dirty="0"/>
          </a:p>
        </p:txBody>
      </p:sp>
      <p:sp>
        <p:nvSpPr>
          <p:cNvPr id="4" name="Text 2"/>
          <p:cNvSpPr txBox="1"/>
          <p:nvPr/>
        </p:nvSpPr>
        <p:spPr>
          <a:xfrm>
            <a:off x="502920" y="1627632"/>
            <a:ext cx="4343400" cy="822960"/>
          </a:xfrm>
          <a:prstGeom prst="rect">
            <a:avLst/>
          </a:prstGeom>
          <a:noFill/>
          <a:ln/>
        </p:spPr>
        <p:txBody>
          <a:bodyPr wrap="square" lIns="0" tIns="0" rIns="0" bIns="0" rtlCol="0" anchor="t"/>
          <a:lstStyle/>
          <a:p>
            <a:pPr marL="0" indent="0">
              <a:buNone/>
            </a:pPr>
            <a:r>
              <a:rPr lang="en-US" sz="1700" i="1" dirty="0">
                <a:solidFill>
                  <a:schemeClr val="accent5"/>
                </a:solidFill>
              </a:rPr>
              <a:t>Hospitals ask for blood here; the admin sees every request.</a:t>
            </a:r>
            <a:endParaRPr lang="en-US" sz="1700" dirty="0"/>
          </a:p>
        </p:txBody>
      </p:sp>
      <p:sp>
        <p:nvSpPr>
          <p:cNvPr id="5" name="dot-1"/>
          <p:cNvSpPr/>
          <p:nvPr/>
        </p:nvSpPr>
        <p:spPr>
          <a:xfrm>
            <a:off x="502920" y="2560320"/>
            <a:ext cx="457200" cy="457200"/>
          </a:xfrm>
          <a:prstGeom prst="ellipse">
            <a:avLst/>
          </a:prstGeom>
          <a:solidFill>
            <a:srgbClr val="EF3E2B"/>
          </a:solidFill>
          <a:ln w="12700">
            <a:solidFill>
              <a:srgbClr val="EF3E2B"/>
            </a:solidFill>
            <a:prstDash val="solid"/>
          </a:ln>
        </p:spPr>
        <p:txBody>
          <a:bodyPr/>
          <a:lstStyle/>
          <a:p>
            <a:endParaRPr lang="en-IN"/>
          </a:p>
        </p:txBody>
      </p:sp>
      <p:sp>
        <p:nvSpPr>
          <p:cNvPr id="6" name="Text 4"/>
          <p:cNvSpPr txBox="1"/>
          <p:nvPr/>
        </p:nvSpPr>
        <p:spPr>
          <a:xfrm>
            <a:off x="502920" y="2560320"/>
            <a:ext cx="457200" cy="45720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7" name="Text 5"/>
          <p:cNvSpPr txBox="1"/>
          <p:nvPr/>
        </p:nvSpPr>
        <p:spPr>
          <a:xfrm>
            <a:off x="1115568" y="2514600"/>
            <a:ext cx="3749040" cy="1188720"/>
          </a:xfrm>
          <a:prstGeom prst="rect">
            <a:avLst/>
          </a:prstGeom>
          <a:noFill/>
          <a:ln/>
        </p:spPr>
        <p:txBody>
          <a:bodyPr wrap="square" lIns="0" tIns="0" rIns="0" bIns="0" rtlCol="0" anchor="t"/>
          <a:lstStyle/>
          <a:p>
            <a:pPr marL="0" indent="0">
              <a:buNone/>
            </a:pPr>
            <a:r>
              <a:rPr lang="en-US" sz="1800" b="1" dirty="0">
                <a:solidFill>
                  <a:schemeClr val="bg1"/>
                </a:solidFill>
              </a:rPr>
              <a:t>Emergency or routine</a:t>
            </a:r>
            <a:endParaRPr lang="en-US" sz="1800" dirty="0"/>
          </a:p>
          <a:p>
            <a:pPr marL="0" indent="0">
              <a:buNone/>
            </a:pPr>
            <a:r>
              <a:rPr lang="en-US" sz="1500" dirty="0">
                <a:solidFill>
                  <a:schemeClr val="accent5"/>
                </a:solidFill>
              </a:rPr>
              <a:t>Emergency finds the nearest safe blood within 90 minutes; routine looks for the exact group first.</a:t>
            </a:r>
            <a:endParaRPr lang="en-US" sz="1800" dirty="0"/>
          </a:p>
        </p:txBody>
      </p:sp>
      <p:sp>
        <p:nvSpPr>
          <p:cNvPr id="8" name="dot-2"/>
          <p:cNvSpPr/>
          <p:nvPr/>
        </p:nvSpPr>
        <p:spPr>
          <a:xfrm>
            <a:off x="502920" y="3822192"/>
            <a:ext cx="457200" cy="457200"/>
          </a:xfrm>
          <a:prstGeom prst="ellipse">
            <a:avLst/>
          </a:prstGeom>
          <a:solidFill>
            <a:srgbClr val="EF3E2B"/>
          </a:solidFill>
          <a:ln w="12700">
            <a:solidFill>
              <a:srgbClr val="EF3E2B"/>
            </a:solidFill>
            <a:prstDash val="solid"/>
          </a:ln>
        </p:spPr>
        <p:txBody>
          <a:bodyPr/>
          <a:lstStyle/>
          <a:p>
            <a:endParaRPr lang="en-IN"/>
          </a:p>
        </p:txBody>
      </p:sp>
      <p:sp>
        <p:nvSpPr>
          <p:cNvPr id="9" name="Text 7"/>
          <p:cNvSpPr txBox="1"/>
          <p:nvPr/>
        </p:nvSpPr>
        <p:spPr>
          <a:xfrm>
            <a:off x="502920" y="3822192"/>
            <a:ext cx="457200" cy="45720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10" name="Text 8"/>
          <p:cNvSpPr txBox="1"/>
          <p:nvPr/>
        </p:nvSpPr>
        <p:spPr>
          <a:xfrm>
            <a:off x="1115568" y="3776472"/>
            <a:ext cx="3749040" cy="1188720"/>
          </a:xfrm>
          <a:prstGeom prst="rect">
            <a:avLst/>
          </a:prstGeom>
          <a:noFill/>
          <a:ln/>
        </p:spPr>
        <p:txBody>
          <a:bodyPr wrap="square" lIns="0" tIns="0" rIns="0" bIns="0" rtlCol="0" anchor="t"/>
          <a:lstStyle/>
          <a:p>
            <a:pPr marL="0" indent="0">
              <a:buNone/>
            </a:pPr>
            <a:r>
              <a:rPr lang="en-US" sz="1800" b="1" dirty="0">
                <a:solidFill>
                  <a:schemeClr val="bg1"/>
                </a:solidFill>
              </a:rPr>
              <a:t>Is it safe?</a:t>
            </a:r>
            <a:endParaRPr lang="en-US" sz="1800" dirty="0"/>
          </a:p>
          <a:p>
            <a:pPr marL="0" indent="0">
              <a:buNone/>
            </a:pPr>
            <a:r>
              <a:rPr lang="en-US" sz="1500" dirty="0">
                <a:solidFill>
                  <a:schemeClr val="accent5"/>
                </a:solidFill>
              </a:rPr>
              <a:t>Checks donor and recipient compatibility for each component before anything is issued.</a:t>
            </a:r>
            <a:endParaRPr lang="en-US" sz="1800" dirty="0"/>
          </a:p>
        </p:txBody>
      </p:sp>
      <p:sp>
        <p:nvSpPr>
          <p:cNvPr id="11" name="dot-3"/>
          <p:cNvSpPr/>
          <p:nvPr/>
        </p:nvSpPr>
        <p:spPr>
          <a:xfrm>
            <a:off x="502920" y="5084064"/>
            <a:ext cx="457200" cy="457200"/>
          </a:xfrm>
          <a:prstGeom prst="ellipse">
            <a:avLst/>
          </a:prstGeom>
          <a:solidFill>
            <a:srgbClr val="EF3E2B"/>
          </a:solidFill>
          <a:ln w="12700">
            <a:solidFill>
              <a:srgbClr val="EF3E2B"/>
            </a:solidFill>
            <a:prstDash val="solid"/>
          </a:ln>
        </p:spPr>
        <p:txBody>
          <a:bodyPr/>
          <a:lstStyle/>
          <a:p>
            <a:endParaRPr lang="en-IN"/>
          </a:p>
        </p:txBody>
      </p:sp>
      <p:sp>
        <p:nvSpPr>
          <p:cNvPr id="12" name="Text 10"/>
          <p:cNvSpPr txBox="1"/>
          <p:nvPr/>
        </p:nvSpPr>
        <p:spPr>
          <a:xfrm>
            <a:off x="502920" y="5084064"/>
            <a:ext cx="457200" cy="45720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13" name="Text 11"/>
          <p:cNvSpPr txBox="1"/>
          <p:nvPr/>
        </p:nvSpPr>
        <p:spPr>
          <a:xfrm>
            <a:off x="1115568" y="5038344"/>
            <a:ext cx="3749040" cy="1188720"/>
          </a:xfrm>
          <a:prstGeom prst="rect">
            <a:avLst/>
          </a:prstGeom>
          <a:noFill/>
          <a:ln/>
        </p:spPr>
        <p:txBody>
          <a:bodyPr wrap="square" lIns="0" tIns="0" rIns="0" bIns="0" rtlCol="0" anchor="t"/>
          <a:lstStyle/>
          <a:p>
            <a:pPr marL="0" indent="0">
              <a:buNone/>
            </a:pPr>
            <a:r>
              <a:rPr lang="en-US" sz="1800" b="1" dirty="0">
                <a:solidFill>
                  <a:schemeClr val="bg1"/>
                </a:solidFill>
              </a:rPr>
              <a:t>Tracked to the bedside</a:t>
            </a:r>
            <a:endParaRPr lang="en-US" sz="1800" dirty="0"/>
          </a:p>
          <a:p>
            <a:pPr marL="0" indent="0">
              <a:buNone/>
            </a:pPr>
            <a:r>
              <a:rPr lang="en-US" sz="1500" dirty="0">
                <a:solidFill>
                  <a:schemeClr val="accent5"/>
                </a:solidFill>
              </a:rPr>
              <a:t>Every request moves Reserved → On its way → Received; unmet ones are flagged.</a:t>
            </a:r>
            <a:endParaRPr lang="en-US" sz="1800" dirty="0"/>
          </a:p>
        </p:txBody>
      </p:sp>
      <p:pic>
        <p:nvPicPr>
          <p:cNvPr id="14" name="requests" descr="Emergency request page"/>
          <p:cNvPicPr>
            <a:picLocks noChangeAspect="1"/>
          </p:cNvPicPr>
          <p:nvPr/>
        </p:nvPicPr>
        <p:blipFill>
          <a:blip r:embed="rId3"/>
          <a:stretch>
            <a:fillRect/>
          </a:stretch>
        </p:blipFill>
        <p:spPr>
          <a:xfrm>
            <a:off x="5120640" y="1901952"/>
            <a:ext cx="6583680" cy="4114800"/>
          </a:xfrm>
          <a:prstGeom prst="rect">
            <a:avLst/>
          </a:prstGeom>
          <a:effectLst>
            <a:outerShdw blurRad="177800" dist="50800" dir="5400000" algn="bl" rotWithShape="0">
              <a:srgbClr val="000000">
                <a:alpha val="60000"/>
              </a:srgbClr>
            </a:outerShdw>
          </a:effectLst>
        </p:spPr>
      </p:pic>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DESIGN</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OBJECT-ORIENTED BY DESIGN</a:t>
            </a:r>
            <a:endParaRPr lang="en-US" sz="4000" dirty="0"/>
          </a:p>
        </p:txBody>
      </p:sp>
      <p:sp>
        <p:nvSpPr>
          <p:cNvPr id="4" name="tree-BloodComponent (abstract)"/>
          <p:cNvSpPr/>
          <p:nvPr/>
        </p:nvSpPr>
        <p:spPr>
          <a:xfrm>
            <a:off x="502920" y="1691640"/>
            <a:ext cx="2926080" cy="457200"/>
          </a:xfrm>
          <a:prstGeom prst="roundRect">
            <a:avLst>
              <a:gd name="adj" fmla="val 12000"/>
            </a:avLst>
          </a:prstGeom>
          <a:solidFill>
            <a:srgbClr val="EF3E2B"/>
          </a:solidFill>
          <a:ln w="12700">
            <a:solidFill>
              <a:srgbClr val="EF3E2B"/>
            </a:solidFill>
            <a:prstDash val="solid"/>
          </a:ln>
        </p:spPr>
        <p:txBody>
          <a:bodyPr/>
          <a:lstStyle/>
          <a:p>
            <a:endParaRPr lang="en-IN"/>
          </a:p>
        </p:txBody>
      </p:sp>
      <p:sp>
        <p:nvSpPr>
          <p:cNvPr id="5" name="Text 3"/>
          <p:cNvSpPr txBox="1"/>
          <p:nvPr/>
        </p:nvSpPr>
        <p:spPr>
          <a:xfrm>
            <a:off x="502920" y="1691640"/>
            <a:ext cx="2926080" cy="457200"/>
          </a:xfrm>
          <a:prstGeom prst="rect">
            <a:avLst/>
          </a:prstGeom>
          <a:noFill/>
          <a:ln/>
        </p:spPr>
        <p:txBody>
          <a:bodyPr wrap="square" lIns="0" tIns="0" rIns="0" bIns="0" rtlCol="0" anchor="ctr"/>
          <a:lstStyle/>
          <a:p>
            <a:pPr marL="0" indent="0" algn="ctr">
              <a:buNone/>
            </a:pPr>
            <a:r>
              <a:rPr lang="en-US" sz="1500" b="1" dirty="0">
                <a:solidFill>
                  <a:schemeClr val="tx1"/>
                </a:solidFill>
              </a:rPr>
              <a:t>BloodComponent (abstract)</a:t>
            </a:r>
            <a:endParaRPr lang="en-US" sz="1500" dirty="0"/>
          </a:p>
        </p:txBody>
      </p:sp>
      <p:sp>
        <p:nvSpPr>
          <p:cNvPr id="6" name="tree-WholeBlood"/>
          <p:cNvSpPr/>
          <p:nvPr/>
        </p:nvSpPr>
        <p:spPr>
          <a:xfrm>
            <a:off x="822960" y="2258568"/>
            <a:ext cx="2606040" cy="457200"/>
          </a:xfrm>
          <a:prstGeom prst="roundRect">
            <a:avLst>
              <a:gd name="adj" fmla="val 12000"/>
            </a:avLst>
          </a:prstGeom>
          <a:solidFill>
            <a:srgbClr val="1D1D1D"/>
          </a:solidFill>
          <a:ln w="12700">
            <a:solidFill>
              <a:srgbClr val="333333"/>
            </a:solidFill>
            <a:prstDash val="solid"/>
          </a:ln>
        </p:spPr>
        <p:txBody>
          <a:bodyPr/>
          <a:lstStyle/>
          <a:p>
            <a:endParaRPr lang="en-IN"/>
          </a:p>
        </p:txBody>
      </p:sp>
      <p:sp>
        <p:nvSpPr>
          <p:cNvPr id="7" name="Text 5"/>
          <p:cNvSpPr txBox="1"/>
          <p:nvPr/>
        </p:nvSpPr>
        <p:spPr>
          <a:xfrm>
            <a:off x="822960" y="2258568"/>
            <a:ext cx="2606040" cy="457200"/>
          </a:xfrm>
          <a:prstGeom prst="rect">
            <a:avLst/>
          </a:prstGeom>
          <a:noFill/>
          <a:ln/>
        </p:spPr>
        <p:txBody>
          <a:bodyPr wrap="square" lIns="0" tIns="0" rIns="0" bIns="0" rtlCol="0" anchor="ctr"/>
          <a:lstStyle/>
          <a:p>
            <a:pPr marL="0" indent="0" algn="ctr">
              <a:buNone/>
            </a:pPr>
            <a:r>
              <a:rPr lang="en-US" sz="1500" dirty="0">
                <a:solidFill>
                  <a:schemeClr val="bg1"/>
                </a:solidFill>
              </a:rPr>
              <a:t>WholeBlood</a:t>
            </a:r>
            <a:endParaRPr lang="en-US" sz="1500" dirty="0"/>
          </a:p>
        </p:txBody>
      </p:sp>
      <p:sp>
        <p:nvSpPr>
          <p:cNvPr id="8" name="tree-RedCellConcentrate"/>
          <p:cNvSpPr/>
          <p:nvPr/>
        </p:nvSpPr>
        <p:spPr>
          <a:xfrm>
            <a:off x="822960" y="2807208"/>
            <a:ext cx="2606040" cy="457200"/>
          </a:xfrm>
          <a:prstGeom prst="roundRect">
            <a:avLst>
              <a:gd name="adj" fmla="val 12000"/>
            </a:avLst>
          </a:prstGeom>
          <a:solidFill>
            <a:srgbClr val="1D1D1D"/>
          </a:solidFill>
          <a:ln w="12700">
            <a:solidFill>
              <a:srgbClr val="333333"/>
            </a:solidFill>
            <a:prstDash val="solid"/>
          </a:ln>
        </p:spPr>
        <p:txBody>
          <a:bodyPr/>
          <a:lstStyle/>
          <a:p>
            <a:endParaRPr lang="en-IN"/>
          </a:p>
        </p:txBody>
      </p:sp>
      <p:sp>
        <p:nvSpPr>
          <p:cNvPr id="9" name="Text 7"/>
          <p:cNvSpPr txBox="1"/>
          <p:nvPr/>
        </p:nvSpPr>
        <p:spPr>
          <a:xfrm>
            <a:off x="822960" y="2807208"/>
            <a:ext cx="2606040" cy="457200"/>
          </a:xfrm>
          <a:prstGeom prst="rect">
            <a:avLst/>
          </a:prstGeom>
          <a:noFill/>
          <a:ln/>
        </p:spPr>
        <p:txBody>
          <a:bodyPr wrap="square" lIns="0" tIns="0" rIns="0" bIns="0" rtlCol="0" anchor="ctr"/>
          <a:lstStyle/>
          <a:p>
            <a:pPr marL="0" indent="0" algn="ctr">
              <a:buNone/>
            </a:pPr>
            <a:r>
              <a:rPr lang="en-US" sz="1500" dirty="0">
                <a:solidFill>
                  <a:schemeClr val="bg1"/>
                </a:solidFill>
              </a:rPr>
              <a:t>RedCellConcentrate</a:t>
            </a:r>
            <a:endParaRPr lang="en-US" sz="1500" dirty="0"/>
          </a:p>
        </p:txBody>
      </p:sp>
      <p:sp>
        <p:nvSpPr>
          <p:cNvPr id="10" name="tree-Platelets"/>
          <p:cNvSpPr/>
          <p:nvPr/>
        </p:nvSpPr>
        <p:spPr>
          <a:xfrm>
            <a:off x="822960" y="3355848"/>
            <a:ext cx="2606040" cy="457200"/>
          </a:xfrm>
          <a:prstGeom prst="roundRect">
            <a:avLst>
              <a:gd name="adj" fmla="val 12000"/>
            </a:avLst>
          </a:prstGeom>
          <a:solidFill>
            <a:srgbClr val="1D1D1D"/>
          </a:solidFill>
          <a:ln w="12700">
            <a:solidFill>
              <a:srgbClr val="333333"/>
            </a:solidFill>
            <a:prstDash val="solid"/>
          </a:ln>
        </p:spPr>
        <p:txBody>
          <a:bodyPr/>
          <a:lstStyle/>
          <a:p>
            <a:endParaRPr lang="en-IN"/>
          </a:p>
        </p:txBody>
      </p:sp>
      <p:sp>
        <p:nvSpPr>
          <p:cNvPr id="11" name="Text 9"/>
          <p:cNvSpPr txBox="1"/>
          <p:nvPr/>
        </p:nvSpPr>
        <p:spPr>
          <a:xfrm>
            <a:off x="822960" y="3355848"/>
            <a:ext cx="2606040" cy="457200"/>
          </a:xfrm>
          <a:prstGeom prst="rect">
            <a:avLst/>
          </a:prstGeom>
          <a:noFill/>
          <a:ln/>
        </p:spPr>
        <p:txBody>
          <a:bodyPr wrap="square" lIns="0" tIns="0" rIns="0" bIns="0" rtlCol="0" anchor="ctr"/>
          <a:lstStyle/>
          <a:p>
            <a:pPr marL="0" indent="0" algn="ctr">
              <a:buNone/>
            </a:pPr>
            <a:r>
              <a:rPr lang="en-US" sz="1500" dirty="0">
                <a:solidFill>
                  <a:schemeClr val="bg1"/>
                </a:solidFill>
              </a:rPr>
              <a:t>Platelets</a:t>
            </a:r>
            <a:endParaRPr lang="en-US" sz="1500" dirty="0"/>
          </a:p>
        </p:txBody>
      </p:sp>
      <p:sp>
        <p:nvSpPr>
          <p:cNvPr id="12" name="tree-FreshFrozenPlasma"/>
          <p:cNvSpPr/>
          <p:nvPr/>
        </p:nvSpPr>
        <p:spPr>
          <a:xfrm>
            <a:off x="822960" y="3904488"/>
            <a:ext cx="2606040" cy="457200"/>
          </a:xfrm>
          <a:prstGeom prst="roundRect">
            <a:avLst>
              <a:gd name="adj" fmla="val 12000"/>
            </a:avLst>
          </a:prstGeom>
          <a:solidFill>
            <a:srgbClr val="1D1D1D"/>
          </a:solidFill>
          <a:ln w="12700">
            <a:solidFill>
              <a:srgbClr val="333333"/>
            </a:solidFill>
            <a:prstDash val="solid"/>
          </a:ln>
        </p:spPr>
        <p:txBody>
          <a:bodyPr/>
          <a:lstStyle/>
          <a:p>
            <a:endParaRPr lang="en-IN"/>
          </a:p>
        </p:txBody>
      </p:sp>
      <p:sp>
        <p:nvSpPr>
          <p:cNvPr id="13" name="Text 11"/>
          <p:cNvSpPr txBox="1"/>
          <p:nvPr/>
        </p:nvSpPr>
        <p:spPr>
          <a:xfrm>
            <a:off x="822960" y="3904488"/>
            <a:ext cx="2606040" cy="457200"/>
          </a:xfrm>
          <a:prstGeom prst="rect">
            <a:avLst/>
          </a:prstGeom>
          <a:noFill/>
          <a:ln/>
        </p:spPr>
        <p:txBody>
          <a:bodyPr wrap="square" lIns="0" tIns="0" rIns="0" bIns="0" rtlCol="0" anchor="ctr"/>
          <a:lstStyle/>
          <a:p>
            <a:pPr marL="0" indent="0" algn="ctr">
              <a:buNone/>
            </a:pPr>
            <a:r>
              <a:rPr lang="en-US" sz="1500" dirty="0">
                <a:solidFill>
                  <a:schemeClr val="bg1"/>
                </a:solidFill>
              </a:rPr>
              <a:t>FreshFrozenPlasma</a:t>
            </a:r>
            <a:endParaRPr lang="en-US" sz="1500" dirty="0"/>
          </a:p>
        </p:txBody>
      </p:sp>
      <p:sp>
        <p:nvSpPr>
          <p:cNvPr id="14" name="tree-Facility (abstract)"/>
          <p:cNvSpPr/>
          <p:nvPr/>
        </p:nvSpPr>
        <p:spPr>
          <a:xfrm>
            <a:off x="3657600" y="1691640"/>
            <a:ext cx="2651760" cy="457200"/>
          </a:xfrm>
          <a:prstGeom prst="roundRect">
            <a:avLst>
              <a:gd name="adj" fmla="val 12000"/>
            </a:avLst>
          </a:prstGeom>
          <a:solidFill>
            <a:srgbClr val="EF3E2B"/>
          </a:solidFill>
          <a:ln w="12700">
            <a:solidFill>
              <a:srgbClr val="EF3E2B"/>
            </a:solidFill>
            <a:prstDash val="solid"/>
          </a:ln>
        </p:spPr>
        <p:txBody>
          <a:bodyPr/>
          <a:lstStyle/>
          <a:p>
            <a:endParaRPr lang="en-IN"/>
          </a:p>
        </p:txBody>
      </p:sp>
      <p:sp>
        <p:nvSpPr>
          <p:cNvPr id="15" name="Text 13"/>
          <p:cNvSpPr txBox="1"/>
          <p:nvPr/>
        </p:nvSpPr>
        <p:spPr>
          <a:xfrm>
            <a:off x="3657600" y="1691640"/>
            <a:ext cx="2651760" cy="457200"/>
          </a:xfrm>
          <a:prstGeom prst="rect">
            <a:avLst/>
          </a:prstGeom>
          <a:noFill/>
          <a:ln/>
        </p:spPr>
        <p:txBody>
          <a:bodyPr wrap="square" lIns="0" tIns="0" rIns="0" bIns="0" rtlCol="0" anchor="ctr"/>
          <a:lstStyle/>
          <a:p>
            <a:pPr marL="0" indent="0" algn="ctr">
              <a:buNone/>
            </a:pPr>
            <a:r>
              <a:rPr lang="en-US" sz="1500" b="1" dirty="0">
                <a:solidFill>
                  <a:schemeClr val="tx1"/>
                </a:solidFill>
              </a:rPr>
              <a:t>Facility (abstract)</a:t>
            </a:r>
            <a:endParaRPr lang="en-US" sz="1500" dirty="0"/>
          </a:p>
        </p:txBody>
      </p:sp>
      <p:sp>
        <p:nvSpPr>
          <p:cNvPr id="16" name="tree-HubBloodCentre"/>
          <p:cNvSpPr/>
          <p:nvPr/>
        </p:nvSpPr>
        <p:spPr>
          <a:xfrm>
            <a:off x="3977640" y="2258568"/>
            <a:ext cx="2331720" cy="457200"/>
          </a:xfrm>
          <a:prstGeom prst="roundRect">
            <a:avLst>
              <a:gd name="adj" fmla="val 12000"/>
            </a:avLst>
          </a:prstGeom>
          <a:solidFill>
            <a:srgbClr val="1D1D1D"/>
          </a:solidFill>
          <a:ln w="12700">
            <a:solidFill>
              <a:srgbClr val="333333"/>
            </a:solidFill>
            <a:prstDash val="solid"/>
          </a:ln>
        </p:spPr>
        <p:txBody>
          <a:bodyPr/>
          <a:lstStyle/>
          <a:p>
            <a:endParaRPr lang="en-IN"/>
          </a:p>
        </p:txBody>
      </p:sp>
      <p:sp>
        <p:nvSpPr>
          <p:cNvPr id="17" name="Text 15"/>
          <p:cNvSpPr txBox="1"/>
          <p:nvPr/>
        </p:nvSpPr>
        <p:spPr>
          <a:xfrm>
            <a:off x="3977640" y="2258568"/>
            <a:ext cx="2331720" cy="457200"/>
          </a:xfrm>
          <a:prstGeom prst="rect">
            <a:avLst/>
          </a:prstGeom>
          <a:noFill/>
          <a:ln/>
        </p:spPr>
        <p:txBody>
          <a:bodyPr wrap="square" lIns="0" tIns="0" rIns="0" bIns="0" rtlCol="0" anchor="ctr"/>
          <a:lstStyle/>
          <a:p>
            <a:pPr marL="0" indent="0" algn="ctr">
              <a:buNone/>
            </a:pPr>
            <a:r>
              <a:rPr lang="en-US" sz="1500" dirty="0">
                <a:solidFill>
                  <a:schemeClr val="bg1"/>
                </a:solidFill>
              </a:rPr>
              <a:t>HubBloodCentre</a:t>
            </a:r>
            <a:endParaRPr lang="en-US" sz="1500" dirty="0"/>
          </a:p>
        </p:txBody>
      </p:sp>
      <p:sp>
        <p:nvSpPr>
          <p:cNvPr id="18" name="tree-StorageCentre"/>
          <p:cNvSpPr/>
          <p:nvPr/>
        </p:nvSpPr>
        <p:spPr>
          <a:xfrm>
            <a:off x="3977640" y="2807208"/>
            <a:ext cx="2331720" cy="457200"/>
          </a:xfrm>
          <a:prstGeom prst="roundRect">
            <a:avLst>
              <a:gd name="adj" fmla="val 12000"/>
            </a:avLst>
          </a:prstGeom>
          <a:solidFill>
            <a:srgbClr val="1D1D1D"/>
          </a:solidFill>
          <a:ln w="12700">
            <a:solidFill>
              <a:srgbClr val="333333"/>
            </a:solidFill>
            <a:prstDash val="solid"/>
          </a:ln>
        </p:spPr>
        <p:txBody>
          <a:bodyPr/>
          <a:lstStyle/>
          <a:p>
            <a:endParaRPr lang="en-IN"/>
          </a:p>
        </p:txBody>
      </p:sp>
      <p:sp>
        <p:nvSpPr>
          <p:cNvPr id="19" name="Text 17"/>
          <p:cNvSpPr txBox="1"/>
          <p:nvPr/>
        </p:nvSpPr>
        <p:spPr>
          <a:xfrm>
            <a:off x="3977640" y="2807208"/>
            <a:ext cx="2331720" cy="457200"/>
          </a:xfrm>
          <a:prstGeom prst="rect">
            <a:avLst/>
          </a:prstGeom>
          <a:noFill/>
          <a:ln/>
        </p:spPr>
        <p:txBody>
          <a:bodyPr wrap="square" lIns="0" tIns="0" rIns="0" bIns="0" rtlCol="0" anchor="ctr"/>
          <a:lstStyle/>
          <a:p>
            <a:pPr marL="0" indent="0" algn="ctr">
              <a:buNone/>
            </a:pPr>
            <a:r>
              <a:rPr lang="en-US" sz="1500" dirty="0">
                <a:solidFill>
                  <a:schemeClr val="bg1"/>
                </a:solidFill>
              </a:rPr>
              <a:t>StorageCentre</a:t>
            </a:r>
            <a:endParaRPr lang="en-US" sz="1500" dirty="0"/>
          </a:p>
        </p:txBody>
      </p:sp>
      <p:sp>
        <p:nvSpPr>
          <p:cNvPr id="20" name="tree-Hospital"/>
          <p:cNvSpPr/>
          <p:nvPr/>
        </p:nvSpPr>
        <p:spPr>
          <a:xfrm>
            <a:off x="3977640" y="3355848"/>
            <a:ext cx="2331720" cy="457200"/>
          </a:xfrm>
          <a:prstGeom prst="roundRect">
            <a:avLst>
              <a:gd name="adj" fmla="val 12000"/>
            </a:avLst>
          </a:prstGeom>
          <a:solidFill>
            <a:srgbClr val="1D1D1D"/>
          </a:solidFill>
          <a:ln w="12700">
            <a:solidFill>
              <a:srgbClr val="333333"/>
            </a:solidFill>
            <a:prstDash val="solid"/>
          </a:ln>
        </p:spPr>
        <p:txBody>
          <a:bodyPr/>
          <a:lstStyle/>
          <a:p>
            <a:endParaRPr lang="en-IN"/>
          </a:p>
        </p:txBody>
      </p:sp>
      <p:sp>
        <p:nvSpPr>
          <p:cNvPr id="21" name="Text 19"/>
          <p:cNvSpPr txBox="1"/>
          <p:nvPr/>
        </p:nvSpPr>
        <p:spPr>
          <a:xfrm>
            <a:off x="3977640" y="3355848"/>
            <a:ext cx="2331720" cy="457200"/>
          </a:xfrm>
          <a:prstGeom prst="rect">
            <a:avLst/>
          </a:prstGeom>
          <a:noFill/>
          <a:ln/>
        </p:spPr>
        <p:txBody>
          <a:bodyPr wrap="square" lIns="0" tIns="0" rIns="0" bIns="0" rtlCol="0" anchor="ctr"/>
          <a:lstStyle/>
          <a:p>
            <a:pPr marL="0" indent="0" algn="ctr">
              <a:buNone/>
            </a:pPr>
            <a:r>
              <a:rPr lang="en-US" sz="1500" dirty="0">
                <a:solidFill>
                  <a:schemeClr val="bg1"/>
                </a:solidFill>
              </a:rPr>
              <a:t>Hospital</a:t>
            </a:r>
            <a:endParaRPr lang="en-US" sz="1500" dirty="0"/>
          </a:p>
        </p:txBody>
      </p:sp>
      <p:sp>
        <p:nvSpPr>
          <p:cNvPr id="22" name="Text 20"/>
          <p:cNvSpPr txBox="1"/>
          <p:nvPr/>
        </p:nvSpPr>
        <p:spPr>
          <a:xfrm>
            <a:off x="3657600" y="3931920"/>
            <a:ext cx="2651760" cy="548640"/>
          </a:xfrm>
          <a:prstGeom prst="rect">
            <a:avLst/>
          </a:prstGeom>
          <a:noFill/>
          <a:ln/>
        </p:spPr>
        <p:txBody>
          <a:bodyPr wrap="square" lIns="0" tIns="0" rIns="0" bIns="0" rtlCol="0" anchor="ctr"/>
          <a:lstStyle/>
          <a:p>
            <a:pPr marL="0" indent="0">
              <a:buNone/>
            </a:pPr>
            <a:r>
              <a:rPr lang="en-US" sz="1300" i="1" dirty="0">
                <a:solidFill>
                  <a:schemeClr val="accent3"/>
                </a:solidFill>
              </a:rPr>
              <a:t>Each Facility owns its Inventory (composition)</a:t>
            </a:r>
            <a:endParaRPr lang="en-US" sz="1300" dirty="0"/>
          </a:p>
        </p:txBody>
      </p:sp>
      <p:sp>
        <p:nvSpPr>
          <p:cNvPr id="23" name="interfaces-card"/>
          <p:cNvSpPr/>
          <p:nvPr/>
        </p:nvSpPr>
        <p:spPr>
          <a:xfrm>
            <a:off x="502920" y="4572000"/>
            <a:ext cx="5806440" cy="1691640"/>
          </a:xfrm>
          <a:prstGeom prst="roundRect">
            <a:avLst>
              <a:gd name="adj" fmla="val 4324"/>
            </a:avLst>
          </a:prstGeom>
          <a:solidFill>
            <a:srgbClr val="1D1D1D"/>
          </a:solidFill>
          <a:ln w="12700">
            <a:solidFill>
              <a:srgbClr val="333333"/>
            </a:solidFill>
            <a:prstDash val="solid"/>
          </a:ln>
        </p:spPr>
        <p:txBody>
          <a:bodyPr/>
          <a:lstStyle/>
          <a:p>
            <a:endParaRPr lang="en-IN"/>
          </a:p>
        </p:txBody>
      </p:sp>
      <p:sp>
        <p:nvSpPr>
          <p:cNvPr id="24" name="Text 22"/>
          <p:cNvSpPr txBox="1"/>
          <p:nvPr/>
        </p:nvSpPr>
        <p:spPr>
          <a:xfrm>
            <a:off x="777240" y="4754880"/>
            <a:ext cx="5303520" cy="141732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INTERFACES</a:t>
            </a:r>
            <a:endParaRPr lang="en-US" sz="1500" dirty="0"/>
          </a:p>
          <a:p>
            <a:pPr marL="203200" indent="-203200">
              <a:spcAft>
                <a:spcPts val="500"/>
              </a:spcAft>
              <a:buSzPct val="100000"/>
              <a:buChar char="•"/>
            </a:pPr>
            <a:r>
              <a:rPr lang="en-US" sz="1600" dirty="0">
                <a:solidFill>
                  <a:schemeClr val="bg1"/>
                </a:solidFill>
              </a:rPr>
              <a:t>AuditTrail · Transfusable · Identifiable · Repository&lt;T&gt;</a:t>
            </a:r>
            <a:endParaRPr lang="en-US" sz="1500" dirty="0"/>
          </a:p>
          <a:p>
            <a:pPr marL="203200" indent="-203200">
              <a:spcAft>
                <a:spcPts val="500"/>
              </a:spcAft>
              <a:buSzPct val="100000"/>
              <a:buChar char="•"/>
            </a:pPr>
            <a:r>
              <a:rPr lang="en-US" sz="1600" dirty="0">
                <a:solidFill>
                  <a:schemeClr val="bg1"/>
                </a:solidFill>
              </a:rPr>
              <a:t>RedistributionStrategy · DemandForecaster · AlertChannel</a:t>
            </a:r>
            <a:endParaRPr lang="en-US" sz="1500" dirty="0"/>
          </a:p>
        </p:txBody>
      </p:sp>
      <p:sp>
        <p:nvSpPr>
          <p:cNvPr id="25" name="pillar-1"/>
          <p:cNvSpPr/>
          <p:nvPr/>
        </p:nvSpPr>
        <p:spPr>
          <a:xfrm>
            <a:off x="6537960" y="1691640"/>
            <a:ext cx="2468880" cy="2194560"/>
          </a:xfrm>
          <a:prstGeom prst="roundRect">
            <a:avLst>
              <a:gd name="adj" fmla="val 3333"/>
            </a:avLst>
          </a:prstGeom>
          <a:solidFill>
            <a:srgbClr val="EF3E2B"/>
          </a:solidFill>
          <a:ln w="12700">
            <a:solidFill>
              <a:srgbClr val="EF3E2B"/>
            </a:solidFill>
            <a:prstDash val="solid"/>
          </a:ln>
        </p:spPr>
        <p:txBody>
          <a:bodyPr/>
          <a:lstStyle/>
          <a:p>
            <a:endParaRPr lang="en-IN"/>
          </a:p>
        </p:txBody>
      </p:sp>
      <p:sp>
        <p:nvSpPr>
          <p:cNvPr id="26" name="Text 24"/>
          <p:cNvSpPr txBox="1"/>
          <p:nvPr/>
        </p:nvSpPr>
        <p:spPr>
          <a:xfrm>
            <a:off x="6739128" y="1892808"/>
            <a:ext cx="2103120" cy="1874520"/>
          </a:xfrm>
          <a:prstGeom prst="rect">
            <a:avLst/>
          </a:prstGeom>
          <a:noFill/>
          <a:ln/>
        </p:spPr>
        <p:txBody>
          <a:bodyPr wrap="square" lIns="0" tIns="0" rIns="0" bIns="0" rtlCol="0" anchor="t"/>
          <a:lstStyle/>
          <a:p>
            <a:pPr marL="0" indent="0">
              <a:spcAft>
                <a:spcPts val="200"/>
              </a:spcAft>
              <a:buNone/>
            </a:pPr>
            <a:r>
              <a:rPr lang="en-US" sz="1500" b="1" kern="0" spc="100" dirty="0">
                <a:solidFill>
                  <a:schemeClr val="tx1"/>
                </a:solidFill>
              </a:rPr>
              <a:t>ABSTRACTION</a:t>
            </a:r>
            <a:endParaRPr lang="en-US" sz="1500" dirty="0"/>
          </a:p>
          <a:p>
            <a:pPr marL="0" indent="0">
              <a:spcAft>
                <a:spcPts val="500"/>
              </a:spcAft>
              <a:buNone/>
            </a:pPr>
            <a:r>
              <a:rPr lang="en-US" sz="1500" dirty="0">
                <a:solidFill>
                  <a:schemeClr val="tx1"/>
                </a:solidFill>
              </a:rPr>
              <a:t>BloodComponent and Facility are abstract: the code works with “a component”.</a:t>
            </a:r>
            <a:endParaRPr lang="en-US" sz="1500" dirty="0"/>
          </a:p>
        </p:txBody>
      </p:sp>
      <p:sp>
        <p:nvSpPr>
          <p:cNvPr id="27" name="pillar-2"/>
          <p:cNvSpPr/>
          <p:nvPr/>
        </p:nvSpPr>
        <p:spPr>
          <a:xfrm>
            <a:off x="9144000" y="1691640"/>
            <a:ext cx="2468880" cy="2194560"/>
          </a:xfrm>
          <a:prstGeom prst="roundRect">
            <a:avLst>
              <a:gd name="adj" fmla="val 3333"/>
            </a:avLst>
          </a:prstGeom>
          <a:solidFill>
            <a:srgbClr val="1D1D1D"/>
          </a:solidFill>
          <a:ln w="12700">
            <a:solidFill>
              <a:srgbClr val="333333"/>
            </a:solidFill>
            <a:prstDash val="solid"/>
          </a:ln>
        </p:spPr>
        <p:txBody>
          <a:bodyPr/>
          <a:lstStyle/>
          <a:p>
            <a:endParaRPr lang="en-IN"/>
          </a:p>
        </p:txBody>
      </p:sp>
      <p:sp>
        <p:nvSpPr>
          <p:cNvPr id="28" name="Text 26"/>
          <p:cNvSpPr txBox="1"/>
          <p:nvPr/>
        </p:nvSpPr>
        <p:spPr>
          <a:xfrm>
            <a:off x="9345168" y="1892808"/>
            <a:ext cx="2103120" cy="187452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ENCAPSULATION</a:t>
            </a:r>
            <a:endParaRPr lang="en-US" sz="1500" dirty="0"/>
          </a:p>
          <a:p>
            <a:pPr marL="0" indent="0">
              <a:spcAft>
                <a:spcPts val="500"/>
              </a:spcAft>
              <a:buNone/>
            </a:pPr>
            <a:r>
              <a:rPr lang="en-US" sz="1500" dirty="0">
                <a:solidFill>
                  <a:schemeClr val="bg1"/>
                </a:solidFill>
              </a:rPr>
              <a:t>Inventory keeps stock private, in expiry order; it changes only through its methods.</a:t>
            </a:r>
            <a:endParaRPr lang="en-US" sz="1500" dirty="0"/>
          </a:p>
        </p:txBody>
      </p:sp>
      <p:sp>
        <p:nvSpPr>
          <p:cNvPr id="29" name="pillar-3"/>
          <p:cNvSpPr/>
          <p:nvPr/>
        </p:nvSpPr>
        <p:spPr>
          <a:xfrm>
            <a:off x="6537960" y="4023360"/>
            <a:ext cx="2468880" cy="2194560"/>
          </a:xfrm>
          <a:prstGeom prst="roundRect">
            <a:avLst>
              <a:gd name="adj" fmla="val 3333"/>
            </a:avLst>
          </a:prstGeom>
          <a:solidFill>
            <a:srgbClr val="1D1D1D"/>
          </a:solidFill>
          <a:ln w="12700">
            <a:solidFill>
              <a:srgbClr val="333333"/>
            </a:solidFill>
            <a:prstDash val="solid"/>
          </a:ln>
        </p:spPr>
        <p:txBody>
          <a:bodyPr/>
          <a:lstStyle/>
          <a:p>
            <a:endParaRPr lang="en-IN"/>
          </a:p>
        </p:txBody>
      </p:sp>
      <p:sp>
        <p:nvSpPr>
          <p:cNvPr id="30" name="Text 28"/>
          <p:cNvSpPr txBox="1"/>
          <p:nvPr/>
        </p:nvSpPr>
        <p:spPr>
          <a:xfrm>
            <a:off x="6739128" y="4224528"/>
            <a:ext cx="2103120" cy="187452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INHERITANCE</a:t>
            </a:r>
            <a:endParaRPr lang="en-US" sz="1500" dirty="0"/>
          </a:p>
          <a:p>
            <a:pPr marL="0" indent="0">
              <a:spcAft>
                <a:spcPts val="500"/>
              </a:spcAft>
              <a:buNone/>
            </a:pPr>
            <a:r>
              <a:rPr lang="en-US" sz="1500" dirty="0">
                <a:solidFill>
                  <a:schemeClr val="bg1"/>
                </a:solidFill>
              </a:rPr>
              <a:t>4 components and 3 facility types extend their parent; all errors extend RaktSetuException.</a:t>
            </a:r>
            <a:endParaRPr lang="en-US" sz="1500" dirty="0"/>
          </a:p>
        </p:txBody>
      </p:sp>
      <p:sp>
        <p:nvSpPr>
          <p:cNvPr id="31" name="pillar-4"/>
          <p:cNvSpPr/>
          <p:nvPr/>
        </p:nvSpPr>
        <p:spPr>
          <a:xfrm>
            <a:off x="9144000" y="4023360"/>
            <a:ext cx="2468880" cy="2194560"/>
          </a:xfrm>
          <a:prstGeom prst="roundRect">
            <a:avLst>
              <a:gd name="adj" fmla="val 3333"/>
            </a:avLst>
          </a:prstGeom>
          <a:solidFill>
            <a:srgbClr val="EF3E2B"/>
          </a:solidFill>
          <a:ln w="12700">
            <a:solidFill>
              <a:srgbClr val="EF3E2B"/>
            </a:solidFill>
            <a:prstDash val="solid"/>
          </a:ln>
        </p:spPr>
        <p:txBody>
          <a:bodyPr/>
          <a:lstStyle/>
          <a:p>
            <a:endParaRPr lang="en-IN"/>
          </a:p>
        </p:txBody>
      </p:sp>
      <p:sp>
        <p:nvSpPr>
          <p:cNvPr id="32" name="Text 30"/>
          <p:cNvSpPr txBox="1"/>
          <p:nvPr/>
        </p:nvSpPr>
        <p:spPr>
          <a:xfrm>
            <a:off x="9345168" y="4224528"/>
            <a:ext cx="2103120" cy="1874520"/>
          </a:xfrm>
          <a:prstGeom prst="rect">
            <a:avLst/>
          </a:prstGeom>
          <a:noFill/>
          <a:ln/>
        </p:spPr>
        <p:txBody>
          <a:bodyPr wrap="square" lIns="0" tIns="0" rIns="0" bIns="0" rtlCol="0" anchor="t"/>
          <a:lstStyle/>
          <a:p>
            <a:pPr marL="0" indent="0">
              <a:spcAft>
                <a:spcPts val="200"/>
              </a:spcAft>
              <a:buNone/>
            </a:pPr>
            <a:r>
              <a:rPr lang="en-US" sz="1500" b="1" kern="0" spc="100" dirty="0">
                <a:solidFill>
                  <a:schemeClr val="tx1"/>
                </a:solidFill>
              </a:rPr>
              <a:t>POLYMORPHISM</a:t>
            </a:r>
            <a:endParaRPr lang="en-US" sz="1500" dirty="0"/>
          </a:p>
          <a:p>
            <a:pPr marL="0" indent="0">
              <a:spcAft>
                <a:spcPts val="500"/>
              </a:spcAft>
              <a:buNone/>
            </a:pPr>
            <a:r>
              <a:rPr lang="en-US" sz="1500" dirty="0">
                <a:solidFill>
                  <a:schemeClr val="tx1"/>
                </a:solidFill>
              </a:rPr>
              <a:t>getShelfLifeDays() returns 5, 35, 42 or 365: one expiry rule for every component.</a:t>
            </a:r>
            <a:endParaRPr lang="en-US" sz="1500" dirty="0"/>
          </a:p>
        </p:txBody>
      </p:sp>
      <p:sp>
        <p:nvSpPr>
          <p:cNvPr id="33"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 ABSTRACTION AND POLYMORPHISM</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ONE EXPIRY RULE FOR EVERY KIND OF BLOOD</a:t>
            </a:r>
            <a:endParaRPr lang="en-US" sz="4000" dirty="0"/>
          </a:p>
        </p:txBody>
      </p:sp>
      <p:sp>
        <p:nvSpPr>
          <p:cNvPr id="4" name="explain"/>
          <p:cNvSpPr/>
          <p:nvPr/>
        </p:nvSpPr>
        <p:spPr>
          <a:xfrm>
            <a:off x="502920" y="1627632"/>
            <a:ext cx="4069080" cy="4663440"/>
          </a:xfrm>
          <a:prstGeom prst="roundRect">
            <a:avLst>
              <a:gd name="adj" fmla="val 1798"/>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49808" y="1828800"/>
            <a:ext cx="3611880" cy="42976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ABSTRACTION</a:t>
            </a:r>
            <a:endParaRPr lang="en-US" sz="1500" dirty="0"/>
          </a:p>
          <a:p>
            <a:pPr marL="0" indent="0">
              <a:spcAft>
                <a:spcPts val="500"/>
              </a:spcAft>
              <a:buNone/>
            </a:pPr>
            <a:r>
              <a:rPr lang="en-US" sz="1600" dirty="0">
                <a:solidFill>
                  <a:schemeClr val="bg1"/>
                </a:solidFill>
              </a:rPr>
              <a:t>BloodComponent is abstract. Its abstract methods (lines 59–64) force every kind of blood to state its type, shelf life and storage.</a:t>
            </a:r>
            <a:endParaRPr lang="en-US" sz="1500" dirty="0"/>
          </a:p>
          <a:p>
            <a:pPr marL="0" indent="0">
              <a:spcBef>
                <a:spcPts val="1200"/>
              </a:spcBef>
              <a:spcAft>
                <a:spcPts val="200"/>
              </a:spcAft>
              <a:buNone/>
            </a:pPr>
            <a:r>
              <a:rPr lang="en-US" sz="1500" b="1" kern="0" spc="100" dirty="0">
                <a:solidFill>
                  <a:schemeClr val="accent3"/>
                </a:solidFill>
              </a:rPr>
              <a:t>POLYMORPHISM</a:t>
            </a:r>
            <a:endParaRPr lang="en-US" sz="1500" dirty="0"/>
          </a:p>
          <a:p>
            <a:pPr marL="0" indent="0">
              <a:spcAft>
                <a:spcPts val="500"/>
              </a:spcAft>
              <a:buNone/>
            </a:pPr>
            <a:r>
              <a:rPr lang="en-US" sz="1600" dirty="0">
                <a:solidFill>
                  <a:schemeClr val="bg1"/>
                </a:solidFill>
              </a:rPr>
              <a:t>Line 91 calls getShelfLifeDays() without knowing the type. Java runs the subclass's override at run time: 5, 42 or 365 days.</a:t>
            </a:r>
            <a:endParaRPr lang="en-US" sz="1500" dirty="0"/>
          </a:p>
          <a:p>
            <a:pPr marL="0" indent="0">
              <a:spcBef>
                <a:spcPts val="1200"/>
              </a:spcBef>
              <a:spcAft>
                <a:spcPts val="200"/>
              </a:spcAft>
              <a:buNone/>
            </a:pPr>
            <a:r>
              <a:rPr lang="en-US" sz="1500" b="1" kern="0" spc="100" dirty="0">
                <a:solidFill>
                  <a:schemeClr val="accent3"/>
                </a:solidFill>
              </a:rPr>
              <a:t>WHY</a:t>
            </a:r>
            <a:endParaRPr lang="en-US" sz="1500" dirty="0"/>
          </a:p>
          <a:p>
            <a:pPr marL="0" indent="0">
              <a:spcAft>
                <a:spcPts val="500"/>
              </a:spcAft>
              <a:buNone/>
            </a:pPr>
            <a:r>
              <a:rPr lang="en-US" sz="1600" dirty="0">
                <a:solidFill>
                  <a:schemeClr val="bg1"/>
                </a:solidFill>
              </a:rPr>
              <a:t>A new component is one new class; the expiry logic never changes.</a:t>
            </a:r>
            <a:endParaRPr lang="en-US" sz="1500" dirty="0"/>
          </a:p>
        </p:txBody>
      </p:sp>
      <p:sp>
        <p:nvSpPr>
          <p:cNvPr id="6" name="Text 4"/>
          <p:cNvSpPr txBox="1"/>
          <p:nvPr/>
        </p:nvSpPr>
        <p:spPr>
          <a:xfrm>
            <a:off x="4800600" y="1261872"/>
            <a:ext cx="6903720" cy="274320"/>
          </a:xfrm>
          <a:prstGeom prst="rect">
            <a:avLst/>
          </a:prstGeom>
          <a:noFill/>
          <a:ln/>
        </p:spPr>
        <p:txBody>
          <a:bodyPr wrap="square" lIns="0" tIns="0" rIns="0" bIns="0" rtlCol="0" anchor="ctr"/>
          <a:lstStyle/>
          <a:p>
            <a:pPr marL="0" indent="0" algn="r">
              <a:buNone/>
            </a:pPr>
            <a:r>
              <a:rPr lang="en-US" sz="1200" i="1" dirty="0">
                <a:solidFill>
                  <a:schemeClr val="accent5"/>
                </a:solidFill>
              </a:rPr>
              <a:t>Real code from the repository  ·  highlighted lines and ← tags show where the concept is</a:t>
            </a:r>
            <a:endParaRPr lang="en-US" sz="1200" dirty="0"/>
          </a:p>
        </p:txBody>
      </p:sp>
      <p:pic>
        <p:nvPicPr>
          <p:cNvPr id="7" name="abstraction" descr="Java code from RaktSetu: abstraction"/>
          <p:cNvPicPr>
            <a:picLocks noChangeAspect="1"/>
          </p:cNvPicPr>
          <p:nvPr/>
        </p:nvPicPr>
        <p:blipFill>
          <a:blip r:embed="rId3"/>
          <a:stretch>
            <a:fillRect/>
          </a:stretch>
        </p:blipFill>
        <p:spPr>
          <a:xfrm>
            <a:off x="4800600" y="1627632"/>
            <a:ext cx="6903720" cy="2172455"/>
          </a:xfrm>
          <a:prstGeom prst="rect">
            <a:avLst/>
          </a:prstGeom>
          <a:effectLst>
            <a:outerShdw blurRad="177800" dist="50800" dir="5400000" algn="bl" rotWithShape="0">
              <a:srgbClr val="000000">
                <a:alpha val="60000"/>
              </a:srgbClr>
            </a:outerShdw>
          </a:effectLst>
        </p:spPr>
      </p:pic>
      <p:sp>
        <p:nvSpPr>
          <p:cNvPr id="8" name="override-1"/>
          <p:cNvSpPr/>
          <p:nvPr/>
        </p:nvSpPr>
        <p:spPr>
          <a:xfrm>
            <a:off x="4800600" y="4074407"/>
            <a:ext cx="6903720" cy="610872"/>
          </a:xfrm>
          <a:prstGeom prst="roundRect">
            <a:avLst>
              <a:gd name="adj" fmla="val 11975"/>
            </a:avLst>
          </a:prstGeom>
          <a:solidFill>
            <a:srgbClr val="1D1D1D"/>
          </a:solidFill>
          <a:ln w="12700">
            <a:solidFill>
              <a:srgbClr val="333333"/>
            </a:solidFill>
            <a:prstDash val="solid"/>
          </a:ln>
        </p:spPr>
        <p:txBody>
          <a:bodyPr/>
          <a:lstStyle/>
          <a:p>
            <a:endParaRPr lang="en-IN"/>
          </a:p>
        </p:txBody>
      </p:sp>
      <p:sp>
        <p:nvSpPr>
          <p:cNvPr id="9" name="Text 6"/>
          <p:cNvSpPr txBox="1"/>
          <p:nvPr/>
        </p:nvSpPr>
        <p:spPr>
          <a:xfrm>
            <a:off x="5029200" y="4074407"/>
            <a:ext cx="4754880" cy="610872"/>
          </a:xfrm>
          <a:prstGeom prst="rect">
            <a:avLst/>
          </a:prstGeom>
          <a:noFill/>
          <a:ln/>
        </p:spPr>
        <p:txBody>
          <a:bodyPr wrap="square" lIns="0" tIns="0" rIns="0" bIns="0" rtlCol="0" anchor="ctr"/>
          <a:lstStyle/>
          <a:p>
            <a:pPr marL="0" indent="0">
              <a:buNone/>
            </a:pPr>
            <a:r>
              <a:rPr lang="en-US" sz="1500" b="1" dirty="0">
                <a:solidFill>
                  <a:schemeClr val="accent3"/>
                </a:solidFill>
              </a:rPr>
              <a:t>Platelets</a:t>
            </a:r>
            <a:endParaRPr lang="en-US" sz="1500" dirty="0"/>
          </a:p>
          <a:p>
            <a:pPr marL="0" indent="0">
              <a:buNone/>
            </a:pPr>
            <a:r>
              <a:rPr lang="en-US" sz="1500" dirty="0">
                <a:solidFill>
                  <a:schemeClr val="bg1"/>
                </a:solidFill>
                <a:latin typeface="Consolas" pitchFamily="34" charset="0"/>
                <a:ea typeface="Consolas" pitchFamily="34" charset="-122"/>
                <a:cs typeface="Consolas" pitchFamily="34" charset="-120"/>
              </a:rPr>
              <a:t>@Override public int getShelfLifeDays()</a:t>
            </a:r>
            <a:endParaRPr lang="en-US" sz="1500" dirty="0"/>
          </a:p>
        </p:txBody>
      </p:sp>
      <p:sp>
        <p:nvSpPr>
          <p:cNvPr id="10" name="Text 7"/>
          <p:cNvSpPr txBox="1"/>
          <p:nvPr/>
        </p:nvSpPr>
        <p:spPr>
          <a:xfrm>
            <a:off x="9646920" y="4074407"/>
            <a:ext cx="1874520" cy="610872"/>
          </a:xfrm>
          <a:prstGeom prst="rect">
            <a:avLst/>
          </a:prstGeom>
          <a:noFill/>
          <a:ln/>
        </p:spPr>
        <p:txBody>
          <a:bodyPr wrap="square" lIns="0" tIns="0" rIns="0" bIns="0" rtlCol="0" anchor="ctr"/>
          <a:lstStyle/>
          <a:p>
            <a:pPr marL="0" indent="0" algn="r">
              <a:buNone/>
            </a:pPr>
            <a:r>
              <a:rPr lang="en-US" sz="2800" dirty="0">
                <a:solidFill>
                  <a:schemeClr val="accent1"/>
                </a:solidFill>
                <a:latin typeface="Anton" pitchFamily="34" charset="0"/>
                <a:ea typeface="Anton" pitchFamily="34" charset="-122"/>
                <a:cs typeface="Anton" pitchFamily="34" charset="-120"/>
              </a:rPr>
              <a:t>→ 5 DAYS</a:t>
            </a:r>
            <a:endParaRPr lang="en-US" sz="2800" dirty="0"/>
          </a:p>
        </p:txBody>
      </p:sp>
      <p:sp>
        <p:nvSpPr>
          <p:cNvPr id="11" name="override-2"/>
          <p:cNvSpPr/>
          <p:nvPr/>
        </p:nvSpPr>
        <p:spPr>
          <a:xfrm>
            <a:off x="4800600" y="4813295"/>
            <a:ext cx="6903720" cy="610872"/>
          </a:xfrm>
          <a:prstGeom prst="roundRect">
            <a:avLst>
              <a:gd name="adj" fmla="val 11975"/>
            </a:avLst>
          </a:prstGeom>
          <a:solidFill>
            <a:srgbClr val="1D1D1D"/>
          </a:solidFill>
          <a:ln w="12700">
            <a:solidFill>
              <a:srgbClr val="333333"/>
            </a:solidFill>
            <a:prstDash val="solid"/>
          </a:ln>
        </p:spPr>
        <p:txBody>
          <a:bodyPr/>
          <a:lstStyle/>
          <a:p>
            <a:endParaRPr lang="en-IN"/>
          </a:p>
        </p:txBody>
      </p:sp>
      <p:sp>
        <p:nvSpPr>
          <p:cNvPr id="12" name="Text 9"/>
          <p:cNvSpPr txBox="1"/>
          <p:nvPr/>
        </p:nvSpPr>
        <p:spPr>
          <a:xfrm>
            <a:off x="5029200" y="4813295"/>
            <a:ext cx="4754880" cy="610872"/>
          </a:xfrm>
          <a:prstGeom prst="rect">
            <a:avLst/>
          </a:prstGeom>
          <a:noFill/>
          <a:ln/>
        </p:spPr>
        <p:txBody>
          <a:bodyPr wrap="square" lIns="0" tIns="0" rIns="0" bIns="0" rtlCol="0" anchor="ctr"/>
          <a:lstStyle/>
          <a:p>
            <a:pPr marL="0" indent="0">
              <a:buNone/>
            </a:pPr>
            <a:r>
              <a:rPr lang="en-US" sz="1500" b="1" dirty="0">
                <a:solidFill>
                  <a:schemeClr val="accent3"/>
                </a:solidFill>
              </a:rPr>
              <a:t>RedCellConcentrate</a:t>
            </a:r>
            <a:endParaRPr lang="en-US" sz="1500" dirty="0"/>
          </a:p>
          <a:p>
            <a:pPr marL="0" indent="0">
              <a:buNone/>
            </a:pPr>
            <a:r>
              <a:rPr lang="en-US" sz="1500" dirty="0">
                <a:solidFill>
                  <a:schemeClr val="bg1"/>
                </a:solidFill>
                <a:latin typeface="Consolas" pitchFamily="34" charset="0"/>
                <a:ea typeface="Consolas" pitchFamily="34" charset="-122"/>
                <a:cs typeface="Consolas" pitchFamily="34" charset="-120"/>
              </a:rPr>
              <a:t>@Override public int getShelfLifeDays()</a:t>
            </a:r>
            <a:endParaRPr lang="en-US" sz="1500" dirty="0"/>
          </a:p>
        </p:txBody>
      </p:sp>
      <p:sp>
        <p:nvSpPr>
          <p:cNvPr id="13" name="Text 10"/>
          <p:cNvSpPr txBox="1"/>
          <p:nvPr/>
        </p:nvSpPr>
        <p:spPr>
          <a:xfrm>
            <a:off x="9646920" y="4813295"/>
            <a:ext cx="1874520" cy="610872"/>
          </a:xfrm>
          <a:prstGeom prst="rect">
            <a:avLst/>
          </a:prstGeom>
          <a:noFill/>
          <a:ln/>
        </p:spPr>
        <p:txBody>
          <a:bodyPr wrap="square" lIns="0" tIns="0" rIns="0" bIns="0" rtlCol="0" anchor="ctr"/>
          <a:lstStyle/>
          <a:p>
            <a:pPr marL="0" indent="0" algn="r">
              <a:buNone/>
            </a:pPr>
            <a:r>
              <a:rPr lang="en-US" sz="2800" dirty="0">
                <a:solidFill>
                  <a:schemeClr val="accent1"/>
                </a:solidFill>
                <a:latin typeface="Anton" pitchFamily="34" charset="0"/>
                <a:ea typeface="Anton" pitchFamily="34" charset="-122"/>
                <a:cs typeface="Anton" pitchFamily="34" charset="-120"/>
              </a:rPr>
              <a:t>→ 42 DAYS</a:t>
            </a:r>
            <a:endParaRPr lang="en-US" sz="2800" dirty="0"/>
          </a:p>
        </p:txBody>
      </p:sp>
      <p:sp>
        <p:nvSpPr>
          <p:cNvPr id="14" name="override-3"/>
          <p:cNvSpPr/>
          <p:nvPr/>
        </p:nvSpPr>
        <p:spPr>
          <a:xfrm>
            <a:off x="4800600" y="5552184"/>
            <a:ext cx="6903720" cy="610872"/>
          </a:xfrm>
          <a:prstGeom prst="roundRect">
            <a:avLst>
              <a:gd name="adj" fmla="val 11975"/>
            </a:avLst>
          </a:prstGeom>
          <a:solidFill>
            <a:srgbClr val="1D1D1D"/>
          </a:solidFill>
          <a:ln w="12700">
            <a:solidFill>
              <a:srgbClr val="333333"/>
            </a:solidFill>
            <a:prstDash val="solid"/>
          </a:ln>
        </p:spPr>
        <p:txBody>
          <a:bodyPr/>
          <a:lstStyle/>
          <a:p>
            <a:endParaRPr lang="en-IN"/>
          </a:p>
        </p:txBody>
      </p:sp>
      <p:sp>
        <p:nvSpPr>
          <p:cNvPr id="15" name="Text 12"/>
          <p:cNvSpPr txBox="1"/>
          <p:nvPr/>
        </p:nvSpPr>
        <p:spPr>
          <a:xfrm>
            <a:off x="5029200" y="5552184"/>
            <a:ext cx="4754880" cy="610872"/>
          </a:xfrm>
          <a:prstGeom prst="rect">
            <a:avLst/>
          </a:prstGeom>
          <a:noFill/>
          <a:ln/>
        </p:spPr>
        <p:txBody>
          <a:bodyPr wrap="square" lIns="0" tIns="0" rIns="0" bIns="0" rtlCol="0" anchor="ctr"/>
          <a:lstStyle/>
          <a:p>
            <a:pPr marL="0" indent="0">
              <a:buNone/>
            </a:pPr>
            <a:r>
              <a:rPr lang="en-US" sz="1500" b="1" dirty="0">
                <a:solidFill>
                  <a:schemeClr val="accent3"/>
                </a:solidFill>
              </a:rPr>
              <a:t>FreshFrozenPlasma</a:t>
            </a:r>
            <a:endParaRPr lang="en-US" sz="1500" dirty="0"/>
          </a:p>
          <a:p>
            <a:pPr marL="0" indent="0">
              <a:buNone/>
            </a:pPr>
            <a:r>
              <a:rPr lang="en-US" sz="1500" dirty="0">
                <a:solidFill>
                  <a:schemeClr val="bg1"/>
                </a:solidFill>
                <a:latin typeface="Consolas" pitchFamily="34" charset="0"/>
                <a:ea typeface="Consolas" pitchFamily="34" charset="-122"/>
                <a:cs typeface="Consolas" pitchFamily="34" charset="-120"/>
              </a:rPr>
              <a:t>@Override public int getShelfLifeDays()</a:t>
            </a:r>
            <a:endParaRPr lang="en-US" sz="1500" dirty="0"/>
          </a:p>
        </p:txBody>
      </p:sp>
      <p:sp>
        <p:nvSpPr>
          <p:cNvPr id="16" name="Text 13"/>
          <p:cNvSpPr txBox="1"/>
          <p:nvPr/>
        </p:nvSpPr>
        <p:spPr>
          <a:xfrm>
            <a:off x="9646920" y="5552184"/>
            <a:ext cx="1874520" cy="610872"/>
          </a:xfrm>
          <a:prstGeom prst="rect">
            <a:avLst/>
          </a:prstGeom>
          <a:noFill/>
          <a:ln/>
        </p:spPr>
        <p:txBody>
          <a:bodyPr wrap="square" lIns="0" tIns="0" rIns="0" bIns="0" rtlCol="0" anchor="ctr"/>
          <a:lstStyle/>
          <a:p>
            <a:pPr marL="0" indent="0" algn="r">
              <a:buNone/>
            </a:pPr>
            <a:r>
              <a:rPr lang="en-US" sz="2800" dirty="0">
                <a:solidFill>
                  <a:schemeClr val="accent1"/>
                </a:solidFill>
                <a:latin typeface="Anton" pitchFamily="34" charset="0"/>
                <a:ea typeface="Anton" pitchFamily="34" charset="-122"/>
                <a:cs typeface="Anton" pitchFamily="34" charset="-120"/>
              </a:rPr>
              <a:t>→ 365 DAYS</a:t>
            </a:r>
            <a:endParaRPr lang="en-US" sz="28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 ENCAPSULATION</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STOCK CHANGES ONLY THROUGH ITS METHODS</a:t>
            </a:r>
            <a:endParaRPr lang="en-US" sz="4000" dirty="0"/>
          </a:p>
        </p:txBody>
      </p:sp>
      <p:sp>
        <p:nvSpPr>
          <p:cNvPr id="4" name="explain"/>
          <p:cNvSpPr/>
          <p:nvPr/>
        </p:nvSpPr>
        <p:spPr>
          <a:xfrm>
            <a:off x="502920" y="1627632"/>
            <a:ext cx="4069080" cy="4663440"/>
          </a:xfrm>
          <a:prstGeom prst="roundRect">
            <a:avLst>
              <a:gd name="adj" fmla="val 1798"/>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49808" y="1828800"/>
            <a:ext cx="3611880" cy="42976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WHAT</a:t>
            </a:r>
            <a:endParaRPr lang="en-US" sz="1500" dirty="0"/>
          </a:p>
          <a:p>
            <a:pPr marL="0" indent="0">
              <a:spcAft>
                <a:spcPts val="500"/>
              </a:spcAft>
              <a:buNone/>
            </a:pPr>
            <a:r>
              <a:rPr lang="en-US" sz="1600" dirty="0">
                <a:solidFill>
                  <a:schemeClr val="bg1"/>
                </a:solidFill>
              </a:rPr>
              <a:t>Keep data private; let the object guard its own rules.</a:t>
            </a:r>
            <a:endParaRPr lang="en-US" sz="1500" dirty="0"/>
          </a:p>
          <a:p>
            <a:pPr marL="0" indent="0">
              <a:spcBef>
                <a:spcPts val="1200"/>
              </a:spcBef>
              <a:spcAft>
                <a:spcPts val="200"/>
              </a:spcAft>
              <a:buNone/>
            </a:pPr>
            <a:r>
              <a:rPr lang="en-US" sz="1500" b="1" kern="0" spc="100" dirty="0">
                <a:solidFill>
                  <a:schemeClr val="accent3"/>
                </a:solidFill>
              </a:rPr>
              <a:t>IN RAKTSETU</a:t>
            </a:r>
            <a:endParaRPr lang="en-US" sz="1500" dirty="0"/>
          </a:p>
          <a:p>
            <a:pPr marL="203200" indent="-203200">
              <a:spcAft>
                <a:spcPts val="500"/>
              </a:spcAft>
              <a:buSzPct val="100000"/>
              <a:buChar char="•"/>
            </a:pPr>
            <a:r>
              <a:rPr lang="en-US" sz="1600" dirty="0">
                <a:solidFill>
                  <a:schemeClr val="bg1"/>
                </a:solidFill>
              </a:rPr>
              <a:t>Stock lives in private fields</a:t>
            </a:r>
            <a:endParaRPr lang="en-US" sz="1500" dirty="0"/>
          </a:p>
          <a:p>
            <a:pPr marL="203200" indent="-203200">
              <a:spcAft>
                <a:spcPts val="500"/>
              </a:spcAft>
              <a:buSzPct val="100000"/>
              <a:buChar char="•"/>
            </a:pPr>
            <a:r>
              <a:rPr lang="en-US" sz="1600" dirty="0">
                <a:solidFill>
                  <a:schemeClr val="bg1"/>
                </a:solidFill>
              </a:rPr>
              <a:t>The constructor is not public: only a Facility can create an Inventory</a:t>
            </a:r>
            <a:endParaRPr lang="en-US" sz="1500" dirty="0"/>
          </a:p>
          <a:p>
            <a:pPr marL="203200" indent="-203200">
              <a:spcAft>
                <a:spcPts val="500"/>
              </a:spcAft>
              <a:buSzPct val="100000"/>
              <a:buChar char="•"/>
            </a:pPr>
            <a:r>
              <a:rPr lang="en-US" sz="1600" dirty="0">
                <a:solidFill>
                  <a:schemeClr val="bg1"/>
                </a:solidFill>
              </a:rPr>
              <a:t>add() is the only way in: it refuses duplicates</a:t>
            </a:r>
            <a:endParaRPr lang="en-US" sz="1500" dirty="0"/>
          </a:p>
          <a:p>
            <a:pPr marL="0" indent="0">
              <a:spcBef>
                <a:spcPts val="1200"/>
              </a:spcBef>
              <a:spcAft>
                <a:spcPts val="200"/>
              </a:spcAft>
              <a:buNone/>
            </a:pPr>
            <a:r>
              <a:rPr lang="en-US" sz="1500" b="1" kern="0" spc="100" dirty="0">
                <a:solidFill>
                  <a:schemeClr val="accent3"/>
                </a:solidFill>
              </a:rPr>
              <a:t>WHY</a:t>
            </a:r>
            <a:endParaRPr lang="en-US" sz="1500" dirty="0"/>
          </a:p>
          <a:p>
            <a:pPr marL="0" indent="0">
              <a:spcAft>
                <a:spcPts val="500"/>
              </a:spcAft>
              <a:buNone/>
            </a:pPr>
            <a:r>
              <a:rPr lang="en-US" sz="1600" dirty="0">
                <a:solidFill>
                  <a:schemeClr val="bg1"/>
                </a:solidFill>
              </a:rPr>
              <a:t>Stock can never be double-counted or left out of expiry order.</a:t>
            </a:r>
            <a:endParaRPr lang="en-US" sz="1500" dirty="0"/>
          </a:p>
        </p:txBody>
      </p:sp>
      <p:sp>
        <p:nvSpPr>
          <p:cNvPr id="6" name="Text 4"/>
          <p:cNvSpPr txBox="1"/>
          <p:nvPr/>
        </p:nvSpPr>
        <p:spPr>
          <a:xfrm>
            <a:off x="4800600" y="1261872"/>
            <a:ext cx="6903720" cy="274320"/>
          </a:xfrm>
          <a:prstGeom prst="rect">
            <a:avLst/>
          </a:prstGeom>
          <a:noFill/>
          <a:ln/>
        </p:spPr>
        <p:txBody>
          <a:bodyPr wrap="square" lIns="0" tIns="0" rIns="0" bIns="0" rtlCol="0" anchor="ctr"/>
          <a:lstStyle/>
          <a:p>
            <a:pPr marL="0" indent="0" algn="r">
              <a:buNone/>
            </a:pPr>
            <a:r>
              <a:rPr lang="en-US" sz="1200" i="1" dirty="0">
                <a:solidFill>
                  <a:schemeClr val="accent5"/>
                </a:solidFill>
              </a:rPr>
              <a:t>Screenshot from the live app  ·  where users see this concept at work</a:t>
            </a:r>
            <a:endParaRPr lang="en-US" sz="1200" dirty="0"/>
          </a:p>
        </p:txBody>
      </p:sp>
      <p:pic>
        <p:nvPicPr>
          <p:cNvPr id="7" name="network" descr="The Network page with Pune HUB01's stock"/>
          <p:cNvPicPr>
            <a:picLocks noChangeAspect="1"/>
          </p:cNvPicPr>
          <p:nvPr/>
        </p:nvPicPr>
        <p:blipFill>
          <a:blip r:embed="rId3"/>
          <a:stretch>
            <a:fillRect/>
          </a:stretch>
        </p:blipFill>
        <p:spPr>
          <a:xfrm>
            <a:off x="5806230" y="1627632"/>
            <a:ext cx="4892459" cy="3703320"/>
          </a:xfrm>
          <a:prstGeom prst="rect">
            <a:avLst/>
          </a:prstGeom>
          <a:effectLst>
            <a:outerShdw blurRad="177800" dist="50800" dir="5400000" algn="bl" rotWithShape="0">
              <a:srgbClr val="000000">
                <a:alpha val="60000"/>
              </a:srgbClr>
            </a:outerShdw>
          </a:effectLst>
        </p:spPr>
      </p:pic>
      <p:sp>
        <p:nvSpPr>
          <p:cNvPr id="8" name="caption-bar"/>
          <p:cNvSpPr/>
          <p:nvPr/>
        </p:nvSpPr>
        <p:spPr>
          <a:xfrm>
            <a:off x="4800600" y="5513832"/>
            <a:ext cx="73152" cy="777240"/>
          </a:xfrm>
          <a:prstGeom prst="rect">
            <a:avLst/>
          </a:prstGeom>
          <a:solidFill>
            <a:srgbClr val="EF3E2B"/>
          </a:solidFill>
          <a:ln w="12700">
            <a:solidFill>
              <a:srgbClr val="EF3E2B"/>
            </a:solidFill>
            <a:prstDash val="solid"/>
          </a:ln>
        </p:spPr>
        <p:txBody>
          <a:bodyPr/>
          <a:lstStyle/>
          <a:p>
            <a:endParaRPr lang="en-IN"/>
          </a:p>
        </p:txBody>
      </p:sp>
      <p:sp>
        <p:nvSpPr>
          <p:cNvPr id="9" name="Text 6"/>
          <p:cNvSpPr txBox="1"/>
          <p:nvPr/>
        </p:nvSpPr>
        <p:spPr>
          <a:xfrm>
            <a:off x="5029200" y="5513832"/>
            <a:ext cx="6675120" cy="777240"/>
          </a:xfrm>
          <a:prstGeom prst="rect">
            <a:avLst/>
          </a:prstGeom>
          <a:noFill/>
          <a:ln/>
        </p:spPr>
        <p:txBody>
          <a:bodyPr wrap="square" lIns="0" tIns="0" rIns="0" bIns="0" rtlCol="0" anchor="ctr"/>
          <a:lstStyle/>
          <a:p>
            <a:pPr marL="0" indent="0">
              <a:buNone/>
            </a:pPr>
            <a:r>
              <a:rPr lang="en-US" sz="1500" b="1" kern="0" spc="100" dirty="0">
                <a:solidFill>
                  <a:schemeClr val="accent3"/>
                </a:solidFill>
              </a:rPr>
              <a:t>IN THE APP  </a:t>
            </a:r>
            <a:r>
              <a:rPr lang="en-US" sz="1500" dirty="0">
                <a:solidFill>
                  <a:schemeClr val="bg1"/>
                </a:solidFill>
              </a:rPr>
              <a:t>Each centre's own Inventory, read only through its methods: counted per component and group, soonest expiry shown.</a:t>
            </a: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 INHERITANCE</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SHARED STATE WRITTEN ONCE</a:t>
            </a:r>
            <a:endParaRPr lang="en-US" sz="4000" dirty="0"/>
          </a:p>
        </p:txBody>
      </p:sp>
      <p:sp>
        <p:nvSpPr>
          <p:cNvPr id="4" name="explain"/>
          <p:cNvSpPr/>
          <p:nvPr/>
        </p:nvSpPr>
        <p:spPr>
          <a:xfrm>
            <a:off x="502920" y="1627632"/>
            <a:ext cx="4069080" cy="4663440"/>
          </a:xfrm>
          <a:prstGeom prst="roundRect">
            <a:avLst>
              <a:gd name="adj" fmla="val 1798"/>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49808" y="1828800"/>
            <a:ext cx="3611880" cy="42976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WHAT</a:t>
            </a:r>
            <a:endParaRPr lang="en-US" sz="1500" dirty="0"/>
          </a:p>
          <a:p>
            <a:pPr marL="0" indent="0">
              <a:spcAft>
                <a:spcPts val="500"/>
              </a:spcAft>
              <a:buNone/>
            </a:pPr>
            <a:r>
              <a:rPr lang="en-US" sz="1600" dirty="0">
                <a:solidFill>
                  <a:schemeClr val="bg1"/>
                </a:solidFill>
              </a:rPr>
              <a:t>A subclass reuses and extends its parent: an “is-a” relationship.</a:t>
            </a:r>
            <a:endParaRPr lang="en-US" sz="1500" dirty="0"/>
          </a:p>
          <a:p>
            <a:pPr marL="0" indent="0">
              <a:spcBef>
                <a:spcPts val="1200"/>
              </a:spcBef>
              <a:spcAft>
                <a:spcPts val="200"/>
              </a:spcAft>
              <a:buNone/>
            </a:pPr>
            <a:r>
              <a:rPr lang="en-US" sz="1500" b="1" kern="0" spc="100" dirty="0">
                <a:solidFill>
                  <a:schemeClr val="accent3"/>
                </a:solidFill>
              </a:rPr>
              <a:t>IN RAKTSETU</a:t>
            </a:r>
            <a:endParaRPr lang="en-US" sz="1500" dirty="0"/>
          </a:p>
          <a:p>
            <a:pPr marL="203200" indent="-203200">
              <a:spcAft>
                <a:spcPts val="500"/>
              </a:spcAft>
              <a:buSzPct val="100000"/>
              <a:buChar char="•"/>
            </a:pPr>
            <a:r>
              <a:rPr lang="en-US" sz="1600" dirty="0">
                <a:solidFill>
                  <a:schemeClr val="bg1"/>
                </a:solidFill>
              </a:rPr>
              <a:t>Platelets extends BloodComponent; super(...) reuses the parent's constructor (lines 14, 18)</a:t>
            </a:r>
            <a:endParaRPr lang="en-US" sz="1500" dirty="0"/>
          </a:p>
          <a:p>
            <a:pPr marL="203200" indent="-203200">
              <a:spcAft>
                <a:spcPts val="500"/>
              </a:spcAft>
              <a:buSzPct val="100000"/>
              <a:buChar char="•"/>
            </a:pPr>
            <a:r>
              <a:rPr lang="en-US" sz="1600" dirty="0">
                <a:solidFill>
                  <a:schemeClr val="bg1"/>
                </a:solidFill>
              </a:rPr>
              <a:t>Two constructors = overloading (compile-time polymorphism)</a:t>
            </a:r>
            <a:endParaRPr lang="en-US" sz="1500" dirty="0"/>
          </a:p>
          <a:p>
            <a:pPr marL="203200" indent="-203200">
              <a:spcAft>
                <a:spcPts val="500"/>
              </a:spcAft>
              <a:buSzPct val="100000"/>
              <a:buChar char="•"/>
            </a:pPr>
            <a:r>
              <a:rPr lang="en-US" sz="1600" dirty="0">
                <a:solidFill>
                  <a:schemeClr val="bg1"/>
                </a:solidFill>
              </a:rPr>
              <a:t>Hospital overrides canStore() to say no</a:t>
            </a:r>
            <a:endParaRPr lang="en-US" sz="1500" dirty="0"/>
          </a:p>
          <a:p>
            <a:pPr marL="0" indent="0">
              <a:spcBef>
                <a:spcPts val="1200"/>
              </a:spcBef>
              <a:spcAft>
                <a:spcPts val="200"/>
              </a:spcAft>
              <a:buNone/>
            </a:pPr>
            <a:r>
              <a:rPr lang="en-US" sz="1500" b="1" kern="0" spc="100" dirty="0">
                <a:solidFill>
                  <a:schemeClr val="accent3"/>
                </a:solidFill>
              </a:rPr>
              <a:t>WHY</a:t>
            </a:r>
            <a:endParaRPr lang="en-US" sz="1500" dirty="0"/>
          </a:p>
          <a:p>
            <a:pPr marL="0" indent="0">
              <a:spcAft>
                <a:spcPts val="500"/>
              </a:spcAft>
              <a:buNone/>
            </a:pPr>
            <a:r>
              <a:rPr lang="en-US" sz="1600" dirty="0">
                <a:solidFill>
                  <a:schemeClr val="bg1"/>
                </a:solidFill>
              </a:rPr>
              <a:t>Validation of IDs and dates is written once, in the parent.</a:t>
            </a:r>
            <a:endParaRPr lang="en-US" sz="1500" dirty="0"/>
          </a:p>
        </p:txBody>
      </p:sp>
      <p:sp>
        <p:nvSpPr>
          <p:cNvPr id="6" name="Text 4"/>
          <p:cNvSpPr txBox="1"/>
          <p:nvPr/>
        </p:nvSpPr>
        <p:spPr>
          <a:xfrm>
            <a:off x="4800600" y="1261872"/>
            <a:ext cx="6903720" cy="274320"/>
          </a:xfrm>
          <a:prstGeom prst="rect">
            <a:avLst/>
          </a:prstGeom>
          <a:noFill/>
          <a:ln/>
        </p:spPr>
        <p:txBody>
          <a:bodyPr wrap="square" lIns="0" tIns="0" rIns="0" bIns="0" rtlCol="0" anchor="ctr"/>
          <a:lstStyle/>
          <a:p>
            <a:pPr marL="0" indent="0" algn="r">
              <a:buNone/>
            </a:pPr>
            <a:r>
              <a:rPr lang="en-US" sz="1200" i="1" dirty="0">
                <a:solidFill>
                  <a:schemeClr val="accent5"/>
                </a:solidFill>
              </a:rPr>
              <a:t>Real code from the repository  ·  highlighted lines and ← tags show where the concept is</a:t>
            </a:r>
            <a:endParaRPr lang="en-US" sz="1200" dirty="0"/>
          </a:p>
        </p:txBody>
      </p:sp>
      <p:pic>
        <p:nvPicPr>
          <p:cNvPr id="7" name="inheritance" descr="Java code from RaktSetu: inheritance"/>
          <p:cNvPicPr>
            <a:picLocks noChangeAspect="1"/>
          </p:cNvPicPr>
          <p:nvPr/>
        </p:nvPicPr>
        <p:blipFill>
          <a:blip r:embed="rId3"/>
          <a:stretch>
            <a:fillRect/>
          </a:stretch>
        </p:blipFill>
        <p:spPr>
          <a:xfrm>
            <a:off x="4800600" y="1627632"/>
            <a:ext cx="6903720" cy="1956323"/>
          </a:xfrm>
          <a:prstGeom prst="rect">
            <a:avLst/>
          </a:prstGeom>
          <a:effectLst>
            <a:outerShdw blurRad="177800" dist="50800" dir="5400000" algn="bl" rotWithShape="0">
              <a:srgbClr val="000000">
                <a:alpha val="60000"/>
              </a:srgbClr>
            </a:outerShdw>
          </a:effectLst>
        </p:spPr>
      </p:pic>
      <p:pic>
        <p:nvPicPr>
          <p:cNvPr id="8" name="facilities-map" descr="Facilities map"/>
          <p:cNvPicPr>
            <a:picLocks noChangeAspect="1"/>
          </p:cNvPicPr>
          <p:nvPr/>
        </p:nvPicPr>
        <p:blipFill>
          <a:blip r:embed="rId4"/>
          <a:stretch>
            <a:fillRect/>
          </a:stretch>
        </p:blipFill>
        <p:spPr>
          <a:xfrm>
            <a:off x="4800600" y="3858275"/>
            <a:ext cx="4572000" cy="2027903"/>
          </a:xfrm>
          <a:prstGeom prst="rect">
            <a:avLst/>
          </a:prstGeom>
          <a:effectLst>
            <a:outerShdw blurRad="177800" dist="50800" dir="5400000" algn="bl" rotWithShape="0">
              <a:srgbClr val="000000">
                <a:alpha val="60000"/>
              </a:srgbClr>
            </a:outerShdw>
          </a:effectLst>
        </p:spPr>
      </p:pic>
      <p:sp>
        <p:nvSpPr>
          <p:cNvPr id="9" name="caption-bar"/>
          <p:cNvSpPr/>
          <p:nvPr/>
        </p:nvSpPr>
        <p:spPr>
          <a:xfrm>
            <a:off x="9601200" y="3858275"/>
            <a:ext cx="73152" cy="2027903"/>
          </a:xfrm>
          <a:prstGeom prst="rect">
            <a:avLst/>
          </a:prstGeom>
          <a:solidFill>
            <a:srgbClr val="EF3E2B"/>
          </a:solidFill>
          <a:ln w="12700">
            <a:solidFill>
              <a:srgbClr val="EF3E2B"/>
            </a:solidFill>
            <a:prstDash val="solid"/>
          </a:ln>
        </p:spPr>
        <p:txBody>
          <a:bodyPr/>
          <a:lstStyle/>
          <a:p>
            <a:endParaRPr lang="en-IN"/>
          </a:p>
        </p:txBody>
      </p:sp>
      <p:sp>
        <p:nvSpPr>
          <p:cNvPr id="10" name="Text 6"/>
          <p:cNvSpPr txBox="1"/>
          <p:nvPr/>
        </p:nvSpPr>
        <p:spPr>
          <a:xfrm>
            <a:off x="9784080" y="3858275"/>
            <a:ext cx="1920240" cy="2027903"/>
          </a:xfrm>
          <a:prstGeom prst="rect">
            <a:avLst/>
          </a:prstGeom>
          <a:noFill/>
          <a:ln/>
        </p:spPr>
        <p:txBody>
          <a:bodyPr wrap="square" lIns="0" tIns="0" rIns="0" bIns="0" rtlCol="0" anchor="ctr"/>
          <a:lstStyle/>
          <a:p>
            <a:pPr marL="0" indent="0">
              <a:buNone/>
            </a:pPr>
            <a:r>
              <a:rPr lang="en-US" sz="1500" b="1" kern="0" spc="100" dirty="0">
                <a:solidFill>
                  <a:schemeClr val="accent3"/>
                </a:solidFill>
              </a:rPr>
              <a:t>IN THE APP</a:t>
            </a:r>
            <a:endParaRPr lang="en-US" sz="1500" dirty="0"/>
          </a:p>
          <a:p>
            <a:pPr marL="0" indent="0">
              <a:buNone/>
            </a:pPr>
            <a:r>
              <a:rPr lang="en-US" sz="1500" dirty="0">
                <a:solidFill>
                  <a:schemeClr val="bg1"/>
                </a:solidFill>
              </a:rPr>
              <a:t>Hub, storage centres and hospitals on the map: all subclasses of Facility.</a:t>
            </a: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 INTERFACES</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PROGRAM TO A CONTRACT</a:t>
            </a:r>
            <a:endParaRPr lang="en-US" sz="4000" dirty="0"/>
          </a:p>
        </p:txBody>
      </p:sp>
      <p:sp>
        <p:nvSpPr>
          <p:cNvPr id="4" name="explain"/>
          <p:cNvSpPr/>
          <p:nvPr/>
        </p:nvSpPr>
        <p:spPr>
          <a:xfrm>
            <a:off x="502920" y="1627632"/>
            <a:ext cx="4069080" cy="4663440"/>
          </a:xfrm>
          <a:prstGeom prst="roundRect">
            <a:avLst>
              <a:gd name="adj" fmla="val 1798"/>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49808" y="1828800"/>
            <a:ext cx="3611880" cy="42976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WHAT</a:t>
            </a:r>
            <a:endParaRPr lang="en-US" sz="1500" dirty="0"/>
          </a:p>
          <a:p>
            <a:pPr marL="0" indent="0">
              <a:spcAft>
                <a:spcPts val="500"/>
              </a:spcAft>
              <a:buNone/>
            </a:pPr>
            <a:r>
              <a:rPr lang="en-US" sz="1600" dirty="0">
                <a:solidFill>
                  <a:schemeClr val="bg1"/>
                </a:solidFill>
              </a:rPr>
              <a:t>A contract of methods a class promises to provide; a class can implement several.</a:t>
            </a:r>
            <a:endParaRPr lang="en-US" sz="1500" dirty="0"/>
          </a:p>
          <a:p>
            <a:pPr marL="0" indent="0">
              <a:spcBef>
                <a:spcPts val="1200"/>
              </a:spcBef>
              <a:spcAft>
                <a:spcPts val="200"/>
              </a:spcAft>
              <a:buNone/>
            </a:pPr>
            <a:r>
              <a:rPr lang="en-US" sz="1500" b="1" kern="0" spc="100" dirty="0">
                <a:solidFill>
                  <a:schemeClr val="accent3"/>
                </a:solidFill>
              </a:rPr>
              <a:t>IN RAKTSETU</a:t>
            </a:r>
            <a:endParaRPr lang="en-US" sz="1500" dirty="0"/>
          </a:p>
          <a:p>
            <a:pPr marL="203200" indent="-203200">
              <a:spcAft>
                <a:spcPts val="500"/>
              </a:spcAft>
              <a:buSzPct val="100000"/>
              <a:buChar char="•"/>
            </a:pPr>
            <a:r>
              <a:rPr lang="en-US" sz="1600" dirty="0">
                <a:solidFill>
                  <a:schemeClr val="bg1"/>
                </a:solidFill>
              </a:rPr>
              <a:t>The engine only knows AuditTrail</a:t>
            </a:r>
            <a:endParaRPr lang="en-US" sz="1500" dirty="0"/>
          </a:p>
          <a:p>
            <a:pPr marL="203200" indent="-203200">
              <a:spcAft>
                <a:spcPts val="500"/>
              </a:spcAft>
              <a:buSzPct val="100000"/>
              <a:buChar char="•"/>
            </a:pPr>
            <a:r>
              <a:rPr lang="en-US" sz="1600" dirty="0">
                <a:solidFill>
                  <a:schemeClr val="bg1"/>
                </a:solidFill>
              </a:rPr>
              <a:t>AuditLogger implements it; tests and the database implement it too</a:t>
            </a:r>
            <a:endParaRPr lang="en-US" sz="1500" dirty="0"/>
          </a:p>
          <a:p>
            <a:pPr marL="203200" indent="-203200">
              <a:spcAft>
                <a:spcPts val="500"/>
              </a:spcAft>
              <a:buSzPct val="100000"/>
              <a:buChar char="•"/>
            </a:pPr>
            <a:r>
              <a:rPr lang="en-US" sz="1600" dirty="0">
                <a:solidFill>
                  <a:schemeClr val="bg1"/>
                </a:solidFill>
              </a:rPr>
              <a:t>Transfusable has a default method</a:t>
            </a:r>
            <a:endParaRPr lang="en-US" sz="1500" dirty="0"/>
          </a:p>
          <a:p>
            <a:pPr marL="0" indent="0">
              <a:spcBef>
                <a:spcPts val="1200"/>
              </a:spcBef>
              <a:spcAft>
                <a:spcPts val="200"/>
              </a:spcAft>
              <a:buNone/>
            </a:pPr>
            <a:r>
              <a:rPr lang="en-US" sz="1500" b="1" kern="0" spc="100" dirty="0">
                <a:solidFill>
                  <a:schemeClr val="accent3"/>
                </a:solidFill>
              </a:rPr>
              <a:t>WHY</a:t>
            </a:r>
            <a:endParaRPr lang="en-US" sz="1500" dirty="0"/>
          </a:p>
          <a:p>
            <a:pPr marL="0" indent="0">
              <a:spcAft>
                <a:spcPts val="500"/>
              </a:spcAft>
              <a:buNone/>
            </a:pPr>
            <a:r>
              <a:rPr lang="en-US" sz="1600" dirty="0">
                <a:solidFill>
                  <a:schemeClr val="bg1"/>
                </a:solidFill>
              </a:rPr>
              <a:t>Swap where events are stored without touching the engine.</a:t>
            </a:r>
            <a:endParaRPr lang="en-US" sz="1500" dirty="0"/>
          </a:p>
        </p:txBody>
      </p:sp>
      <p:sp>
        <p:nvSpPr>
          <p:cNvPr id="6" name="Text 4"/>
          <p:cNvSpPr txBox="1"/>
          <p:nvPr/>
        </p:nvSpPr>
        <p:spPr>
          <a:xfrm>
            <a:off x="4800600" y="1261872"/>
            <a:ext cx="6903720" cy="274320"/>
          </a:xfrm>
          <a:prstGeom prst="rect">
            <a:avLst/>
          </a:prstGeom>
          <a:noFill/>
          <a:ln/>
        </p:spPr>
        <p:txBody>
          <a:bodyPr wrap="square" lIns="0" tIns="0" rIns="0" bIns="0" rtlCol="0" anchor="ctr"/>
          <a:lstStyle/>
          <a:p>
            <a:pPr marL="0" indent="0" algn="r">
              <a:buNone/>
            </a:pPr>
            <a:r>
              <a:rPr lang="en-US" sz="1200" i="1" dirty="0">
                <a:solidFill>
                  <a:schemeClr val="accent5"/>
                </a:solidFill>
              </a:rPr>
              <a:t>Screenshot from the live app  ·  where users see this concept at work</a:t>
            </a:r>
            <a:endParaRPr lang="en-US" sz="1200" dirty="0"/>
          </a:p>
        </p:txBody>
      </p:sp>
      <p:pic>
        <p:nvPicPr>
          <p:cNvPr id="7" name="audit" descr="The audit log page"/>
          <p:cNvPicPr>
            <a:picLocks noChangeAspect="1"/>
          </p:cNvPicPr>
          <p:nvPr/>
        </p:nvPicPr>
        <p:blipFill>
          <a:blip r:embed="rId3"/>
          <a:stretch>
            <a:fillRect/>
          </a:stretch>
        </p:blipFill>
        <p:spPr>
          <a:xfrm>
            <a:off x="5289804" y="1627632"/>
            <a:ext cx="5925312" cy="3703320"/>
          </a:xfrm>
          <a:prstGeom prst="rect">
            <a:avLst/>
          </a:prstGeom>
          <a:effectLst>
            <a:outerShdw blurRad="177800" dist="50800" dir="5400000" algn="bl" rotWithShape="0">
              <a:srgbClr val="000000">
                <a:alpha val="60000"/>
              </a:srgbClr>
            </a:outerShdw>
          </a:effectLst>
        </p:spPr>
      </p:pic>
      <p:sp>
        <p:nvSpPr>
          <p:cNvPr id="8" name="caption-bar"/>
          <p:cNvSpPr/>
          <p:nvPr/>
        </p:nvSpPr>
        <p:spPr>
          <a:xfrm>
            <a:off x="4800600" y="5513832"/>
            <a:ext cx="73152" cy="777240"/>
          </a:xfrm>
          <a:prstGeom prst="rect">
            <a:avLst/>
          </a:prstGeom>
          <a:solidFill>
            <a:srgbClr val="EF3E2B"/>
          </a:solidFill>
          <a:ln w="12700">
            <a:solidFill>
              <a:srgbClr val="EF3E2B"/>
            </a:solidFill>
            <a:prstDash val="solid"/>
          </a:ln>
        </p:spPr>
        <p:txBody>
          <a:bodyPr/>
          <a:lstStyle/>
          <a:p>
            <a:endParaRPr lang="en-IN"/>
          </a:p>
        </p:txBody>
      </p:sp>
      <p:sp>
        <p:nvSpPr>
          <p:cNvPr id="9" name="Text 6"/>
          <p:cNvSpPr txBox="1"/>
          <p:nvPr/>
        </p:nvSpPr>
        <p:spPr>
          <a:xfrm>
            <a:off x="5029200" y="5513832"/>
            <a:ext cx="6675120" cy="777240"/>
          </a:xfrm>
          <a:prstGeom prst="rect">
            <a:avLst/>
          </a:prstGeom>
          <a:noFill/>
          <a:ln/>
        </p:spPr>
        <p:txBody>
          <a:bodyPr wrap="square" lIns="0" tIns="0" rIns="0" bIns="0" rtlCol="0" anchor="ctr"/>
          <a:lstStyle/>
          <a:p>
            <a:pPr marL="0" indent="0">
              <a:buNone/>
            </a:pPr>
            <a:r>
              <a:rPr lang="en-US" sz="1500" b="1" kern="0" spc="100" dirty="0">
                <a:solidFill>
                  <a:schemeClr val="accent3"/>
                </a:solidFill>
              </a:rPr>
              <a:t>IN THE APP  </a:t>
            </a:r>
            <a:r>
              <a:rPr lang="en-US" sz="1500" dirty="0">
                <a:solidFill>
                  <a:schemeClr val="bg1"/>
                </a:solidFill>
              </a:rPr>
              <a:t>Every collection, issue and transfer reaches this log through the AuditTrail interface; the chain-intact check proves nothing was edited.</a:t>
            </a: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 ABSTRACT CLASS + DESIGN PATTERNS</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THE ALGORITHM IS FIXED, THE DECISIONS ARE NOT</a:t>
            </a:r>
            <a:endParaRPr lang="en-US" sz="4000" dirty="0"/>
          </a:p>
        </p:txBody>
      </p:sp>
      <p:sp>
        <p:nvSpPr>
          <p:cNvPr id="4" name="explain"/>
          <p:cNvSpPr/>
          <p:nvPr/>
        </p:nvSpPr>
        <p:spPr>
          <a:xfrm>
            <a:off x="502920" y="1627632"/>
            <a:ext cx="4069080" cy="4663440"/>
          </a:xfrm>
          <a:prstGeom prst="roundRect">
            <a:avLst>
              <a:gd name="adj" fmla="val 1798"/>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49808" y="1828800"/>
            <a:ext cx="3611880" cy="42976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ABSTRACT CLASS + TEMPLATE METHOD</a:t>
            </a:r>
            <a:endParaRPr lang="en-US" sz="1500" dirty="0"/>
          </a:p>
          <a:p>
            <a:pPr marL="203200" indent="-203200">
              <a:spcAft>
                <a:spcPts val="500"/>
              </a:spcAft>
              <a:buSzPct val="100000"/>
              <a:buChar char="•"/>
            </a:pPr>
            <a:r>
              <a:rPr lang="en-US" sz="1600" dirty="0">
                <a:solidFill>
                  <a:schemeClr val="bg1"/>
                </a:solidFill>
              </a:rPr>
              <a:t>plan() is final: same steps and safety checks for everyone</a:t>
            </a:r>
            <a:endParaRPr lang="en-US" sz="1500" dirty="0"/>
          </a:p>
          <a:p>
            <a:pPr marL="203200" indent="-203200">
              <a:spcAft>
                <a:spcPts val="500"/>
              </a:spcAft>
              <a:buSzPct val="100000"/>
              <a:buChar char="•"/>
            </a:pPr>
            <a:r>
              <a:rPr lang="en-US" sz="1600" dirty="0">
                <a:solidFill>
                  <a:schemeClr val="bg1"/>
                </a:solidFill>
              </a:rPr>
              <a:t>Subclasses fill in only order() and choose()</a:t>
            </a:r>
            <a:endParaRPr lang="en-US" sz="1500" dirty="0"/>
          </a:p>
          <a:p>
            <a:pPr marL="0" indent="0">
              <a:spcBef>
                <a:spcPts val="1200"/>
              </a:spcBef>
              <a:spcAft>
                <a:spcPts val="200"/>
              </a:spcAft>
              <a:buNone/>
            </a:pPr>
            <a:r>
              <a:rPr lang="en-US" sz="1500" b="1" kern="0" spc="100" dirty="0">
                <a:solidFill>
                  <a:schemeClr val="accent3"/>
                </a:solidFill>
              </a:rPr>
              <a:t>STRATEGY</a:t>
            </a:r>
            <a:endParaRPr lang="en-US" sz="1500" dirty="0"/>
          </a:p>
          <a:p>
            <a:pPr marL="0" indent="0">
              <a:spcAft>
                <a:spcPts val="500"/>
              </a:spcAft>
              <a:buNone/>
            </a:pPr>
            <a:r>
              <a:rPr lang="en-US" sz="1600" dirty="0">
                <a:solidFill>
                  <a:schemeClr val="bg1"/>
                </a:solidFill>
              </a:rPr>
              <a:t>Expiry-first and nearest-first plug in here; the admin picks one on the Transfers page.</a:t>
            </a:r>
            <a:endParaRPr lang="en-US" sz="1500" dirty="0"/>
          </a:p>
          <a:p>
            <a:pPr marL="0" indent="0">
              <a:spcBef>
                <a:spcPts val="1200"/>
              </a:spcBef>
              <a:spcAft>
                <a:spcPts val="200"/>
              </a:spcAft>
              <a:buNone/>
            </a:pPr>
            <a:r>
              <a:rPr lang="en-US" sz="1500" b="1" kern="0" spc="100" dirty="0">
                <a:solidFill>
                  <a:schemeClr val="accent3"/>
                </a:solidFill>
              </a:rPr>
              <a:t>FACTORY</a:t>
            </a:r>
            <a:endParaRPr lang="en-US" sz="1500" dirty="0"/>
          </a:p>
          <a:p>
            <a:pPr marL="0" indent="0">
              <a:spcAft>
                <a:spcPts val="500"/>
              </a:spcAft>
              <a:buNone/>
            </a:pPr>
            <a:r>
              <a:rPr lang="en-US" sz="1600" dirty="0">
                <a:solidFill>
                  <a:schemeClr val="bg1"/>
                </a:solidFill>
              </a:rPr>
              <a:t>ComponentType.newUnit() creates the right kind of blood without naming subclasses.</a:t>
            </a:r>
            <a:endParaRPr lang="en-US" sz="1500" dirty="0"/>
          </a:p>
        </p:txBody>
      </p:sp>
      <p:sp>
        <p:nvSpPr>
          <p:cNvPr id="6" name="Text 4"/>
          <p:cNvSpPr txBox="1"/>
          <p:nvPr/>
        </p:nvSpPr>
        <p:spPr>
          <a:xfrm>
            <a:off x="4800600" y="1261872"/>
            <a:ext cx="6903720" cy="274320"/>
          </a:xfrm>
          <a:prstGeom prst="rect">
            <a:avLst/>
          </a:prstGeom>
          <a:noFill/>
          <a:ln/>
        </p:spPr>
        <p:txBody>
          <a:bodyPr wrap="square" lIns="0" tIns="0" rIns="0" bIns="0" rtlCol="0" anchor="ctr"/>
          <a:lstStyle/>
          <a:p>
            <a:pPr marL="0" indent="0" algn="r">
              <a:buNone/>
            </a:pPr>
            <a:r>
              <a:rPr lang="en-US" sz="1200" i="1" dirty="0">
                <a:solidFill>
                  <a:schemeClr val="accent5"/>
                </a:solidFill>
              </a:rPr>
              <a:t>Screenshot from the live app  ·  where users see this concept at work</a:t>
            </a:r>
            <a:endParaRPr lang="en-US" sz="1200" dirty="0"/>
          </a:p>
        </p:txBody>
      </p:sp>
      <p:pic>
        <p:nvPicPr>
          <p:cNvPr id="7" name="transfers" descr="Transfers page comparing two strategies"/>
          <p:cNvPicPr>
            <a:picLocks noChangeAspect="1"/>
          </p:cNvPicPr>
          <p:nvPr/>
        </p:nvPicPr>
        <p:blipFill>
          <a:blip r:embed="rId3"/>
          <a:stretch>
            <a:fillRect/>
          </a:stretch>
        </p:blipFill>
        <p:spPr>
          <a:xfrm>
            <a:off x="4800600" y="1717405"/>
            <a:ext cx="6903720" cy="3523774"/>
          </a:xfrm>
          <a:prstGeom prst="rect">
            <a:avLst/>
          </a:prstGeom>
          <a:effectLst>
            <a:outerShdw blurRad="177800" dist="50800" dir="5400000" algn="bl" rotWithShape="0">
              <a:srgbClr val="000000">
                <a:alpha val="60000"/>
              </a:srgbClr>
            </a:outerShdw>
          </a:effectLst>
        </p:spPr>
      </p:pic>
      <p:sp>
        <p:nvSpPr>
          <p:cNvPr id="8" name="caption-bar"/>
          <p:cNvSpPr/>
          <p:nvPr/>
        </p:nvSpPr>
        <p:spPr>
          <a:xfrm>
            <a:off x="4800600" y="5424059"/>
            <a:ext cx="73152" cy="867013"/>
          </a:xfrm>
          <a:prstGeom prst="rect">
            <a:avLst/>
          </a:prstGeom>
          <a:solidFill>
            <a:srgbClr val="EF3E2B"/>
          </a:solidFill>
          <a:ln w="12700">
            <a:solidFill>
              <a:srgbClr val="EF3E2B"/>
            </a:solidFill>
            <a:prstDash val="solid"/>
          </a:ln>
        </p:spPr>
        <p:txBody>
          <a:bodyPr/>
          <a:lstStyle/>
          <a:p>
            <a:endParaRPr lang="en-IN"/>
          </a:p>
        </p:txBody>
      </p:sp>
      <p:sp>
        <p:nvSpPr>
          <p:cNvPr id="9" name="Text 6"/>
          <p:cNvSpPr txBox="1"/>
          <p:nvPr/>
        </p:nvSpPr>
        <p:spPr>
          <a:xfrm>
            <a:off x="5029200" y="5424059"/>
            <a:ext cx="6675120" cy="867013"/>
          </a:xfrm>
          <a:prstGeom prst="rect">
            <a:avLst/>
          </a:prstGeom>
          <a:noFill/>
          <a:ln/>
        </p:spPr>
        <p:txBody>
          <a:bodyPr wrap="square" lIns="0" tIns="0" rIns="0" bIns="0" rtlCol="0" anchor="ctr"/>
          <a:lstStyle/>
          <a:p>
            <a:pPr marL="0" indent="0">
              <a:buNone/>
            </a:pPr>
            <a:r>
              <a:rPr lang="en-US" sz="1500" b="1" kern="0" spc="100" dirty="0">
                <a:solidFill>
                  <a:schemeClr val="accent3"/>
                </a:solidFill>
              </a:rPr>
              <a:t>IN THE APP  </a:t>
            </a:r>
            <a:r>
              <a:rPr lang="en-US" sz="1500" dirty="0">
                <a:solidFill>
                  <a:schemeClr val="bg1"/>
                </a:solidFill>
              </a:rPr>
              <a:t>Two Strategy objects run on the same data, side by side; the plan moves 3 O+ platelets Baramati → Satara and waits for Approve.</a:t>
            </a: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 EXCEPTION HANDLING</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BUSINESS RULES AS CHECKED EXCEPTIONS</a:t>
            </a:r>
            <a:endParaRPr lang="en-US" sz="4000" dirty="0"/>
          </a:p>
        </p:txBody>
      </p:sp>
      <p:sp>
        <p:nvSpPr>
          <p:cNvPr id="4" name="explain"/>
          <p:cNvSpPr/>
          <p:nvPr/>
        </p:nvSpPr>
        <p:spPr>
          <a:xfrm>
            <a:off x="502920" y="1627632"/>
            <a:ext cx="4069080" cy="4663440"/>
          </a:xfrm>
          <a:prstGeom prst="roundRect">
            <a:avLst>
              <a:gd name="adj" fmla="val 1798"/>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49808" y="1828800"/>
            <a:ext cx="3611880" cy="42976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THROW</a:t>
            </a:r>
            <a:endParaRPr lang="en-US" sz="1500" dirty="0"/>
          </a:p>
          <a:p>
            <a:pPr marL="203200" indent="-203200">
              <a:spcAft>
                <a:spcPts val="500"/>
              </a:spcAft>
              <a:buSzPct val="100000"/>
              <a:buChar char="•"/>
            </a:pPr>
            <a:r>
              <a:rPr lang="en-US" sz="1600" dirty="0">
                <a:solidFill>
                  <a:schemeClr val="bg1"/>
                </a:solidFill>
              </a:rPr>
              <a:t>A custom exception extends RaktSetuException and carries the units requested and available</a:t>
            </a:r>
            <a:endParaRPr lang="en-US" sz="1500" dirty="0"/>
          </a:p>
          <a:p>
            <a:pPr marL="203200" indent="-203200">
              <a:spcAft>
                <a:spcPts val="500"/>
              </a:spcAft>
              <a:buSzPct val="100000"/>
              <a:buChar char="•"/>
            </a:pPr>
            <a:r>
              <a:rPr lang="en-US" sz="1600" dirty="0">
                <a:solidFill>
                  <a:schemeClr val="bg1"/>
                </a:solidFill>
              </a:rPr>
              <a:t>Inventory throws it when stock is short</a:t>
            </a:r>
            <a:endParaRPr lang="en-US" sz="1500" dirty="0"/>
          </a:p>
          <a:p>
            <a:pPr marL="0" indent="0">
              <a:spcBef>
                <a:spcPts val="1200"/>
              </a:spcBef>
              <a:spcAft>
                <a:spcPts val="200"/>
              </a:spcAft>
              <a:buNone/>
            </a:pPr>
            <a:r>
              <a:rPr lang="en-US" sz="1500" b="1" kern="0" spc="100" dirty="0">
                <a:solidFill>
                  <a:schemeClr val="accent3"/>
                </a:solidFill>
              </a:rPr>
              <a:t>CATCH</a:t>
            </a:r>
            <a:endParaRPr lang="en-US" sz="1500" dirty="0"/>
          </a:p>
          <a:p>
            <a:pPr marL="203200" indent="-203200">
              <a:spcAft>
                <a:spcPts val="500"/>
              </a:spcAft>
              <a:buSzPct val="100000"/>
              <a:buChar char="•"/>
            </a:pPr>
            <a:r>
              <a:rPr lang="en-US" sz="1600" dirty="0">
                <a:solidFill>
                  <a:schemeClr val="bg1"/>
                </a:solidFill>
              </a:rPr>
              <a:t>The console wraps each option in try</a:t>
            </a:r>
            <a:endParaRPr lang="en-US" sz="1500" dirty="0"/>
          </a:p>
          <a:p>
            <a:pPr marL="203200" indent="-203200">
              <a:spcAft>
                <a:spcPts val="500"/>
              </a:spcAft>
              <a:buSzPct val="100000"/>
              <a:buChar char="•"/>
            </a:pPr>
            <a:r>
              <a:rPr lang="en-US" sz="1600" dirty="0">
                <a:solidFill>
                  <a:schemeClr val="bg1"/>
                </a:solidFill>
              </a:rPr>
              <a:t>Each kind is caught separately and shown to staff</a:t>
            </a:r>
            <a:endParaRPr lang="en-US" sz="1500" dirty="0"/>
          </a:p>
          <a:p>
            <a:pPr marL="0" indent="0">
              <a:spcBef>
                <a:spcPts val="1200"/>
              </a:spcBef>
              <a:spcAft>
                <a:spcPts val="200"/>
              </a:spcAft>
              <a:buNone/>
            </a:pPr>
            <a:r>
              <a:rPr lang="en-US" sz="1500" b="1" kern="0" spc="100" dirty="0">
                <a:solidFill>
                  <a:schemeClr val="accent3"/>
                </a:solidFill>
              </a:rPr>
              <a:t>WEB APP</a:t>
            </a:r>
            <a:endParaRPr lang="en-US" sz="1500" dirty="0"/>
          </a:p>
          <a:p>
            <a:pPr marL="0" indent="0">
              <a:spcAft>
                <a:spcPts val="500"/>
              </a:spcAft>
              <a:buNone/>
            </a:pPr>
            <a:r>
              <a:rPr lang="en-US" sz="1600" dirty="0">
                <a:solidFill>
                  <a:schemeClr val="bg1"/>
                </a:solidFill>
              </a:rPr>
              <a:t>The same exception becomes HTTP 409. Nothing crashes.</a:t>
            </a:r>
            <a:endParaRPr lang="en-US" sz="1500" dirty="0"/>
          </a:p>
        </p:txBody>
      </p:sp>
      <p:sp>
        <p:nvSpPr>
          <p:cNvPr id="6" name="Text 4"/>
          <p:cNvSpPr txBox="1"/>
          <p:nvPr/>
        </p:nvSpPr>
        <p:spPr>
          <a:xfrm>
            <a:off x="4800600" y="1261872"/>
            <a:ext cx="6903720" cy="274320"/>
          </a:xfrm>
          <a:prstGeom prst="rect">
            <a:avLst/>
          </a:prstGeom>
          <a:noFill/>
          <a:ln/>
        </p:spPr>
        <p:txBody>
          <a:bodyPr wrap="square" lIns="0" tIns="0" rIns="0" bIns="0" rtlCol="0" anchor="ctr"/>
          <a:lstStyle/>
          <a:p>
            <a:pPr marL="0" indent="0" algn="r">
              <a:buNone/>
            </a:pPr>
            <a:r>
              <a:rPr lang="en-US" sz="1200" i="1" dirty="0">
                <a:solidFill>
                  <a:schemeClr val="accent5"/>
                </a:solidFill>
              </a:rPr>
              <a:t>Screenshot from the live app  ·  where users see this concept at work</a:t>
            </a:r>
            <a:endParaRPr lang="en-US" sz="1200" dirty="0"/>
          </a:p>
        </p:txBody>
      </p:sp>
      <p:pic>
        <p:nvPicPr>
          <p:cNvPr id="7" name="board-unmet" descr="Requests list with an unmet request"/>
          <p:cNvPicPr>
            <a:picLocks noChangeAspect="1"/>
          </p:cNvPicPr>
          <p:nvPr/>
        </p:nvPicPr>
        <p:blipFill>
          <a:blip r:embed="rId3"/>
          <a:stretch>
            <a:fillRect/>
          </a:stretch>
        </p:blipFill>
        <p:spPr>
          <a:xfrm>
            <a:off x="4800600" y="1822399"/>
            <a:ext cx="6903720" cy="3313786"/>
          </a:xfrm>
          <a:prstGeom prst="rect">
            <a:avLst/>
          </a:prstGeom>
          <a:effectLst>
            <a:outerShdw blurRad="177800" dist="50800" dir="5400000" algn="bl" rotWithShape="0">
              <a:srgbClr val="000000">
                <a:alpha val="60000"/>
              </a:srgbClr>
            </a:outerShdw>
          </a:effectLst>
        </p:spPr>
      </p:pic>
      <p:sp>
        <p:nvSpPr>
          <p:cNvPr id="8" name="caption-bar"/>
          <p:cNvSpPr/>
          <p:nvPr/>
        </p:nvSpPr>
        <p:spPr>
          <a:xfrm>
            <a:off x="4800600" y="5319065"/>
            <a:ext cx="73152" cy="972007"/>
          </a:xfrm>
          <a:prstGeom prst="rect">
            <a:avLst/>
          </a:prstGeom>
          <a:solidFill>
            <a:srgbClr val="EF3E2B"/>
          </a:solidFill>
          <a:ln w="12700">
            <a:solidFill>
              <a:srgbClr val="EF3E2B"/>
            </a:solidFill>
            <a:prstDash val="solid"/>
          </a:ln>
        </p:spPr>
        <p:txBody>
          <a:bodyPr/>
          <a:lstStyle/>
          <a:p>
            <a:endParaRPr lang="en-IN"/>
          </a:p>
        </p:txBody>
      </p:sp>
      <p:sp>
        <p:nvSpPr>
          <p:cNvPr id="9" name="Text 6"/>
          <p:cNvSpPr txBox="1"/>
          <p:nvPr/>
        </p:nvSpPr>
        <p:spPr>
          <a:xfrm>
            <a:off x="5029200" y="5319065"/>
            <a:ext cx="6675120" cy="972007"/>
          </a:xfrm>
          <a:prstGeom prst="rect">
            <a:avLst/>
          </a:prstGeom>
          <a:noFill/>
          <a:ln/>
        </p:spPr>
        <p:txBody>
          <a:bodyPr wrap="square" lIns="0" tIns="0" rIns="0" bIns="0" rtlCol="0" anchor="ctr"/>
          <a:lstStyle/>
          <a:p>
            <a:pPr marL="0" indent="0">
              <a:buNone/>
            </a:pPr>
            <a:r>
              <a:rPr lang="en-US" sz="1500" b="1" kern="0" spc="100" dirty="0">
                <a:solidFill>
                  <a:schemeClr val="accent3"/>
                </a:solidFill>
              </a:rPr>
              <a:t>IN THE APP  </a:t>
            </a:r>
            <a:r>
              <a:rPr lang="en-US" sz="1500" dirty="0">
                <a:solidFill>
                  <a:schemeClr val="bg1"/>
                </a:solidFill>
              </a:rPr>
              <a:t>Request #198 could not be met: the message (“requested 2, available 0”) is shown and the request is flagged UNMET.</a:t>
            </a: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 GENERICS, COLLECTIONS AND LAMBDAS</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THE RIGHT TYPES AND DATA STRUCTURES</a:t>
            </a:r>
            <a:endParaRPr lang="en-US" sz="4000" dirty="0"/>
          </a:p>
        </p:txBody>
      </p:sp>
      <p:sp>
        <p:nvSpPr>
          <p:cNvPr id="4" name="explain"/>
          <p:cNvSpPr/>
          <p:nvPr/>
        </p:nvSpPr>
        <p:spPr>
          <a:xfrm>
            <a:off x="502920" y="1627632"/>
            <a:ext cx="4069080" cy="4663440"/>
          </a:xfrm>
          <a:prstGeom prst="roundRect">
            <a:avLst>
              <a:gd name="adj" fmla="val 1798"/>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49808" y="1828800"/>
            <a:ext cx="3611880" cy="42976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GENERICS</a:t>
            </a:r>
            <a:endParaRPr lang="en-US" sz="1500" dirty="0"/>
          </a:p>
          <a:p>
            <a:pPr marL="0" indent="0">
              <a:spcAft>
                <a:spcPts val="500"/>
              </a:spcAft>
              <a:buNone/>
            </a:pPr>
            <a:r>
              <a:rPr lang="en-US" sz="1600" dirty="0">
                <a:solidFill>
                  <a:schemeClr val="bg1"/>
                </a:solidFill>
              </a:rPr>
              <a:t>Repository&lt;T extends Identifiable&gt;: one class stores facilities, units and orders, with no casts.</a:t>
            </a:r>
            <a:endParaRPr lang="en-US" sz="1500" dirty="0"/>
          </a:p>
          <a:p>
            <a:pPr marL="0" indent="0">
              <a:spcBef>
                <a:spcPts val="1200"/>
              </a:spcBef>
              <a:spcAft>
                <a:spcPts val="200"/>
              </a:spcAft>
              <a:buNone/>
            </a:pPr>
            <a:r>
              <a:rPr lang="en-US" sz="1500" b="1" kern="0" spc="100" dirty="0">
                <a:solidFill>
                  <a:schemeClr val="accent3"/>
                </a:solidFill>
              </a:rPr>
              <a:t>COLLECTIONS</a:t>
            </a:r>
            <a:endParaRPr lang="en-US" sz="1500" dirty="0"/>
          </a:p>
          <a:p>
            <a:pPr marL="0" indent="0">
              <a:spcAft>
                <a:spcPts val="500"/>
              </a:spcAft>
              <a:buNone/>
            </a:pPr>
            <a:r>
              <a:rPr lang="en-US" sz="1600" dirty="0">
                <a:solidFill>
                  <a:schemeClr val="bg1"/>
                </a:solidFill>
              </a:rPr>
              <a:t>An EnumMap of TreeSets keeps stock soonest-expiring first: add, issue and remove in O(log n).</a:t>
            </a:r>
            <a:endParaRPr lang="en-US" sz="1500" dirty="0"/>
          </a:p>
          <a:p>
            <a:pPr marL="0" indent="0">
              <a:spcBef>
                <a:spcPts val="1200"/>
              </a:spcBef>
              <a:spcAft>
                <a:spcPts val="200"/>
              </a:spcAft>
              <a:buNone/>
            </a:pPr>
            <a:r>
              <a:rPr lang="en-US" sz="1500" b="1" kern="0" spc="100" dirty="0">
                <a:solidFill>
                  <a:schemeClr val="accent3"/>
                </a:solidFill>
              </a:rPr>
              <a:t>LAMBDAS</a:t>
            </a:r>
            <a:endParaRPr lang="en-US" sz="1500" dirty="0"/>
          </a:p>
          <a:p>
            <a:pPr marL="0" indent="0">
              <a:spcAft>
                <a:spcPts val="500"/>
              </a:spcAft>
              <a:buNone/>
            </a:pPr>
            <a:r>
              <a:rPr lang="en-US" sz="1600" dirty="0">
                <a:solidFill>
                  <a:schemeClr val="bg1"/>
                </a:solidFill>
              </a:rPr>
              <a:t>The expiry order is a lambda comparator, FEFO = (a, b) -&gt; ...; strategies sort with Candidate::unit and c -&gt; c.source().getId().</a:t>
            </a:r>
            <a:endParaRPr lang="en-US" sz="1500" dirty="0"/>
          </a:p>
        </p:txBody>
      </p:sp>
      <p:sp>
        <p:nvSpPr>
          <p:cNvPr id="6" name="Text 4"/>
          <p:cNvSpPr txBox="1"/>
          <p:nvPr/>
        </p:nvSpPr>
        <p:spPr>
          <a:xfrm>
            <a:off x="4800600" y="1261872"/>
            <a:ext cx="6903720" cy="274320"/>
          </a:xfrm>
          <a:prstGeom prst="rect">
            <a:avLst/>
          </a:prstGeom>
          <a:noFill/>
          <a:ln/>
        </p:spPr>
        <p:txBody>
          <a:bodyPr wrap="square" lIns="0" tIns="0" rIns="0" bIns="0" rtlCol="0" anchor="ctr"/>
          <a:lstStyle/>
          <a:p>
            <a:pPr marL="0" indent="0" algn="r">
              <a:buNone/>
            </a:pPr>
            <a:r>
              <a:rPr lang="en-US" sz="1200" i="1" dirty="0">
                <a:solidFill>
                  <a:schemeClr val="accent5"/>
                </a:solidFill>
              </a:rPr>
              <a:t>Screenshot from the live app  ·  where users see this concept at work</a:t>
            </a:r>
            <a:endParaRPr lang="en-US" sz="1200" dirty="0"/>
          </a:p>
        </p:txBody>
      </p:sp>
      <p:pic>
        <p:nvPicPr>
          <p:cNvPr id="7" name="at-risk" descr="At-risk units, soonest first"/>
          <p:cNvPicPr>
            <a:picLocks noChangeAspect="1"/>
          </p:cNvPicPr>
          <p:nvPr/>
        </p:nvPicPr>
        <p:blipFill>
          <a:blip r:embed="rId3"/>
          <a:stretch>
            <a:fillRect/>
          </a:stretch>
        </p:blipFill>
        <p:spPr>
          <a:xfrm>
            <a:off x="4800600" y="1969103"/>
            <a:ext cx="6903720" cy="3020378"/>
          </a:xfrm>
          <a:prstGeom prst="rect">
            <a:avLst/>
          </a:prstGeom>
          <a:effectLst>
            <a:outerShdw blurRad="177800" dist="50800" dir="5400000" algn="bl" rotWithShape="0">
              <a:srgbClr val="000000">
                <a:alpha val="60000"/>
              </a:srgbClr>
            </a:outerShdw>
          </a:effectLst>
        </p:spPr>
      </p:pic>
      <p:sp>
        <p:nvSpPr>
          <p:cNvPr id="8" name="caption-bar"/>
          <p:cNvSpPr/>
          <p:nvPr/>
        </p:nvSpPr>
        <p:spPr>
          <a:xfrm>
            <a:off x="4800600" y="5172361"/>
            <a:ext cx="73152" cy="1118711"/>
          </a:xfrm>
          <a:prstGeom prst="rect">
            <a:avLst/>
          </a:prstGeom>
          <a:solidFill>
            <a:srgbClr val="EF3E2B"/>
          </a:solidFill>
          <a:ln w="12700">
            <a:solidFill>
              <a:srgbClr val="EF3E2B"/>
            </a:solidFill>
            <a:prstDash val="solid"/>
          </a:ln>
        </p:spPr>
        <p:txBody>
          <a:bodyPr/>
          <a:lstStyle/>
          <a:p>
            <a:endParaRPr lang="en-IN"/>
          </a:p>
        </p:txBody>
      </p:sp>
      <p:sp>
        <p:nvSpPr>
          <p:cNvPr id="9" name="Text 6"/>
          <p:cNvSpPr txBox="1"/>
          <p:nvPr/>
        </p:nvSpPr>
        <p:spPr>
          <a:xfrm>
            <a:off x="5029200" y="5172361"/>
            <a:ext cx="6675120" cy="1118711"/>
          </a:xfrm>
          <a:prstGeom prst="rect">
            <a:avLst/>
          </a:prstGeom>
          <a:noFill/>
          <a:ln/>
        </p:spPr>
        <p:txBody>
          <a:bodyPr wrap="square" lIns="0" tIns="0" rIns="0" bIns="0" rtlCol="0" anchor="ctr"/>
          <a:lstStyle/>
          <a:p>
            <a:pPr marL="0" indent="0">
              <a:buNone/>
            </a:pPr>
            <a:r>
              <a:rPr lang="en-US" sz="1500" b="1" kern="0" spc="100" dirty="0">
                <a:solidFill>
                  <a:schemeClr val="accent3"/>
                </a:solidFill>
              </a:rPr>
              <a:t>IN THE APP  </a:t>
            </a:r>
            <a:r>
              <a:rPr lang="en-US" sz="1500" dirty="0">
                <a:solidFill>
                  <a:schemeClr val="bg1"/>
                </a:solidFill>
              </a:rPr>
              <a:t>At-risk units arrive already sorted, soonest expiry first, by the TreeSet and its lambda comparator.</a:t>
            </a: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OOP · MULTITHREADING, LAMBDAS AND FILE I/O</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MANY USERS, ONE LOCK, ONE RECORD</a:t>
            </a:r>
            <a:endParaRPr lang="en-US" sz="4000" dirty="0"/>
          </a:p>
        </p:txBody>
      </p:sp>
      <p:sp>
        <p:nvSpPr>
          <p:cNvPr id="4" name="explain"/>
          <p:cNvSpPr/>
          <p:nvPr/>
        </p:nvSpPr>
        <p:spPr>
          <a:xfrm>
            <a:off x="502920" y="1627632"/>
            <a:ext cx="4069080" cy="4663440"/>
          </a:xfrm>
          <a:prstGeom prst="roundRect">
            <a:avLst>
              <a:gd name="adj" fmla="val 1798"/>
            </a:avLst>
          </a:prstGeom>
          <a:solidFill>
            <a:srgbClr val="1D1D1D"/>
          </a:solidFill>
          <a:ln w="12700">
            <a:solidFill>
              <a:srgbClr val="333333"/>
            </a:solidFill>
            <a:prstDash val="solid"/>
          </a:ln>
        </p:spPr>
        <p:txBody>
          <a:bodyPr/>
          <a:lstStyle/>
          <a:p>
            <a:endParaRPr lang="en-IN"/>
          </a:p>
        </p:txBody>
      </p:sp>
      <p:sp>
        <p:nvSpPr>
          <p:cNvPr id="5" name="Text 3"/>
          <p:cNvSpPr txBox="1"/>
          <p:nvPr/>
        </p:nvSpPr>
        <p:spPr>
          <a:xfrm>
            <a:off x="749808" y="1828800"/>
            <a:ext cx="3611880" cy="4297680"/>
          </a:xfrm>
          <a:prstGeom prst="rect">
            <a:avLst/>
          </a:prstGeom>
          <a:noFill/>
          <a:ln/>
        </p:spPr>
        <p:txBody>
          <a:bodyPr wrap="square" lIns="0" tIns="0" rIns="0" bIns="0" rtlCol="0" anchor="t"/>
          <a:lstStyle/>
          <a:p>
            <a:pPr marL="0" indent="0">
              <a:spcAft>
                <a:spcPts val="200"/>
              </a:spcAft>
              <a:buNone/>
            </a:pPr>
            <a:r>
              <a:rPr lang="en-US" sz="1500" b="1" kern="0" spc="100" dirty="0">
                <a:solidFill>
                  <a:schemeClr val="accent3"/>
                </a:solidFill>
              </a:rPr>
              <a:t>MULTITHREADING</a:t>
            </a:r>
            <a:endParaRPr lang="en-US" sz="1500" dirty="0"/>
          </a:p>
          <a:p>
            <a:pPr marL="0" indent="0">
              <a:spcAft>
                <a:spcPts val="500"/>
              </a:spcAft>
              <a:buNone/>
            </a:pPr>
            <a:r>
              <a:rPr lang="en-US" sz="1600" dirty="0">
                <a:solidFill>
                  <a:schemeClr val="bg1"/>
                </a:solidFill>
              </a:rPr>
              <a:t>A read-write lock lets many users read at once while a change waits; finally always releases it.</a:t>
            </a:r>
            <a:endParaRPr lang="en-US" sz="1500" dirty="0"/>
          </a:p>
          <a:p>
            <a:pPr marL="0" indent="0">
              <a:spcBef>
                <a:spcPts val="1200"/>
              </a:spcBef>
              <a:spcAft>
                <a:spcPts val="200"/>
              </a:spcAft>
              <a:buNone/>
            </a:pPr>
            <a:r>
              <a:rPr lang="en-US" sz="1500" b="1" kern="0" spc="100" dirty="0">
                <a:solidFill>
                  <a:schemeClr val="accent3"/>
                </a:solidFill>
              </a:rPr>
              <a:t>LAMBDAS</a:t>
            </a:r>
            <a:endParaRPr lang="en-US" sz="1500" dirty="0"/>
          </a:p>
          <a:p>
            <a:pPr marL="203200" indent="-203200">
              <a:spcAft>
                <a:spcPts val="500"/>
              </a:spcAft>
              <a:buSzPct val="100000"/>
              <a:buChar char="•"/>
            </a:pPr>
            <a:r>
              <a:rPr lang="en-US" sz="1600" dirty="0">
                <a:solidFill>
                  <a:schemeClr val="bg1"/>
                </a:solidFill>
              </a:rPr>
              <a:t>Action&lt;T&gt; is a @FunctionalInterface: one abstract method</a:t>
            </a:r>
            <a:endParaRPr lang="en-US" sz="1500" dirty="0"/>
          </a:p>
          <a:p>
            <a:pPr marL="203200" indent="-203200">
              <a:spcAft>
                <a:spcPts val="500"/>
              </a:spcAft>
              <a:buSzPct val="100000"/>
              <a:buChar char="•"/>
            </a:pPr>
            <a:r>
              <a:rPr lang="en-US" sz="1600" dirty="0">
                <a:solidFill>
                  <a:schemeClr val="bg1"/>
                </a:solidFill>
              </a:rPr>
              <a:t>Every web request passes its work in as a lambda: lock.writeSafely(() -&gt; { ... })</a:t>
            </a:r>
            <a:endParaRPr lang="en-US" sz="1500" dirty="0"/>
          </a:p>
          <a:p>
            <a:pPr marL="0" indent="0">
              <a:spcBef>
                <a:spcPts val="1200"/>
              </a:spcBef>
              <a:spcAft>
                <a:spcPts val="200"/>
              </a:spcAft>
              <a:buNone/>
            </a:pPr>
            <a:r>
              <a:rPr lang="en-US" sz="1500" b="1" kern="0" spc="100" dirty="0">
                <a:solidFill>
                  <a:schemeClr val="accent3"/>
                </a:solidFill>
              </a:rPr>
              <a:t>FILE I/O</a:t>
            </a:r>
            <a:endParaRPr lang="en-US" sz="1500" dirty="0"/>
          </a:p>
          <a:p>
            <a:pPr marL="0" indent="0">
              <a:spcAft>
                <a:spcPts val="500"/>
              </a:spcAft>
              <a:buNone/>
            </a:pPr>
            <a:r>
              <a:rPr lang="en-US" sz="1600" dirty="0">
                <a:solidFill>
                  <a:schemeClr val="bg1"/>
                </a:solidFill>
              </a:rPr>
              <a:t>Each audit event is appended to a CSV file with a SHA-256 hash; synchronized stops threads interleaving.</a:t>
            </a:r>
            <a:endParaRPr lang="en-US" sz="1500" dirty="0"/>
          </a:p>
        </p:txBody>
      </p:sp>
      <p:sp>
        <p:nvSpPr>
          <p:cNvPr id="6" name="Text 4"/>
          <p:cNvSpPr txBox="1"/>
          <p:nvPr/>
        </p:nvSpPr>
        <p:spPr>
          <a:xfrm>
            <a:off x="4800600" y="1261872"/>
            <a:ext cx="6903720" cy="274320"/>
          </a:xfrm>
          <a:prstGeom prst="rect">
            <a:avLst/>
          </a:prstGeom>
          <a:noFill/>
          <a:ln/>
        </p:spPr>
        <p:txBody>
          <a:bodyPr wrap="square" lIns="0" tIns="0" rIns="0" bIns="0" rtlCol="0" anchor="ctr"/>
          <a:lstStyle/>
          <a:p>
            <a:pPr marL="0" indent="0" algn="r">
              <a:buNone/>
            </a:pPr>
            <a:r>
              <a:rPr lang="en-US" sz="1200" i="1" dirty="0">
                <a:solidFill>
                  <a:schemeClr val="accent5"/>
                </a:solidFill>
              </a:rPr>
              <a:t>Real code from the repository  ·  highlighted lines and ← tags show where the concept is</a:t>
            </a:r>
            <a:endParaRPr lang="en-US" sz="1200" dirty="0"/>
          </a:p>
        </p:txBody>
      </p:sp>
      <p:pic>
        <p:nvPicPr>
          <p:cNvPr id="7" name="lambda" descr="Java code from RaktSetu: lambda"/>
          <p:cNvPicPr>
            <a:picLocks noChangeAspect="1"/>
          </p:cNvPicPr>
          <p:nvPr/>
        </p:nvPicPr>
        <p:blipFill>
          <a:blip r:embed="rId3"/>
          <a:stretch>
            <a:fillRect/>
          </a:stretch>
        </p:blipFill>
        <p:spPr>
          <a:xfrm>
            <a:off x="4800600" y="1627632"/>
            <a:ext cx="6903720" cy="3888016"/>
          </a:xfrm>
          <a:prstGeom prst="rect">
            <a:avLst/>
          </a:prstGeom>
          <a:effectLst>
            <a:outerShdw blurRad="177800" dist="50800" dir="5400000" algn="bl" rotWithShape="0">
              <a:srgbClr val="000000">
                <a:alpha val="60000"/>
              </a:srgbClr>
            </a:outerShdw>
          </a:effectLst>
        </p:spPr>
      </p:pic>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RESEARCH</a:t>
            </a:r>
            <a:endParaRPr lang="en-US" sz="1300" dirty="0"/>
          </a:p>
        </p:txBody>
      </p:sp>
      <p:sp>
        <p:nvSpPr>
          <p:cNvPr id="3" name="Text 0"/>
          <p:cNvSpPr>
            <a:spLocks noGrp="1"/>
          </p:cNvSpPr>
          <p:nvPr>
            <p:ph type="title" idx="101" hasCustomPrompt="1"/>
          </p:nvPr>
        </p:nvSpPr>
        <p:spPr>
          <a:xfrm>
            <a:off x="502920" y="658368"/>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SUPPORTING RESEARCH</a:t>
            </a:r>
            <a:endParaRPr lang="en-US" sz="40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16</a:t>
            </a:fld>
            <a:endParaRPr lang="en-US"/>
          </a:p>
        </p:txBody>
      </p:sp>
      <p:sp>
        <p:nvSpPr>
          <p:cNvPr id="26" name="study-card"/>
          <p:cNvSpPr/>
          <p:nvPr/>
        </p:nvSpPr>
        <p:spPr>
          <a:xfrm>
            <a:off x="502920" y="1645920"/>
            <a:ext cx="11201400" cy="2331720"/>
          </a:xfrm>
          <a:prstGeom prst="roundRect">
            <a:avLst>
              <a:gd name="adj" fmla="val 5000"/>
            </a:avLst>
          </a:prstGeom>
          <a:solidFill>
            <a:srgbClr val="1D1D1D"/>
          </a:solidFill>
          <a:ln>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tudy-bar"/>
          <p:cNvSpPr/>
          <p:nvPr/>
        </p:nvSpPr>
        <p:spPr>
          <a:xfrm>
            <a:off x="502920" y="1645920"/>
            <a:ext cx="91440" cy="2331720"/>
          </a:xfrm>
          <a:prstGeom prst="rect">
            <a:avLst/>
          </a:prstGeom>
          <a:solidFill>
            <a:srgbClr val="EF3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tudy-text"/>
          <p:cNvSpPr txBox="1"/>
          <p:nvPr/>
        </p:nvSpPr>
        <p:spPr>
          <a:xfrm>
            <a:off x="914400" y="1645920"/>
            <a:ext cx="10424160" cy="2331720"/>
          </a:xfrm>
          <a:prstGeom prst="rect">
            <a:avLst/>
          </a:prstGeom>
          <a:noFill/>
        </p:spPr>
        <p:txBody>
          <a:bodyPr wrap="square" lIns="0" tIns="0" rIns="0" bIns="0" anchor="ctr">
            <a:spAutoFit/>
          </a:bodyPr>
          <a:lstStyle/>
          <a:p>
            <a:r>
              <a:rPr sz="3400" b="0" i="0">
                <a:solidFill>
                  <a:srgbClr val="FFFFFF"/>
                </a:solidFill>
                <a:latin typeface="Anton"/>
              </a:rPr>
              <a:t>Reducing Blood Product Wastage Through the Inter-Hospital Redistribution of Near-Outdate Inventory</a:t>
            </a:r>
          </a:p>
          <a:p>
            <a:pPr>
              <a:spcBef>
                <a:spcPts val="1000"/>
              </a:spcBef>
            </a:pPr>
            <a:r>
              <a:rPr sz="2000" b="1" i="0">
                <a:solidFill>
                  <a:srgbClr val="FF7A66"/>
                </a:solidFill>
              </a:rPr>
              <a:t>Hajjaj et al.  ·  Transfusion, 2024</a:t>
            </a:r>
          </a:p>
        </p:txBody>
      </p:sp>
      <p:sp>
        <p:nvSpPr>
          <p:cNvPr id="29" name="about-card"/>
          <p:cNvSpPr/>
          <p:nvPr/>
        </p:nvSpPr>
        <p:spPr>
          <a:xfrm>
            <a:off x="502920" y="4206240"/>
            <a:ext cx="6949440" cy="2057400"/>
          </a:xfrm>
          <a:prstGeom prst="roundRect">
            <a:avLst>
              <a:gd name="adj" fmla="val 5000"/>
            </a:avLst>
          </a:prstGeom>
          <a:solidFill>
            <a:srgbClr val="1D1D1D"/>
          </a:solidFill>
          <a:ln>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bout-text"/>
          <p:cNvSpPr txBox="1"/>
          <p:nvPr/>
        </p:nvSpPr>
        <p:spPr>
          <a:xfrm>
            <a:off x="822960" y="4206240"/>
            <a:ext cx="6309360" cy="2057400"/>
          </a:xfrm>
          <a:prstGeom prst="rect">
            <a:avLst/>
          </a:prstGeom>
          <a:noFill/>
        </p:spPr>
        <p:txBody>
          <a:bodyPr wrap="square" lIns="0" tIns="0" rIns="0" bIns="0" anchor="ctr">
            <a:spAutoFit/>
          </a:bodyPr>
          <a:lstStyle/>
          <a:p>
            <a:r>
              <a:rPr sz="2100" b="0" i="0">
                <a:solidFill>
                  <a:srgbClr val="FFFFFF"/>
                </a:solidFill>
              </a:rPr>
              <a:t>This paper studies redistributing near-expiry blood products from hospitals with low usage to hospitals more likely to use them. It also evaluates transport failures and costs.</a:t>
            </a:r>
          </a:p>
        </p:txBody>
      </p:sp>
      <p:sp>
        <p:nvSpPr>
          <p:cNvPr id="31" name="link-1">
            <a:hlinkClick r:id="rId3"/>
          </p:cNvPr>
          <p:cNvSpPr/>
          <p:nvPr/>
        </p:nvSpPr>
        <p:spPr>
          <a:xfrm>
            <a:off x="7680960" y="4206240"/>
            <a:ext cx="4023360" cy="960120"/>
          </a:xfrm>
          <a:prstGeom prst="roundRect">
            <a:avLst>
              <a:gd name="adj" fmla="val 5000"/>
            </a:avLst>
          </a:prstGeom>
          <a:solidFill>
            <a:srgbClr val="EF3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link-1-text">
            <a:hlinkClick r:id="rId3"/>
          </p:cNvPr>
          <p:cNvSpPr txBox="1"/>
          <p:nvPr/>
        </p:nvSpPr>
        <p:spPr>
          <a:xfrm>
            <a:off x="7680960" y="4206240"/>
            <a:ext cx="4023360" cy="960120"/>
          </a:xfrm>
          <a:prstGeom prst="rect">
            <a:avLst/>
          </a:prstGeom>
          <a:noFill/>
        </p:spPr>
        <p:txBody>
          <a:bodyPr wrap="square" lIns="0" tIns="0" rIns="0" bIns="0" anchor="ctr">
            <a:spAutoFit/>
          </a:bodyPr>
          <a:lstStyle/>
          <a:p>
            <a:pPr algn="ctr"/>
            <a:r>
              <a:rPr sz="1900" b="1" i="0" dirty="0">
                <a:solidFill>
                  <a:srgbClr val="111111"/>
                </a:solidFill>
              </a:rPr>
              <a:t>Read the full research paper →</a:t>
            </a:r>
          </a:p>
        </p:txBody>
      </p:sp>
      <p:sp>
        <p:nvSpPr>
          <p:cNvPr id="33" name="link-2">
            <a:hlinkClick r:id="rId4"/>
          </p:cNvPr>
          <p:cNvSpPr/>
          <p:nvPr/>
        </p:nvSpPr>
        <p:spPr>
          <a:xfrm>
            <a:off x="7680960" y="5303520"/>
            <a:ext cx="4023360" cy="960120"/>
          </a:xfrm>
          <a:prstGeom prst="roundRect">
            <a:avLst>
              <a:gd name="adj" fmla="val 5000"/>
            </a:avLst>
          </a:prstGeom>
          <a:solidFill>
            <a:srgbClr val="1D1D1D"/>
          </a:solidFill>
          <a:ln>
            <a:solidFill>
              <a:srgbClr val="EF3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ink-2-text">
            <a:hlinkClick r:id="rId4"/>
          </p:cNvPr>
          <p:cNvSpPr txBox="1"/>
          <p:nvPr/>
        </p:nvSpPr>
        <p:spPr>
          <a:xfrm>
            <a:off x="7680960" y="5303520"/>
            <a:ext cx="4023360" cy="960120"/>
          </a:xfrm>
          <a:prstGeom prst="rect">
            <a:avLst/>
          </a:prstGeom>
          <a:noFill/>
        </p:spPr>
        <p:txBody>
          <a:bodyPr wrap="square" lIns="0" tIns="0" rIns="0" bIns="0" anchor="ctr">
            <a:spAutoFit/>
          </a:bodyPr>
          <a:lstStyle/>
          <a:p>
            <a:pPr algn="ctr"/>
            <a:r>
              <a:rPr sz="1900" b="1" i="0">
                <a:solidFill>
                  <a:srgbClr val="FFFFFF"/>
                </a:solidFill>
              </a:rPr>
              <a:t>View the PubMed record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02920" y="365760"/>
            <a:ext cx="9144000" cy="292608"/>
          </a:xfrm>
          <a:prstGeom prst="rect">
            <a:avLst/>
          </a:prstGeom>
          <a:noFill/>
          <a:ln/>
        </p:spPr>
        <p:txBody>
          <a:bodyPr wrap="square" lIns="0" tIns="0" rIns="0" bIns="0" rtlCol="0" anchor="t"/>
          <a:lstStyle/>
          <a:p>
            <a:pPr marL="0" indent="0">
              <a:buNone/>
            </a:pPr>
            <a:r>
              <a:rPr lang="en-US" sz="1300" b="1" kern="0" spc="300" dirty="0">
                <a:solidFill>
                  <a:srgbClr val="EF3E2B"/>
                </a:solidFill>
              </a:rPr>
              <a:t>RESULTS</a:t>
            </a:r>
            <a:endParaRPr lang="en-US" sz="1300" dirty="0"/>
          </a:p>
        </p:txBody>
      </p:sp>
      <p:sp>
        <p:nvSpPr>
          <p:cNvPr id="3" name="Text 0"/>
          <p:cNvSpPr>
            <a:spLocks noGrp="1"/>
          </p:cNvSpPr>
          <p:nvPr>
            <p:ph type="title" idx="101" hasCustomPrompt="1"/>
          </p:nvPr>
        </p:nvSpPr>
        <p:spPr>
          <a:xfrm>
            <a:off x="518160" y="685800"/>
            <a:ext cx="11155680" cy="822960"/>
          </a:xfrm>
          <a:prstGeom prst="rect">
            <a:avLst/>
          </a:prstGeom>
          <a:noFill/>
          <a:ln/>
        </p:spPr>
        <p:txBody>
          <a:bodyPr wrap="square" lIns="0" tIns="0" rIns="0" bIns="0" rtlCol="0" anchor="t"/>
          <a:lstStyle/>
          <a:p>
            <a:pPr marL="0" indent="0" algn="l">
              <a:buNone/>
            </a:pPr>
            <a:r>
              <a:rPr lang="en-US" sz="4000" dirty="0">
                <a:solidFill>
                  <a:srgbClr val="FFFFFF"/>
                </a:solidFill>
                <a:latin typeface="Anton" pitchFamily="34" charset="0"/>
                <a:ea typeface="Anton" pitchFamily="34" charset="-122"/>
                <a:cs typeface="Anton" pitchFamily="34" charset="-120"/>
              </a:rPr>
              <a:t>TESTED, FAST, AND LIVE</a:t>
            </a:r>
            <a:endParaRPr lang="en-US" sz="4000" dirty="0"/>
          </a:p>
        </p:txBody>
      </p:sp>
      <p:sp>
        <p:nvSpPr>
          <p:cNvPr id="5" name="Text 3"/>
          <p:cNvSpPr txBox="1"/>
          <p:nvPr/>
        </p:nvSpPr>
        <p:spPr>
          <a:xfrm>
            <a:off x="777240" y="1783080"/>
            <a:ext cx="2194560" cy="960120"/>
          </a:xfrm>
          <a:prstGeom prst="rect">
            <a:avLst/>
          </a:prstGeom>
          <a:noFill/>
          <a:ln/>
        </p:spPr>
        <p:txBody>
          <a:bodyPr wrap="square" lIns="0" tIns="0" rIns="0" bIns="0" rtlCol="0" anchor="ctr"/>
          <a:lstStyle/>
          <a:p>
            <a:pPr marL="0" indent="0">
              <a:buNone/>
            </a:pPr>
            <a:r>
              <a:rPr lang="en-US" sz="5600" dirty="0">
                <a:solidFill>
                  <a:schemeClr val="tx1"/>
                </a:solidFill>
                <a:latin typeface="Anton" pitchFamily="34" charset="0"/>
                <a:ea typeface="Anton" pitchFamily="34" charset="-122"/>
                <a:cs typeface="Anton" pitchFamily="34" charset="-120"/>
              </a:rPr>
              <a:t>−60%</a:t>
            </a:r>
            <a:endParaRPr lang="en-US" sz="5600" dirty="0"/>
          </a:p>
        </p:txBody>
      </p:sp>
      <p:sp>
        <p:nvSpPr>
          <p:cNvPr id="6" name="Text 4"/>
          <p:cNvSpPr txBox="1"/>
          <p:nvPr/>
        </p:nvSpPr>
        <p:spPr>
          <a:xfrm>
            <a:off x="777240" y="2834640"/>
            <a:ext cx="2194560" cy="914400"/>
          </a:xfrm>
          <a:prstGeom prst="rect">
            <a:avLst/>
          </a:prstGeom>
          <a:noFill/>
          <a:ln/>
        </p:spPr>
        <p:txBody>
          <a:bodyPr wrap="square" lIns="0" tIns="0" rIns="0" bIns="0" rtlCol="0" anchor="t"/>
          <a:lstStyle/>
          <a:p>
            <a:pPr marL="0" indent="0">
              <a:buNone/>
            </a:pPr>
            <a:r>
              <a:rPr lang="en-US" sz="1700" dirty="0">
                <a:solidFill>
                  <a:schemeClr val="tx1"/>
                </a:solidFill>
              </a:rPr>
              <a:t>expired units in a 120-day simulation</a:t>
            </a:r>
            <a:endParaRPr lang="en-US" sz="1700" dirty="0"/>
          </a:p>
        </p:txBody>
      </p:sp>
      <p:sp>
        <p:nvSpPr>
          <p:cNvPr id="16" name="thanks"/>
          <p:cNvSpPr/>
          <p:nvPr/>
        </p:nvSpPr>
        <p:spPr>
          <a:xfrm>
            <a:off x="502920" y="1508760"/>
            <a:ext cx="11201400" cy="4754880"/>
          </a:xfrm>
          <a:prstGeom prst="roundRect">
            <a:avLst>
              <a:gd name="adj" fmla="val 3404"/>
            </a:avLst>
          </a:prstGeom>
          <a:solidFill>
            <a:srgbClr val="EF3E2B"/>
          </a:solidFill>
          <a:ln w="12700">
            <a:solidFill>
              <a:srgbClr val="EF3E2B"/>
            </a:solidFill>
            <a:prstDash val="solid"/>
          </a:ln>
        </p:spPr>
        <p:txBody>
          <a:bodyPr/>
          <a:lstStyle/>
          <a:p>
            <a:endParaRPr lang="en-IN"/>
          </a:p>
        </p:txBody>
      </p:sp>
      <p:sp>
        <p:nvSpPr>
          <p:cNvPr id="17" name="Text 15"/>
          <p:cNvSpPr txBox="1"/>
          <p:nvPr/>
        </p:nvSpPr>
        <p:spPr>
          <a:xfrm>
            <a:off x="822960" y="2159000"/>
            <a:ext cx="5486400" cy="1097280"/>
          </a:xfrm>
          <a:prstGeom prst="rect">
            <a:avLst/>
          </a:prstGeom>
          <a:noFill/>
          <a:ln/>
        </p:spPr>
        <p:txBody>
          <a:bodyPr wrap="square" lIns="0" tIns="0" rIns="0" bIns="0" rtlCol="0" anchor="ctr"/>
          <a:lstStyle/>
          <a:p>
            <a:pPr marL="0" indent="0">
              <a:buNone/>
            </a:pPr>
            <a:r>
              <a:rPr lang="en-US" sz="8800" dirty="0">
                <a:solidFill>
                  <a:schemeClr val="tx1"/>
                </a:solidFill>
                <a:latin typeface="Anton" pitchFamily="34" charset="0"/>
                <a:ea typeface="Anton" pitchFamily="34" charset="-122"/>
                <a:cs typeface="Anton" pitchFamily="34" charset="-120"/>
              </a:rPr>
              <a:t>THANK YOU</a:t>
            </a:r>
            <a:endParaRPr lang="en-US" sz="8800" dirty="0"/>
          </a:p>
        </p:txBody>
      </p:sp>
      <p:sp>
        <p:nvSpPr>
          <p:cNvPr id="18" name="Text 16"/>
          <p:cNvSpPr txBox="1"/>
          <p:nvPr/>
        </p:nvSpPr>
        <p:spPr>
          <a:xfrm>
            <a:off x="868680" y="3520440"/>
            <a:ext cx="5486400" cy="731520"/>
          </a:xfrm>
          <a:prstGeom prst="rect">
            <a:avLst/>
          </a:prstGeom>
          <a:noFill/>
          <a:ln/>
        </p:spPr>
        <p:txBody>
          <a:bodyPr wrap="square" lIns="0" tIns="0" rIns="0" bIns="0" rtlCol="0" anchor="ctr"/>
          <a:lstStyle/>
          <a:p>
            <a:pPr marL="0" indent="0">
              <a:buNone/>
            </a:pPr>
            <a:r>
              <a:rPr lang="en-US" sz="4000" dirty="0">
                <a:solidFill>
                  <a:schemeClr val="bg1"/>
                </a:solidFill>
                <a:latin typeface="Anton" pitchFamily="34" charset="0"/>
                <a:ea typeface="Anton" pitchFamily="34" charset="-122"/>
                <a:cs typeface="Anton" pitchFamily="34" charset="-120"/>
              </a:rPr>
              <a:t>QUESTIONS?</a:t>
            </a:r>
            <a:endParaRPr lang="en-US" sz="4000" dirty="0"/>
          </a:p>
        </p:txBody>
      </p:sp>
      <p:sp>
        <p:nvSpPr>
          <p:cNvPr id="19" name="Text 17"/>
          <p:cNvSpPr txBox="1"/>
          <p:nvPr/>
        </p:nvSpPr>
        <p:spPr>
          <a:xfrm>
            <a:off x="6103620" y="2143760"/>
            <a:ext cx="5074920" cy="1737360"/>
          </a:xfrm>
          <a:prstGeom prst="rect">
            <a:avLst/>
          </a:prstGeom>
          <a:noFill/>
          <a:ln/>
        </p:spPr>
        <p:txBody>
          <a:bodyPr wrap="square" lIns="0" tIns="0" rIns="0" bIns="0" rtlCol="0" anchor="t"/>
          <a:lstStyle/>
          <a:p>
            <a:pPr marL="0" indent="0">
              <a:spcAft>
                <a:spcPts val="400"/>
              </a:spcAft>
              <a:buNone/>
            </a:pPr>
            <a:r>
              <a:rPr lang="en-US" sz="2000" b="1" kern="0" spc="200" dirty="0">
                <a:solidFill>
                  <a:schemeClr val="tx1"/>
                </a:solidFill>
              </a:rPr>
              <a:t>TRY IT LIVE</a:t>
            </a:r>
            <a:endParaRPr lang="en-US" sz="2000" dirty="0"/>
          </a:p>
          <a:p>
            <a:pPr marL="0" indent="0">
              <a:spcAft>
                <a:spcPts val="1000"/>
              </a:spcAft>
              <a:buNone/>
            </a:pPr>
            <a:r>
              <a:rPr lang="en-US" sz="2000" b="1" dirty="0">
                <a:solidFill>
                  <a:schemeClr val="bg1"/>
                </a:solidFill>
              </a:rPr>
              <a:t>raktsetu-ubvx.onrender.com</a:t>
            </a:r>
            <a:endParaRPr lang="en-US" sz="2000" dirty="0"/>
          </a:p>
          <a:p>
            <a:pPr marL="0" indent="0">
              <a:buNone/>
            </a:pPr>
            <a:r>
              <a:rPr lang="en-US" sz="2000" dirty="0">
                <a:solidFill>
                  <a:schemeClr val="tx1"/>
                </a:solidFill>
              </a:rPr>
              <a:t>Surprise finding: better forecasts did not mean better plans; judge them by the waste they prevent.</a:t>
            </a:r>
          </a:p>
          <a:p>
            <a:pPr marL="0" indent="0">
              <a:buNone/>
            </a:pPr>
            <a:endParaRPr lang="en-US" sz="1500" dirty="0"/>
          </a:p>
          <a:p>
            <a:pPr marL="0" indent="0">
              <a:buNone/>
            </a:pPr>
            <a:endParaRPr lang="en-US" sz="15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8A847C"/>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RaktSetu">
  <a:themeElements>
    <a:clrScheme name="RaktSetu">
      <a:dk1>
        <a:srgbClr val="111111"/>
      </a:dk1>
      <a:lt1>
        <a:srgbClr val="FFFFFF"/>
      </a:lt1>
      <a:dk2>
        <a:srgbClr val="1D1D1D"/>
      </a:dk2>
      <a:lt2>
        <a:srgbClr val="EF3E2B"/>
      </a:lt2>
      <a:accent1>
        <a:srgbClr val="EF3E2B"/>
      </a:accent1>
      <a:accent2>
        <a:srgbClr val="FFFFFF"/>
      </a:accent2>
      <a:accent3>
        <a:srgbClr val="FF7A66"/>
      </a:accent3>
      <a:accent4>
        <a:srgbClr val="1D1D1D"/>
      </a:accent4>
      <a:accent5>
        <a:srgbClr val="CFC8BE"/>
      </a:accent5>
      <a:accent6>
        <a:srgbClr val="333333"/>
      </a:accent6>
      <a:hlink>
        <a:srgbClr val="FF7A66"/>
      </a:hlink>
      <a:folHlink>
        <a:srgbClr val="CFC8BE"/>
      </a:folHlink>
    </a:clrScheme>
    <a:fontScheme name="RaktSetu">
      <a:majorFont>
        <a:latin typeface="Anto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2983</Words>
  <Application>Microsoft Office PowerPoint</Application>
  <PresentationFormat>Widescreen</PresentationFormat>
  <Paragraphs>283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Anton</vt:lpstr>
      <vt:lpstr>Arial</vt:lpstr>
      <vt:lpstr>Calibri</vt:lpstr>
      <vt:lpstr>Consolas</vt:lpstr>
      <vt:lpstr>RaktSetu</vt:lpstr>
      <vt:lpstr>PowerPoint Presentation</vt:lpstr>
      <vt:lpstr>BLOOD EXPIRES IN THE WRONG PLACE</vt:lpstr>
      <vt:lpstr>FIND IT. MOVE IT. PROVE IT.</vt:lpstr>
      <vt:lpstr>THE TOOLS AND WHAT EACH ONE DOES</vt:lpstr>
      <vt:lpstr>ONE GLANCE: STOCK AND RISK</vt:lpstr>
      <vt:lpstr>BLOOD WHEN A PATIENT NEEDS IT</vt:lpstr>
      <vt:lpstr>OBJECT-ORIENTED BY DESIGN</vt:lpstr>
      <vt:lpstr>ONE EXPIRY RULE FOR EVERY KIND OF BLOOD</vt:lpstr>
      <vt:lpstr>STOCK CHANGES ONLY THROUGH ITS METHODS</vt:lpstr>
      <vt:lpstr>SHARED STATE WRITTEN ONCE</vt:lpstr>
      <vt:lpstr>PROGRAM TO A CONTRACT</vt:lpstr>
      <vt:lpstr>THE ALGORITHM IS FIXED, THE DECISIONS ARE NOT</vt:lpstr>
      <vt:lpstr>BUSINESS RULES AS CHECKED EXCEPTIONS</vt:lpstr>
      <vt:lpstr>THE RIGHT TYPES AND DATA STRUCTURES</vt:lpstr>
      <vt:lpstr>MANY USERS, ONE LOCK, ONE RECORD</vt:lpstr>
      <vt:lpstr>SUPPORTING RESEARCH</vt:lpstr>
      <vt:lpstr>TESTED, FAST, AND LIVE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RaktSetu: expiry-aware blood redistribution</dc:title>
  <dc:subject>PptxGenJS Presentation</dc:subject>
  <dc:creator>Pritika Khandelwal</dc:creator>
  <cp:lastModifiedBy>Pritika Khandelwal</cp:lastModifiedBy>
  <cp:revision>2</cp:revision>
  <dcterms:created xsi:type="dcterms:W3CDTF">2026-10-29T03:59:28Z</dcterms:created>
  <dcterms:modified xsi:type="dcterms:W3CDTF">2026-10-29T04:29:23Z</dcterms:modified>
</cp:coreProperties>
</file>
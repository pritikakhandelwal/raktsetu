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37188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presenting RaktSetu, which means "blood bridge". It finds blood units likely to expire unused and recommends moving them, with staff approval, to centres and hospitals that can use them. I built it in Java as my OOP course project, then took it further into a working web application and a research study.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Blood components have short shelf lives: platelets only five days. Supply follows donation camps, not where demand is, so one centre holds units it cannot use in time while another runs short. My roadmap research found about 17.43 lakh units discarded in 2025, and that 46 percent of discards had expired (cite the original source here). e-Raktkosh, India's national system, shows how much stock each blood bank holds, but not which units will be wasted or where they should go. That is the gap RaktSetu fills, and every transfer still needs staff approval.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RaktSetu has three roles. The administrator sets up the network, adds facilities and people, and approves transfers. Blood-centre staff log collections and report stock. Hospital staff raise requests and follow them to delivery. The same Java engine runs behind a console app, which was the original course deliverable, a full web application, and a research simulator.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is a modular monolith: seven Maven modules plus a React front end. At the bottom is the domain model, which has no dependencies. Above it is the decision engine. The web app, the console app and the research tools all sit on top and use the same engine, so they always make the same decisions. The web server keeps the network in memory for speed but saves every change to the database in one transaction.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OOP pillar appears in working code, for a reason in the domain. BloodComponent and Facility are abstract. The inventory encapsulates stock in a sorted set and only changes through its methods. Four component types inherit from BloodComponent, and all business errors inherit from RaktSetuException. Each subclass supplies its own shelf life, so one expiry calculation works for every component. Beyond the pillars: Strategy lets the administrator pick a planning policy and lets me add a forecaster or SMS provider as one new class; Template Method fixes the planning algorithm; the transactional outbox makes alerts reliable.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algorithms carry the system. When a hospital asks for blood, the engine searches centres within 90 minutes, prefers the same blood group, keeps O negative as a last resort, and takes the soonest-expiring units first; it is all or nothing. Every day it sorts each centre's units by expiry: if the k-th unit will expire before the centre is expected to use k units, it is at risk, and it is planned to a centre that can use it, with staff approval. And every movement goes on a hash-chained audit log, so editing history is detected; the health check reports the server as down if that happens.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SCRIPT (about 5 minutes). Before: delete the raktsetu-demo folder, start the app with: java -jar raktsetu-server/target/raktsetu-server.jar --raktsetu.data-dir=raktsetu-demo, open http://localhost:8080 in two browser windows (one normal, one private). 1) Setup: create the administrator (show the password rule). 2) Facilities: add "Regional Blood Centre, Pune" as a Hub, "Storage Centre, Baramati" as a storage centre, and "Sassoon General Hospital, Pune" as a hospital by clicking the map; open a facility to show the road routes worked out automatically. 3) People: create hub staff and hospital staff; point out the one-time password is shown once. 4) In the private window sign in as the hub staff with the one-time password; show the forced password change; on Stock, log 20 units of O+ red cells, and one bag with a donation number; click Report today's stock. 5) Sign out, sign in as hospital staff (change password), raise an EMERGENCY request for 2 units of O+ red cells; show it is reserved and the hub is notified (bell). 6) As hub staff, dispatch it; as hospital staff, confirm receipt. 7) As admin: Overview shows units at risk; Transfers: generate an expiry-first plan and approve one; Audit shows every step with its hash, and "Audit log intact". Fallback if anything fails: show the console app with java -jar raktsetu-cli/target/raktsetu.jar, option 11 runs the 30-day simulation.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 is enforced: 195 automated tests, and the build fails if any module drops below 80 percent line coverage. GitHub Actions runs everything on two Java versions and against PostgreSQL. I then profiled the system at a thousand blood centres. A TreeSet that keeps stock in expiry order, an index of nearby centres, and a readers-writer lock made requests 66 times faster, network planning 47 times faster, and the server 4.4 times faster under load. I re-ran the simulation before and after and the output was byte-for-byte identical, so no decision changed.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measure the effect, I built a digital twin that simulates a Pune district network day by day, keeping true stock separate from what the planner sees. Across 20 paired runs, moving at-risk units cut expired units by about 60 percent and halved unmet demand. I also compared six demand forecasters, and the most accurate ones did not produce better plans: the differences were under 20 units. So forecasts for this decision should be judged by outcomes. These are simulation results on a synthetic network; calibrating with real data is the next step.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 clear about limits: the network is synthetic and the demand patterns are illustrative, so the 60 percent figure shows direction, not a calibrated national number, and the compatibility rules must be checked against NACO and NBTC guidance before any clinical use. Next I want to calibrate with real data, study what happens when stock reports are stale, add barcode scanning and regional servers, and write the study up as a paper. Thank you; I am happy to take questions or show any part again.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1E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315709"/>
            <a:ext cx="10566400" cy="502907"/>
          </a:xfrm>
          <a:prstGeom prst="rect">
            <a:avLst/>
          </a:prstGeom>
          <a:noFill/>
          <a:ln/>
        </p:spPr>
        <p:txBody>
          <a:bodyPr wrap="square" lIns="0" tIns="0" rIns="0" bIns="0" rtlCol="0" anchor="t"/>
          <a:lstStyle>
            <a:lvl1pPr marL="0" indent="0" algn="l">
              <a:lnSpc>
                <a:spcPct val="115000"/>
              </a:lnSpc>
              <a:buNone/>
              <a:defRPr lang="en-US" sz="3600" dirty="0">
                <a:solidFill>
                  <a:srgbClr val="121212"/>
                </a:solidFill>
                <a:latin typeface="Anton" pitchFamily="34" charset="0"/>
                <a:ea typeface="Anton" pitchFamily="34" charset="-122"/>
                <a:cs typeface="Anton"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2123416"/>
            <a:ext cx="10566400" cy="3921784"/>
          </a:xfrm>
          <a:prstGeom prst="rect">
            <a:avLst/>
          </a:prstGeom>
          <a:noFill/>
          <a:ln/>
        </p:spPr>
        <p:txBody>
          <a:bodyPr wrap="square" lIns="0" tIns="0" rIns="0" bIns="0" rtlCol="0" anchor="t"/>
          <a:lstStyle>
            <a:lvl1pPr marL="0" indent="0" algn="l">
              <a:lnSpc>
                <a:spcPct val="140000"/>
              </a:lnSpc>
              <a:buNone/>
              <a:defRPr lang="en-US" sz="1600" dirty="0">
                <a:solidFill>
                  <a:srgbClr val="121212"/>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F3E2B"/>
        </a:solidFill>
        <a:effectLst/>
      </p:bgPr>
    </p:bg>
    <p:spTree>
      <p:nvGrpSpPr>
        <p:cNvPr id="1" name=""/>
        <p:cNvGrpSpPr/>
        <p:nvPr/>
      </p:nvGrpSpPr>
      <p:grpSpPr>
        <a:xfrm>
          <a:off x="0" y="0"/>
          <a:ext cx="0" cy="0"/>
          <a:chOff x="0" y="0"/>
          <a:chExt cx="0" cy="0"/>
        </a:xfrm>
      </p:grpSpPr>
      <p:sp>
        <p:nvSpPr>
          <p:cNvPr id="2" name="Text 0"/>
          <p:cNvSpPr/>
          <p:nvPr/>
        </p:nvSpPr>
        <p:spPr>
          <a:xfrm>
            <a:off x="812800" y="2142179"/>
            <a:ext cx="4813808" cy="274307"/>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121212"/>
                </a:solidFill>
                <a:latin typeface="Inter" pitchFamily="34" charset="0"/>
                <a:ea typeface="Inter" pitchFamily="34" charset="-122"/>
                <a:cs typeface="Inter" pitchFamily="34" charset="-120"/>
              </a:rPr>
              <a:t>EXPIRY-AWARE BLOOD REDISTRIBUTION</a:t>
            </a:r>
            <a:endParaRPr lang="en-US" sz="1400" dirty="0"/>
          </a:p>
        </p:txBody>
      </p:sp>
      <p:sp>
        <p:nvSpPr>
          <p:cNvPr id="3" name="Text 1"/>
          <p:cNvSpPr>
            <a:spLocks noGrp="1"/>
          </p:cNvSpPr>
          <p:nvPr>
            <p:ph type="title"/>
          </p:nvPr>
        </p:nvSpPr>
        <p:spPr>
          <a:xfrm>
            <a:off x="812800" y="2768600"/>
            <a:ext cx="5283200" cy="1394460"/>
          </a:xfrm>
          <a:prstGeom prst="rect">
            <a:avLst/>
          </a:prstGeom>
          <a:noFill/>
          <a:ln/>
        </p:spPr>
        <p:txBody>
          <a:bodyPr wrap="square" lIns="0" tIns="0" rIns="0" bIns="0" rtlCol="0" anchor="t">
            <a:normAutofit/>
          </a:bodyPr>
          <a:lstStyle/>
          <a:p>
            <a:pPr marL="0" indent="0" algn="l">
              <a:lnSpc>
                <a:spcPts val="10000"/>
              </a:lnSpc>
              <a:buNone/>
            </a:pPr>
            <a:r>
              <a:rPr lang="en-US" sz="10000" b="0" i="0" dirty="0">
                <a:solidFill>
                  <a:srgbClr val="121212"/>
                </a:solidFill>
                <a:latin typeface="Anton" pitchFamily="34" charset="0"/>
                <a:ea typeface="Anton" pitchFamily="34" charset="-122"/>
                <a:cs typeface="Anton" pitchFamily="34" charset="-120"/>
              </a:rPr>
              <a:t>RAKTSETU</a:t>
            </a:r>
            <a:endParaRPr lang="en-US" sz="10000" dirty="0"/>
          </a:p>
        </p:txBody>
      </p:sp>
      <p:sp>
        <p:nvSpPr>
          <p:cNvPr id="4" name="Text 2"/>
          <p:cNvSpPr/>
          <p:nvPr/>
        </p:nvSpPr>
        <p:spPr>
          <a:xfrm>
            <a:off x="812800" y="4089400"/>
            <a:ext cx="4813808" cy="528307"/>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21212"/>
                </a:solidFill>
                <a:latin typeface="Anton" pitchFamily="34" charset="0"/>
                <a:ea typeface="Anton" pitchFamily="34" charset="-122"/>
                <a:cs typeface="Anton" pitchFamily="34" charset="-120"/>
              </a:rPr>
              <a:t>EVERY UNIT COUNTS.</a:t>
            </a:r>
            <a:endParaRPr lang="en-US" sz="3600" dirty="0"/>
          </a:p>
        </p:txBody>
      </p:sp>
      <p:sp>
        <p:nvSpPr>
          <p:cNvPr id="5" name="Shape 3"/>
          <p:cNvSpPr/>
          <p:nvPr/>
        </p:nvSpPr>
        <p:spPr>
          <a:xfrm>
            <a:off x="6096000" y="1891665"/>
            <a:ext cx="5283200" cy="2846070"/>
          </a:xfrm>
          <a:prstGeom prst="roundRect">
            <a:avLst>
              <a:gd name="adj" fmla="val 4520"/>
            </a:avLst>
          </a:prstGeom>
          <a:solidFill>
            <a:srgbClr val="121212"/>
          </a:solidFill>
          <a:ln/>
        </p:spPr>
        <p:txBody>
          <a:bodyPr/>
          <a:lstStyle/>
          <a:p>
            <a:endParaRPr lang="en-IN" dirty="0"/>
          </a:p>
        </p:txBody>
      </p:sp>
      <p:sp>
        <p:nvSpPr>
          <p:cNvPr id="6" name="Text 4"/>
          <p:cNvSpPr/>
          <p:nvPr/>
        </p:nvSpPr>
        <p:spPr>
          <a:xfrm>
            <a:off x="6400800" y="2184400"/>
            <a:ext cx="4813808" cy="711200"/>
          </a:xfrm>
          <a:prstGeom prst="rect">
            <a:avLst/>
          </a:prstGeom>
          <a:noFill/>
          <a:ln/>
        </p:spPr>
        <p:txBody>
          <a:bodyPr wrap="square" lIns="0" tIns="0" rIns="0" bIns="0" rtlCol="0" anchor="t">
            <a:normAutofit/>
          </a:bodyPr>
          <a:lstStyle/>
          <a:p>
            <a:pPr marL="0" indent="0" algn="l">
              <a:lnSpc>
                <a:spcPts val="2700"/>
              </a:lnSpc>
              <a:buNone/>
            </a:pPr>
            <a:r>
              <a:rPr lang="en-US" sz="2000" dirty="0">
                <a:solidFill>
                  <a:srgbClr val="F4F1EA"/>
                </a:solidFill>
                <a:latin typeface="Inter" pitchFamily="34" charset="0"/>
                <a:ea typeface="Inter" pitchFamily="34" charset="-122"/>
                <a:cs typeface="Inter" pitchFamily="34" charset="-120"/>
              </a:rPr>
              <a:t>Finding blood that will expire unused, and moving it to where it will be used.</a:t>
            </a:r>
            <a:endParaRPr lang="en-US" sz="2000" dirty="0"/>
          </a:p>
        </p:txBody>
      </p:sp>
      <p:sp>
        <p:nvSpPr>
          <p:cNvPr id="7" name="Text 5"/>
          <p:cNvSpPr/>
          <p:nvPr/>
        </p:nvSpPr>
        <p:spPr>
          <a:xfrm>
            <a:off x="6400800" y="3104832"/>
            <a:ext cx="4813808" cy="1394460"/>
          </a:xfrm>
          <a:prstGeom prst="rect">
            <a:avLst/>
          </a:prstGeom>
          <a:noFill/>
          <a:ln/>
        </p:spPr>
        <p:txBody>
          <a:bodyPr wrap="square" lIns="0" tIns="0" rIns="0" bIns="0" rtlCol="0" anchor="t">
            <a:normAutofit/>
          </a:bodyPr>
          <a:lstStyle/>
          <a:p>
            <a:pPr marL="0" indent="0" algn="l">
              <a:lnSpc>
                <a:spcPts val="2100"/>
              </a:lnSpc>
              <a:buNone/>
            </a:pPr>
            <a:r>
              <a:rPr lang="en-US" sz="1600" dirty="0">
                <a:solidFill>
                  <a:srgbClr val="BDB8AE"/>
                </a:solidFill>
                <a:latin typeface="Inter" pitchFamily="34" charset="0"/>
                <a:ea typeface="Inter" pitchFamily="34" charset="-122"/>
                <a:cs typeface="Inter" pitchFamily="34" charset="-120"/>
              </a:rPr>
              <a:t>OOP in Java course project</a:t>
            </a:r>
            <a:endParaRPr lang="en-US" sz="1600" dirty="0"/>
          </a:p>
          <a:p>
            <a:pPr marL="285750" indent="-285750" algn="l">
              <a:lnSpc>
                <a:spcPts val="2100"/>
              </a:lnSpc>
              <a:buFont typeface="Wingdings" panose="05000000000000000000" pitchFamily="2" charset="2"/>
              <a:buChar char="è"/>
            </a:pPr>
            <a:r>
              <a:rPr lang="en-US" sz="1600" dirty="0">
                <a:solidFill>
                  <a:srgbClr val="BDB8AE"/>
                </a:solidFill>
                <a:latin typeface="Inter" pitchFamily="34" charset="0"/>
                <a:ea typeface="Inter" pitchFamily="34" charset="-122"/>
              </a:rPr>
              <a:t>Pritika Khandelwal – R037</a:t>
            </a:r>
          </a:p>
          <a:p>
            <a:pPr marL="0" indent="0" algn="l">
              <a:lnSpc>
                <a:spcPts val="2100"/>
              </a:lnSpc>
              <a:buNone/>
            </a:pPr>
            <a:r>
              <a:rPr lang="en-US" sz="1600" dirty="0">
                <a:solidFill>
                  <a:srgbClr val="BDB8AE"/>
                </a:solidFill>
                <a:latin typeface="Inter" pitchFamily="34" charset="0"/>
                <a:ea typeface="Inter" pitchFamily="34" charset="-122"/>
                <a:cs typeface="Inter" pitchFamily="34" charset="-120"/>
              </a:rPr>
              <a:t>MBA Tech AI · MPSTME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07"/>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C4271A"/>
                </a:solidFill>
                <a:latin typeface="Inter" pitchFamily="34" charset="0"/>
                <a:ea typeface="Inter" pitchFamily="34" charset="-122"/>
                <a:cs typeface="Inter" pitchFamily="34" charset="-120"/>
              </a:rPr>
              <a:t>THE PROBLEM</a:t>
            </a:r>
            <a:endParaRPr lang="en-US" sz="1400" dirty="0"/>
          </a:p>
        </p:txBody>
      </p:sp>
      <p:sp>
        <p:nvSpPr>
          <p:cNvPr id="3" name="Text 1"/>
          <p:cNvSpPr>
            <a:spLocks noGrp="1"/>
          </p:cNvSpPr>
          <p:nvPr>
            <p:ph type="title"/>
          </p:nvPr>
        </p:nvSpPr>
        <p:spPr>
          <a:xfrm>
            <a:off x="812800" y="1315707"/>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21212"/>
                </a:solidFill>
                <a:latin typeface="Anton" pitchFamily="34" charset="0"/>
                <a:ea typeface="Anton" pitchFamily="34" charset="-122"/>
                <a:cs typeface="Anton" pitchFamily="34" charset="-120"/>
              </a:rPr>
              <a:t>BLOOD EXPIRES IN THE WRONG PLACE</a:t>
            </a:r>
            <a:endParaRPr lang="en-US" sz="3600" dirty="0"/>
          </a:p>
        </p:txBody>
      </p:sp>
      <p:sp>
        <p:nvSpPr>
          <p:cNvPr id="4" name="Shape 2"/>
          <p:cNvSpPr/>
          <p:nvPr/>
        </p:nvSpPr>
        <p:spPr>
          <a:xfrm>
            <a:off x="815975" y="2075789"/>
            <a:ext cx="3380317" cy="1642930"/>
          </a:xfrm>
          <a:prstGeom prst="roundRect">
            <a:avLst>
              <a:gd name="adj" fmla="val 5991"/>
            </a:avLst>
          </a:prstGeom>
          <a:solidFill>
            <a:srgbClr val="FBFAF6"/>
          </a:solidFill>
          <a:ln w="6350">
            <a:solidFill>
              <a:srgbClr val="DDD6C8"/>
            </a:solidFill>
            <a:prstDash val="solid"/>
          </a:ln>
        </p:spPr>
        <p:txBody>
          <a:bodyPr/>
          <a:lstStyle/>
          <a:p>
            <a:endParaRPr lang="en-IN"/>
          </a:p>
        </p:txBody>
      </p:sp>
      <p:sp>
        <p:nvSpPr>
          <p:cNvPr id="5" name="Text 3"/>
          <p:cNvSpPr/>
          <p:nvPr/>
        </p:nvSpPr>
        <p:spPr>
          <a:xfrm>
            <a:off x="1071033" y="2403634"/>
            <a:ext cx="2956306" cy="635000"/>
          </a:xfrm>
          <a:prstGeom prst="rect">
            <a:avLst/>
          </a:prstGeom>
          <a:noFill/>
          <a:ln/>
        </p:spPr>
        <p:txBody>
          <a:bodyPr wrap="square" lIns="0" tIns="0" rIns="0" bIns="0" rtlCol="0" anchor="t">
            <a:normAutofit/>
          </a:bodyPr>
          <a:lstStyle/>
          <a:p>
            <a:pPr marL="0" indent="0" algn="l">
              <a:lnSpc>
                <a:spcPts val="4800"/>
              </a:lnSpc>
              <a:buNone/>
            </a:pPr>
            <a:r>
              <a:rPr lang="en-US" sz="4800" dirty="0">
                <a:solidFill>
                  <a:srgbClr val="C4271A"/>
                </a:solidFill>
                <a:latin typeface="Anton" pitchFamily="34" charset="0"/>
                <a:ea typeface="Anton" pitchFamily="34" charset="-122"/>
                <a:cs typeface="Anton" pitchFamily="34" charset="-120"/>
              </a:rPr>
              <a:t>5 days</a:t>
            </a:r>
            <a:endParaRPr lang="en-US" sz="4800" dirty="0"/>
          </a:p>
        </p:txBody>
      </p:sp>
      <p:sp>
        <p:nvSpPr>
          <p:cNvPr id="6" name="Text 4"/>
          <p:cNvSpPr/>
          <p:nvPr/>
        </p:nvSpPr>
        <p:spPr>
          <a:xfrm>
            <a:off x="1071033" y="3125854"/>
            <a:ext cx="2956306" cy="30773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63F"/>
                </a:solidFill>
                <a:latin typeface="Inter" pitchFamily="34" charset="0"/>
                <a:ea typeface="Inter" pitchFamily="34" charset="-122"/>
                <a:cs typeface="Inter" pitchFamily="34" charset="-120"/>
              </a:rPr>
              <a:t>Shelf life of platelets; red cells last 42</a:t>
            </a:r>
            <a:endParaRPr lang="en-US" sz="1400" dirty="0"/>
          </a:p>
        </p:txBody>
      </p:sp>
      <p:sp>
        <p:nvSpPr>
          <p:cNvPr id="7" name="Shape 5"/>
          <p:cNvSpPr/>
          <p:nvPr/>
        </p:nvSpPr>
        <p:spPr>
          <a:xfrm>
            <a:off x="4405842" y="2075789"/>
            <a:ext cx="3380317" cy="1642930"/>
          </a:xfrm>
          <a:prstGeom prst="roundRect">
            <a:avLst>
              <a:gd name="adj" fmla="val 5991"/>
            </a:avLst>
          </a:prstGeom>
          <a:solidFill>
            <a:srgbClr val="FBFAF6"/>
          </a:solidFill>
          <a:ln w="6350">
            <a:solidFill>
              <a:srgbClr val="DDD6C8"/>
            </a:solidFill>
            <a:prstDash val="solid"/>
          </a:ln>
        </p:spPr>
        <p:txBody>
          <a:bodyPr/>
          <a:lstStyle/>
          <a:p>
            <a:endParaRPr lang="en-IN"/>
          </a:p>
        </p:txBody>
      </p:sp>
      <p:sp>
        <p:nvSpPr>
          <p:cNvPr id="8" name="Text 6"/>
          <p:cNvSpPr/>
          <p:nvPr/>
        </p:nvSpPr>
        <p:spPr>
          <a:xfrm>
            <a:off x="4660900" y="2403634"/>
            <a:ext cx="2956306" cy="635000"/>
          </a:xfrm>
          <a:prstGeom prst="rect">
            <a:avLst/>
          </a:prstGeom>
          <a:noFill/>
          <a:ln/>
        </p:spPr>
        <p:txBody>
          <a:bodyPr wrap="square" lIns="0" tIns="0" rIns="0" bIns="0" rtlCol="0" anchor="t">
            <a:normAutofit/>
          </a:bodyPr>
          <a:lstStyle/>
          <a:p>
            <a:pPr marL="0" indent="0" algn="l">
              <a:lnSpc>
                <a:spcPts val="4800"/>
              </a:lnSpc>
              <a:buNone/>
            </a:pPr>
            <a:r>
              <a:rPr lang="en-US" sz="4800" dirty="0">
                <a:solidFill>
                  <a:srgbClr val="C4271A"/>
                </a:solidFill>
                <a:latin typeface="Anton" pitchFamily="34" charset="0"/>
                <a:ea typeface="Anton" pitchFamily="34" charset="-122"/>
                <a:cs typeface="Anton" pitchFamily="34" charset="-120"/>
              </a:rPr>
              <a:t>17.43 lakh</a:t>
            </a:r>
            <a:endParaRPr lang="en-US" sz="4800" dirty="0"/>
          </a:p>
        </p:txBody>
      </p:sp>
      <p:sp>
        <p:nvSpPr>
          <p:cNvPr id="9" name="Text 7"/>
          <p:cNvSpPr/>
          <p:nvPr/>
        </p:nvSpPr>
        <p:spPr>
          <a:xfrm>
            <a:off x="4660900" y="3114423"/>
            <a:ext cx="2956306"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63F"/>
                </a:solidFill>
                <a:latin typeface="Inter" pitchFamily="34" charset="0"/>
                <a:ea typeface="Inter" pitchFamily="34" charset="-122"/>
                <a:cs typeface="Inter" pitchFamily="34" charset="-120"/>
              </a:rPr>
              <a:t>Units discarded in India in 2025 </a:t>
            </a:r>
            <a:endParaRPr lang="en-US" sz="1400" dirty="0"/>
          </a:p>
        </p:txBody>
      </p:sp>
      <p:sp>
        <p:nvSpPr>
          <p:cNvPr id="10" name="Shape 8"/>
          <p:cNvSpPr/>
          <p:nvPr/>
        </p:nvSpPr>
        <p:spPr>
          <a:xfrm>
            <a:off x="7995709" y="2075789"/>
            <a:ext cx="3380317" cy="1642930"/>
          </a:xfrm>
          <a:prstGeom prst="roundRect">
            <a:avLst>
              <a:gd name="adj" fmla="val 5991"/>
            </a:avLst>
          </a:prstGeom>
          <a:solidFill>
            <a:srgbClr val="FBFAF6"/>
          </a:solidFill>
          <a:ln w="6350">
            <a:solidFill>
              <a:srgbClr val="DDD6C8"/>
            </a:solidFill>
            <a:prstDash val="solid"/>
          </a:ln>
        </p:spPr>
        <p:txBody>
          <a:bodyPr/>
          <a:lstStyle/>
          <a:p>
            <a:endParaRPr lang="en-IN"/>
          </a:p>
        </p:txBody>
      </p:sp>
      <p:sp>
        <p:nvSpPr>
          <p:cNvPr id="11" name="Text 9"/>
          <p:cNvSpPr/>
          <p:nvPr/>
        </p:nvSpPr>
        <p:spPr>
          <a:xfrm>
            <a:off x="8250767" y="2379729"/>
            <a:ext cx="2956306" cy="635000"/>
          </a:xfrm>
          <a:prstGeom prst="rect">
            <a:avLst/>
          </a:prstGeom>
          <a:noFill/>
          <a:ln/>
        </p:spPr>
        <p:txBody>
          <a:bodyPr wrap="square" lIns="0" tIns="0" rIns="0" bIns="0" rtlCol="0" anchor="t">
            <a:normAutofit/>
          </a:bodyPr>
          <a:lstStyle/>
          <a:p>
            <a:pPr marL="0" indent="0" algn="l">
              <a:lnSpc>
                <a:spcPts val="4800"/>
              </a:lnSpc>
              <a:buNone/>
            </a:pPr>
            <a:r>
              <a:rPr lang="en-US" sz="4800" dirty="0">
                <a:solidFill>
                  <a:srgbClr val="C4271A"/>
                </a:solidFill>
                <a:latin typeface="Anton" pitchFamily="34" charset="0"/>
                <a:ea typeface="Anton" pitchFamily="34" charset="-122"/>
                <a:cs typeface="Anton" pitchFamily="34" charset="-120"/>
              </a:rPr>
              <a:t>46%</a:t>
            </a:r>
            <a:endParaRPr lang="en-US" sz="4800" dirty="0"/>
          </a:p>
        </p:txBody>
      </p:sp>
      <p:sp>
        <p:nvSpPr>
          <p:cNvPr id="12" name="Text 10"/>
          <p:cNvSpPr/>
          <p:nvPr/>
        </p:nvSpPr>
        <p:spPr>
          <a:xfrm>
            <a:off x="8250767" y="3093654"/>
            <a:ext cx="2956306"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63F"/>
                </a:solidFill>
                <a:latin typeface="Inter" pitchFamily="34" charset="0"/>
                <a:ea typeface="Inter" pitchFamily="34" charset="-122"/>
                <a:cs typeface="Inter" pitchFamily="34" charset="-120"/>
              </a:rPr>
              <a:t>Of those discards had expired </a:t>
            </a:r>
            <a:endParaRPr lang="en-US" sz="1400" dirty="0"/>
          </a:p>
        </p:txBody>
      </p:sp>
      <p:sp>
        <p:nvSpPr>
          <p:cNvPr id="13" name="Text 11"/>
          <p:cNvSpPr/>
          <p:nvPr/>
        </p:nvSpPr>
        <p:spPr>
          <a:xfrm>
            <a:off x="815975" y="3979069"/>
            <a:ext cx="10560050" cy="977371"/>
          </a:xfrm>
          <a:prstGeom prst="roundRect">
            <a:avLst>
              <a:gd name="adj" fmla="val 10070"/>
            </a:avLst>
          </a:prstGeom>
          <a:solidFill>
            <a:srgbClr val="FBFAF6"/>
          </a:solidFill>
          <a:ln w="6350">
            <a:solidFill>
              <a:srgbClr val="DDD6C8"/>
            </a:solidFill>
            <a:prstDash val="solid"/>
          </a:ln>
        </p:spPr>
        <p:txBody>
          <a:bodyPr wrap="square" lIns="226231" tIns="175431" rIns="0" bIns="150031" rtlCol="0" anchor="t">
            <a:normAutofit/>
          </a:bodyPr>
          <a:lstStyle/>
          <a:p>
            <a:pPr marL="0" indent="0" algn="l">
              <a:lnSpc>
                <a:spcPts val="2240"/>
              </a:lnSpc>
              <a:buNone/>
            </a:pPr>
            <a:r>
              <a:rPr lang="en-US" sz="1600" b="1" dirty="0">
                <a:solidFill>
                  <a:srgbClr val="121212"/>
                </a:solidFill>
                <a:latin typeface="Inter" pitchFamily="34" charset="0"/>
                <a:ea typeface="Inter" pitchFamily="34" charset="-122"/>
                <a:cs typeface="Inter" pitchFamily="34" charset="-120"/>
              </a:rPr>
              <a:t>The gap:</a:t>
            </a:r>
            <a:r>
              <a:rPr lang="en-US" sz="1600" dirty="0">
                <a:solidFill>
                  <a:srgbClr val="121212"/>
                </a:solidFill>
                <a:latin typeface="Inter" pitchFamily="34" charset="0"/>
                <a:ea typeface="Inter" pitchFamily="34" charset="-122"/>
                <a:cs typeface="Inter" pitchFamily="34" charset="-120"/>
              </a:rPr>
              <a:t> e-Raktkosh shows where blood is. RaktSetu shows </a:t>
            </a:r>
            <a:r>
              <a:rPr lang="en-US" sz="1600" b="1" dirty="0">
                <a:solidFill>
                  <a:srgbClr val="121212"/>
                </a:solidFill>
                <a:latin typeface="Inter" pitchFamily="34" charset="0"/>
                <a:ea typeface="Inter" pitchFamily="34" charset="-122"/>
                <a:cs typeface="Inter" pitchFamily="34" charset="-120"/>
              </a:rPr>
              <a:t>which units will expire unused, and where they should go now</a:t>
            </a:r>
            <a:r>
              <a:rPr lang="en-US" sz="1600" dirty="0">
                <a:solidFill>
                  <a:srgbClr val="121212"/>
                </a:solidFill>
                <a:latin typeface="Inter" pitchFamily="34" charset="0"/>
                <a:ea typeface="Inter" pitchFamily="34" charset="-122"/>
                <a:cs typeface="Inter" pitchFamily="34" charset="-120"/>
              </a:rPr>
              <a:t>.</a:t>
            </a:r>
            <a:endParaRPr lang="en-US" sz="1600" dirty="0"/>
          </a:p>
        </p:txBody>
      </p:sp>
      <p:sp>
        <p:nvSpPr>
          <p:cNvPr id="14" name="Text 12"/>
          <p:cNvSpPr/>
          <p:nvPr/>
        </p:nvSpPr>
        <p:spPr>
          <a:xfrm>
            <a:off x="812800" y="6238280"/>
            <a:ext cx="10464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65C"/>
                </a:solidFill>
                <a:latin typeface="Inter" pitchFamily="34" charset="0"/>
                <a:ea typeface="Inter" pitchFamily="34" charset="-122"/>
                <a:cs typeface="Inter" pitchFamily="34" charset="-120"/>
              </a:rPr>
              <a:t>Sources: add the original sources for the two national figures before presenting.</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07"/>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C4271A"/>
                </a:solidFill>
                <a:latin typeface="Inter" pitchFamily="34" charset="0"/>
                <a:ea typeface="Inter" pitchFamily="34" charset="-122"/>
                <a:cs typeface="Inter" pitchFamily="34" charset="-120"/>
              </a:rPr>
              <a:t>WHAT WE BUILT</a:t>
            </a:r>
            <a:endParaRPr lang="en-US" sz="1400" dirty="0"/>
          </a:p>
        </p:txBody>
      </p:sp>
      <p:sp>
        <p:nvSpPr>
          <p:cNvPr id="3" name="Text 1"/>
          <p:cNvSpPr>
            <a:spLocks noGrp="1"/>
          </p:cNvSpPr>
          <p:nvPr>
            <p:ph type="title"/>
          </p:nvPr>
        </p:nvSpPr>
        <p:spPr>
          <a:xfrm>
            <a:off x="812800" y="1417307"/>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21212"/>
                </a:solidFill>
                <a:latin typeface="Anton" pitchFamily="34" charset="0"/>
                <a:ea typeface="Anton" pitchFamily="34" charset="-122"/>
                <a:cs typeface="Anton" pitchFamily="34" charset="-120"/>
              </a:rPr>
              <a:t>ONE NETWORK, THREE KINDS OF USER</a:t>
            </a:r>
            <a:endParaRPr lang="en-US" sz="3600" dirty="0"/>
          </a:p>
        </p:txBody>
      </p:sp>
      <p:sp>
        <p:nvSpPr>
          <p:cNvPr id="4" name="Shape 2"/>
          <p:cNvSpPr/>
          <p:nvPr/>
        </p:nvSpPr>
        <p:spPr>
          <a:xfrm>
            <a:off x="815975" y="2278990"/>
            <a:ext cx="3380317" cy="2275417"/>
          </a:xfrm>
          <a:prstGeom prst="roundRect">
            <a:avLst>
              <a:gd name="adj" fmla="val 4326"/>
            </a:avLst>
          </a:prstGeom>
          <a:solidFill>
            <a:srgbClr val="FBFAF6"/>
          </a:solidFill>
          <a:ln w="6350">
            <a:solidFill>
              <a:srgbClr val="DDD6C8"/>
            </a:solidFill>
            <a:prstDash val="solid"/>
          </a:ln>
        </p:spPr>
        <p:txBody>
          <a:bodyPr/>
          <a:lstStyle/>
          <a:p>
            <a:endParaRPr lang="en-IN"/>
          </a:p>
        </p:txBody>
      </p:sp>
      <p:sp>
        <p:nvSpPr>
          <p:cNvPr id="5" name="Text 3"/>
          <p:cNvSpPr/>
          <p:nvPr/>
        </p:nvSpPr>
        <p:spPr>
          <a:xfrm>
            <a:off x="1071033" y="2534047"/>
            <a:ext cx="295630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21212"/>
                </a:solidFill>
                <a:latin typeface="Inter" pitchFamily="34" charset="0"/>
                <a:ea typeface="Inter" pitchFamily="34" charset="-122"/>
                <a:cs typeface="Inter" pitchFamily="34" charset="-120"/>
              </a:rPr>
              <a:t>Administrator</a:t>
            </a:r>
            <a:endParaRPr lang="en-US" sz="2000" dirty="0"/>
          </a:p>
        </p:txBody>
      </p:sp>
      <p:sp>
        <p:nvSpPr>
          <p:cNvPr id="6" name="Text 4"/>
          <p:cNvSpPr/>
          <p:nvPr/>
        </p:nvSpPr>
        <p:spPr>
          <a:xfrm>
            <a:off x="1155615" y="2965847"/>
            <a:ext cx="2864104" cy="1358900"/>
          </a:xfrm>
          <a:prstGeom prst="rect">
            <a:avLst/>
          </a:prstGeom>
          <a:noFill/>
          <a:ln/>
        </p:spPr>
        <p:txBody>
          <a:bodyPr wrap="square" lIns="0" tIns="0" rIns="0" bIns="0" rtlCol="0" anchor="t">
            <a:normAutofit/>
          </a:bodyPr>
          <a:lstStyle/>
          <a:p>
            <a:pPr marL="169418" indent="-169418" algn="l">
              <a:lnSpc>
                <a:spcPts val="2100"/>
              </a:lnSpc>
              <a:buSzPct val="100000"/>
              <a:buChar char="•"/>
            </a:pPr>
            <a:r>
              <a:rPr lang="en-US" sz="1400" dirty="0">
                <a:solidFill>
                  <a:srgbClr val="4A463F"/>
                </a:solidFill>
                <a:latin typeface="Inter" pitchFamily="34" charset="0"/>
                <a:ea typeface="Inter" pitchFamily="34" charset="-122"/>
                <a:cs typeface="Inter" pitchFamily="34" charset="-120"/>
              </a:rPr>
              <a:t>Adds facilities on a map and staff accounts</a:t>
            </a:r>
            <a:endParaRPr lang="en-US" sz="1400" dirty="0"/>
          </a:p>
          <a:p>
            <a:pPr marL="169418" indent="-169418" algn="l">
              <a:lnSpc>
                <a:spcPts val="2100"/>
              </a:lnSpc>
              <a:buSzPct val="100000"/>
              <a:buChar char="•"/>
            </a:pPr>
            <a:r>
              <a:rPr lang="en-US" sz="1400" dirty="0">
                <a:solidFill>
                  <a:srgbClr val="4A463F"/>
                </a:solidFill>
                <a:latin typeface="Inter" pitchFamily="34" charset="0"/>
                <a:ea typeface="Inter" pitchFamily="34" charset="-122"/>
                <a:cs typeface="Inter" pitchFamily="34" charset="-120"/>
              </a:rPr>
              <a:t>Plans transfers and approves each one</a:t>
            </a:r>
            <a:endParaRPr lang="en-US" sz="1400" dirty="0"/>
          </a:p>
          <a:p>
            <a:pPr marL="169418" indent="-169418" algn="l">
              <a:lnSpc>
                <a:spcPts val="2100"/>
              </a:lnSpc>
              <a:buSzPct val="100000"/>
              <a:buChar char="•"/>
            </a:pPr>
            <a:r>
              <a:rPr lang="en-US" sz="1400" dirty="0">
                <a:solidFill>
                  <a:srgbClr val="4A463F"/>
                </a:solidFill>
                <a:latin typeface="Inter" pitchFamily="34" charset="0"/>
                <a:ea typeface="Inter" pitchFamily="34" charset="-122"/>
                <a:cs typeface="Inter" pitchFamily="34" charset="-120"/>
              </a:rPr>
              <a:t>Reads the audit log and alerts</a:t>
            </a:r>
            <a:endParaRPr lang="en-US" sz="1400" dirty="0"/>
          </a:p>
        </p:txBody>
      </p:sp>
      <p:sp>
        <p:nvSpPr>
          <p:cNvPr id="7" name="Shape 5"/>
          <p:cNvSpPr/>
          <p:nvPr/>
        </p:nvSpPr>
        <p:spPr>
          <a:xfrm>
            <a:off x="4405842" y="2278990"/>
            <a:ext cx="3380317" cy="2275417"/>
          </a:xfrm>
          <a:prstGeom prst="roundRect">
            <a:avLst>
              <a:gd name="adj" fmla="val 4326"/>
            </a:avLst>
          </a:prstGeom>
          <a:solidFill>
            <a:srgbClr val="FBFAF6"/>
          </a:solidFill>
          <a:ln w="6350">
            <a:solidFill>
              <a:srgbClr val="DDD6C8"/>
            </a:solidFill>
            <a:prstDash val="solid"/>
          </a:ln>
        </p:spPr>
        <p:txBody>
          <a:bodyPr/>
          <a:lstStyle/>
          <a:p>
            <a:endParaRPr lang="en-IN"/>
          </a:p>
        </p:txBody>
      </p:sp>
      <p:sp>
        <p:nvSpPr>
          <p:cNvPr id="8" name="Text 6"/>
          <p:cNvSpPr/>
          <p:nvPr/>
        </p:nvSpPr>
        <p:spPr>
          <a:xfrm>
            <a:off x="4660900" y="2534047"/>
            <a:ext cx="295630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21212"/>
                </a:solidFill>
                <a:latin typeface="Inter" pitchFamily="34" charset="0"/>
                <a:ea typeface="Inter" pitchFamily="34" charset="-122"/>
                <a:cs typeface="Inter" pitchFamily="34" charset="-120"/>
              </a:rPr>
              <a:t>Blood-centre staff</a:t>
            </a:r>
            <a:endParaRPr lang="en-US" sz="2000" dirty="0"/>
          </a:p>
        </p:txBody>
      </p:sp>
      <p:sp>
        <p:nvSpPr>
          <p:cNvPr id="9" name="Text 7"/>
          <p:cNvSpPr/>
          <p:nvPr/>
        </p:nvSpPr>
        <p:spPr>
          <a:xfrm>
            <a:off x="4745482" y="2965847"/>
            <a:ext cx="2864104" cy="1358900"/>
          </a:xfrm>
          <a:prstGeom prst="rect">
            <a:avLst/>
          </a:prstGeom>
          <a:noFill/>
          <a:ln/>
        </p:spPr>
        <p:txBody>
          <a:bodyPr wrap="square" lIns="0" tIns="0" rIns="0" bIns="0" rtlCol="0" anchor="t">
            <a:normAutofit/>
          </a:bodyPr>
          <a:lstStyle/>
          <a:p>
            <a:pPr marL="169418" indent="-169418" algn="l">
              <a:lnSpc>
                <a:spcPts val="2100"/>
              </a:lnSpc>
              <a:buSzPct val="100000"/>
              <a:buChar char="•"/>
            </a:pPr>
            <a:r>
              <a:rPr lang="en-US" sz="1400" dirty="0">
                <a:solidFill>
                  <a:srgbClr val="4A463F"/>
                </a:solidFill>
                <a:latin typeface="Inter" pitchFamily="34" charset="0"/>
                <a:ea typeface="Inter" pitchFamily="34" charset="-122"/>
                <a:cs typeface="Inter" pitchFamily="34" charset="-120"/>
              </a:rPr>
              <a:t>Log collections by donation number</a:t>
            </a:r>
            <a:endParaRPr lang="en-US" sz="1400" dirty="0"/>
          </a:p>
          <a:p>
            <a:pPr marL="169418" indent="-169418" algn="l">
              <a:lnSpc>
                <a:spcPts val="2100"/>
              </a:lnSpc>
              <a:buSzPct val="100000"/>
              <a:buChar char="•"/>
            </a:pPr>
            <a:r>
              <a:rPr lang="en-US" sz="1400" dirty="0">
                <a:solidFill>
                  <a:srgbClr val="4A463F"/>
                </a:solidFill>
                <a:latin typeface="Inter" pitchFamily="34" charset="0"/>
                <a:ea typeface="Inter" pitchFamily="34" charset="-122"/>
                <a:cs typeface="Inter" pitchFamily="34" charset="-120"/>
              </a:rPr>
              <a:t>Report stock daily</a:t>
            </a:r>
            <a:endParaRPr lang="en-US" sz="1400" dirty="0"/>
          </a:p>
          <a:p>
            <a:pPr marL="169418" indent="-169418" algn="l">
              <a:lnSpc>
                <a:spcPts val="2100"/>
              </a:lnSpc>
              <a:buSzPct val="100000"/>
              <a:buChar char="•"/>
            </a:pPr>
            <a:r>
              <a:rPr lang="en-US" sz="1400" dirty="0">
                <a:solidFill>
                  <a:srgbClr val="4A463F"/>
                </a:solidFill>
                <a:latin typeface="Inter" pitchFamily="34" charset="0"/>
                <a:ea typeface="Inter" pitchFamily="34" charset="-122"/>
                <a:cs typeface="Inter" pitchFamily="34" charset="-120"/>
              </a:rPr>
              <a:t>Dispatch requests, receive transfers</a:t>
            </a:r>
            <a:endParaRPr lang="en-US" sz="1400" dirty="0"/>
          </a:p>
        </p:txBody>
      </p:sp>
      <p:sp>
        <p:nvSpPr>
          <p:cNvPr id="10" name="Shape 8"/>
          <p:cNvSpPr/>
          <p:nvPr/>
        </p:nvSpPr>
        <p:spPr>
          <a:xfrm>
            <a:off x="7995709" y="2278990"/>
            <a:ext cx="3380317" cy="2275417"/>
          </a:xfrm>
          <a:prstGeom prst="roundRect">
            <a:avLst>
              <a:gd name="adj" fmla="val 4326"/>
            </a:avLst>
          </a:prstGeom>
          <a:solidFill>
            <a:srgbClr val="FBFAF6"/>
          </a:solidFill>
          <a:ln w="6350">
            <a:solidFill>
              <a:srgbClr val="DDD6C8"/>
            </a:solidFill>
            <a:prstDash val="solid"/>
          </a:ln>
        </p:spPr>
        <p:txBody>
          <a:bodyPr/>
          <a:lstStyle/>
          <a:p>
            <a:endParaRPr lang="en-IN"/>
          </a:p>
        </p:txBody>
      </p:sp>
      <p:sp>
        <p:nvSpPr>
          <p:cNvPr id="11" name="Text 9"/>
          <p:cNvSpPr/>
          <p:nvPr/>
        </p:nvSpPr>
        <p:spPr>
          <a:xfrm>
            <a:off x="8250767" y="2534047"/>
            <a:ext cx="295630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21212"/>
                </a:solidFill>
                <a:latin typeface="Inter" pitchFamily="34" charset="0"/>
                <a:ea typeface="Inter" pitchFamily="34" charset="-122"/>
                <a:cs typeface="Inter" pitchFamily="34" charset="-120"/>
              </a:rPr>
              <a:t>Hospital staff</a:t>
            </a:r>
            <a:endParaRPr lang="en-US" sz="2000" dirty="0"/>
          </a:p>
        </p:txBody>
      </p:sp>
      <p:sp>
        <p:nvSpPr>
          <p:cNvPr id="12" name="Text 10"/>
          <p:cNvSpPr/>
          <p:nvPr/>
        </p:nvSpPr>
        <p:spPr>
          <a:xfrm>
            <a:off x="8335349" y="2965847"/>
            <a:ext cx="2864104" cy="1092200"/>
          </a:xfrm>
          <a:prstGeom prst="rect">
            <a:avLst/>
          </a:prstGeom>
          <a:noFill/>
          <a:ln/>
        </p:spPr>
        <p:txBody>
          <a:bodyPr wrap="square" lIns="0" tIns="0" rIns="0" bIns="0" rtlCol="0" anchor="t">
            <a:normAutofit/>
          </a:bodyPr>
          <a:lstStyle/>
          <a:p>
            <a:pPr marL="169418" indent="-169418" algn="l">
              <a:lnSpc>
                <a:spcPts val="2100"/>
              </a:lnSpc>
              <a:buSzPct val="100000"/>
              <a:buChar char="•"/>
            </a:pPr>
            <a:r>
              <a:rPr lang="en-US" sz="1400" dirty="0">
                <a:solidFill>
                  <a:srgbClr val="4A463F"/>
                </a:solidFill>
                <a:latin typeface="Inter" pitchFamily="34" charset="0"/>
                <a:ea typeface="Inter" pitchFamily="34" charset="-122"/>
                <a:cs typeface="Inter" pitchFamily="34" charset="-120"/>
              </a:rPr>
              <a:t>Raise emergency or routine requests</a:t>
            </a:r>
            <a:endParaRPr lang="en-US" sz="1400" dirty="0"/>
          </a:p>
          <a:p>
            <a:pPr marL="169418" indent="-169418" algn="l">
              <a:lnSpc>
                <a:spcPts val="2100"/>
              </a:lnSpc>
              <a:buSzPct val="100000"/>
              <a:buChar char="•"/>
            </a:pPr>
            <a:r>
              <a:rPr lang="en-US" sz="1400" dirty="0">
                <a:solidFill>
                  <a:srgbClr val="4A463F"/>
                </a:solidFill>
                <a:latin typeface="Inter" pitchFamily="34" charset="0"/>
                <a:ea typeface="Inter" pitchFamily="34" charset="-122"/>
                <a:cs typeface="Inter" pitchFamily="34" charset="-120"/>
              </a:rPr>
              <a:t>Track them to delivery</a:t>
            </a:r>
            <a:endParaRPr lang="en-US" sz="1400" dirty="0"/>
          </a:p>
          <a:p>
            <a:pPr marL="169418" indent="-169418" algn="l">
              <a:lnSpc>
                <a:spcPts val="2100"/>
              </a:lnSpc>
              <a:buSzPct val="100000"/>
              <a:buChar char="•"/>
            </a:pPr>
            <a:r>
              <a:rPr lang="en-US" sz="1400" dirty="0">
                <a:solidFill>
                  <a:srgbClr val="4A463F"/>
                </a:solidFill>
                <a:latin typeface="Inter" pitchFamily="34" charset="0"/>
                <a:ea typeface="Inter" pitchFamily="34" charset="-122"/>
                <a:cs typeface="Inter" pitchFamily="34" charset="-120"/>
              </a:rPr>
              <a:t>Check what the network holds</a:t>
            </a:r>
            <a:endParaRPr lang="en-US" sz="1400" dirty="0"/>
          </a:p>
        </p:txBody>
      </p:sp>
      <p:sp>
        <p:nvSpPr>
          <p:cNvPr id="13" name="Text 11"/>
          <p:cNvSpPr/>
          <p:nvPr/>
        </p:nvSpPr>
        <p:spPr>
          <a:xfrm>
            <a:off x="812800" y="4913181"/>
            <a:ext cx="9810750"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21212"/>
                </a:solidFill>
                <a:latin typeface="Inter" pitchFamily="34" charset="0"/>
                <a:ea typeface="Inter" pitchFamily="34" charset="-122"/>
                <a:cs typeface="Inter" pitchFamily="34" charset="-120"/>
              </a:rPr>
              <a:t>Delivered as a console app (the course V1), a multi-user web app, and a research simulator, all sharing one engine.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07"/>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C4271A"/>
                </a:solidFill>
                <a:latin typeface="Inter" pitchFamily="34" charset="0"/>
                <a:ea typeface="Inter" pitchFamily="34" charset="-122"/>
                <a:cs typeface="Inter" pitchFamily="34" charset="-120"/>
              </a:rPr>
              <a:t>ARCHITECTURE</a:t>
            </a:r>
            <a:endParaRPr lang="en-US" sz="1400" dirty="0"/>
          </a:p>
        </p:txBody>
      </p:sp>
      <p:sp>
        <p:nvSpPr>
          <p:cNvPr id="3" name="Text 1"/>
          <p:cNvSpPr>
            <a:spLocks noGrp="1"/>
          </p:cNvSpPr>
          <p:nvPr>
            <p:ph type="title"/>
          </p:nvPr>
        </p:nvSpPr>
        <p:spPr>
          <a:xfrm>
            <a:off x="812800" y="1315707"/>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21212"/>
                </a:solidFill>
                <a:latin typeface="Anton" pitchFamily="34" charset="0"/>
                <a:ea typeface="Anton" pitchFamily="34" charset="-122"/>
                <a:cs typeface="Anton" pitchFamily="34" charset="-120"/>
              </a:rPr>
              <a:t>EVERY FRONT END RUNS THE SAME ENGINE</a:t>
            </a:r>
            <a:endParaRPr lang="en-US" sz="3600" dirty="0"/>
          </a:p>
        </p:txBody>
      </p:sp>
      <p:sp>
        <p:nvSpPr>
          <p:cNvPr id="4" name="Shape 2"/>
          <p:cNvSpPr/>
          <p:nvPr/>
        </p:nvSpPr>
        <p:spPr>
          <a:xfrm>
            <a:off x="815975" y="2075790"/>
            <a:ext cx="3414183" cy="865651"/>
          </a:xfrm>
          <a:prstGeom prst="roundRect">
            <a:avLst>
              <a:gd name="adj" fmla="val 8436"/>
            </a:avLst>
          </a:prstGeom>
          <a:solidFill>
            <a:srgbClr val="FBFAF6"/>
          </a:solidFill>
          <a:ln w="6350">
            <a:solidFill>
              <a:srgbClr val="DDD6C8"/>
            </a:solidFill>
            <a:prstDash val="solid"/>
          </a:ln>
        </p:spPr>
        <p:txBody>
          <a:bodyPr/>
          <a:lstStyle/>
          <a:p>
            <a:endParaRPr lang="en-IN"/>
          </a:p>
        </p:txBody>
      </p:sp>
      <p:sp>
        <p:nvSpPr>
          <p:cNvPr id="5" name="Text 3"/>
          <p:cNvSpPr/>
          <p:nvPr/>
        </p:nvSpPr>
        <p:spPr>
          <a:xfrm>
            <a:off x="1020233" y="2254647"/>
            <a:ext cx="3095837"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1212"/>
                </a:solidFill>
                <a:latin typeface="Inter" pitchFamily="34" charset="0"/>
                <a:ea typeface="Inter" pitchFamily="34" charset="-122"/>
                <a:cs typeface="Inter" pitchFamily="34" charset="-120"/>
              </a:rPr>
              <a:t>Web app</a:t>
            </a:r>
            <a:endParaRPr lang="en-US" sz="1600" dirty="0"/>
          </a:p>
        </p:txBody>
      </p:sp>
      <p:sp>
        <p:nvSpPr>
          <p:cNvPr id="6" name="Text 4"/>
          <p:cNvSpPr/>
          <p:nvPr/>
        </p:nvSpPr>
        <p:spPr>
          <a:xfrm>
            <a:off x="1020233" y="2549261"/>
            <a:ext cx="309583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63F"/>
                </a:solidFill>
                <a:latin typeface="Inter" pitchFamily="34" charset="0"/>
                <a:ea typeface="Inter" pitchFamily="34" charset="-122"/>
                <a:cs typeface="Inter" pitchFamily="34" charset="-120"/>
              </a:rPr>
              <a:t>React, Spring Boot 4, H2 or PostgreSQL</a:t>
            </a:r>
            <a:endParaRPr lang="en-US" sz="1200" dirty="0"/>
          </a:p>
        </p:txBody>
      </p:sp>
      <p:sp>
        <p:nvSpPr>
          <p:cNvPr id="7" name="Shape 5"/>
          <p:cNvSpPr/>
          <p:nvPr/>
        </p:nvSpPr>
        <p:spPr>
          <a:xfrm>
            <a:off x="4388908" y="2075790"/>
            <a:ext cx="3414183" cy="865651"/>
          </a:xfrm>
          <a:prstGeom prst="roundRect">
            <a:avLst>
              <a:gd name="adj" fmla="val 8436"/>
            </a:avLst>
          </a:prstGeom>
          <a:solidFill>
            <a:srgbClr val="FBFAF6"/>
          </a:solidFill>
          <a:ln w="6350">
            <a:solidFill>
              <a:srgbClr val="DDD6C8"/>
            </a:solidFill>
            <a:prstDash val="solid"/>
          </a:ln>
        </p:spPr>
        <p:txBody>
          <a:bodyPr/>
          <a:lstStyle/>
          <a:p>
            <a:endParaRPr lang="en-IN"/>
          </a:p>
        </p:txBody>
      </p:sp>
      <p:sp>
        <p:nvSpPr>
          <p:cNvPr id="8" name="Text 6"/>
          <p:cNvSpPr/>
          <p:nvPr/>
        </p:nvSpPr>
        <p:spPr>
          <a:xfrm>
            <a:off x="4593167" y="2254647"/>
            <a:ext cx="3095837"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1212"/>
                </a:solidFill>
                <a:latin typeface="Inter" pitchFamily="34" charset="0"/>
                <a:ea typeface="Inter" pitchFamily="34" charset="-122"/>
                <a:cs typeface="Inter" pitchFamily="34" charset="-120"/>
              </a:rPr>
              <a:t>Console app</a:t>
            </a:r>
            <a:endParaRPr lang="en-US" sz="1600" dirty="0"/>
          </a:p>
        </p:txBody>
      </p:sp>
      <p:sp>
        <p:nvSpPr>
          <p:cNvPr id="9" name="Text 7"/>
          <p:cNvSpPr/>
          <p:nvPr/>
        </p:nvSpPr>
        <p:spPr>
          <a:xfrm>
            <a:off x="4593167" y="2549261"/>
            <a:ext cx="309583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63F"/>
                </a:solidFill>
                <a:latin typeface="Inter" pitchFamily="34" charset="0"/>
                <a:ea typeface="Inter" pitchFamily="34" charset="-122"/>
                <a:cs typeface="Inter" pitchFamily="34" charset="-120"/>
              </a:rPr>
              <a:t>16 menu options, CSV files</a:t>
            </a:r>
            <a:endParaRPr lang="en-US" sz="1200" dirty="0"/>
          </a:p>
        </p:txBody>
      </p:sp>
      <p:sp>
        <p:nvSpPr>
          <p:cNvPr id="10" name="Shape 8"/>
          <p:cNvSpPr/>
          <p:nvPr/>
        </p:nvSpPr>
        <p:spPr>
          <a:xfrm>
            <a:off x="7961842" y="2075790"/>
            <a:ext cx="3414183" cy="865651"/>
          </a:xfrm>
          <a:prstGeom prst="roundRect">
            <a:avLst>
              <a:gd name="adj" fmla="val 8436"/>
            </a:avLst>
          </a:prstGeom>
          <a:solidFill>
            <a:srgbClr val="FBFAF6"/>
          </a:solidFill>
          <a:ln w="6350">
            <a:solidFill>
              <a:srgbClr val="DDD6C8"/>
            </a:solidFill>
            <a:prstDash val="solid"/>
          </a:ln>
        </p:spPr>
        <p:txBody>
          <a:bodyPr/>
          <a:lstStyle/>
          <a:p>
            <a:endParaRPr lang="en-IN"/>
          </a:p>
        </p:txBody>
      </p:sp>
      <p:sp>
        <p:nvSpPr>
          <p:cNvPr id="11" name="Text 9"/>
          <p:cNvSpPr/>
          <p:nvPr/>
        </p:nvSpPr>
        <p:spPr>
          <a:xfrm>
            <a:off x="8166100" y="2254647"/>
            <a:ext cx="3095837"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1212"/>
                </a:solidFill>
                <a:latin typeface="Inter" pitchFamily="34" charset="0"/>
                <a:ea typeface="Inter" pitchFamily="34" charset="-122"/>
                <a:cs typeface="Inter" pitchFamily="34" charset="-120"/>
              </a:rPr>
              <a:t>Research tools</a:t>
            </a:r>
            <a:endParaRPr lang="en-US" sz="1600" dirty="0"/>
          </a:p>
        </p:txBody>
      </p:sp>
      <p:sp>
        <p:nvSpPr>
          <p:cNvPr id="12" name="Text 10"/>
          <p:cNvSpPr/>
          <p:nvPr/>
        </p:nvSpPr>
        <p:spPr>
          <a:xfrm>
            <a:off x="8166100" y="2549261"/>
            <a:ext cx="309583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63F"/>
                </a:solidFill>
                <a:latin typeface="Inter" pitchFamily="34" charset="0"/>
                <a:ea typeface="Inter" pitchFamily="34" charset="-122"/>
                <a:cs typeface="Inter" pitchFamily="34" charset="-120"/>
              </a:rPr>
              <a:t>Digital twin, benchmarks</a:t>
            </a:r>
            <a:endParaRPr lang="en-US" sz="1200" dirty="0"/>
          </a:p>
        </p:txBody>
      </p:sp>
      <p:pic>
        <p:nvPicPr>
          <p:cNvPr id="13" name="Image 0" descr="arrow-down"/>
          <p:cNvPicPr>
            <a:picLocks noChangeAspect="1"/>
          </p:cNvPicPr>
          <p:nvPr/>
        </p:nvPicPr>
        <p:blipFill>
          <a:blip r:embed="rId3"/>
          <a:srcRect/>
          <a:stretch/>
        </p:blipFill>
        <p:spPr>
          <a:xfrm>
            <a:off x="2472267" y="3198614"/>
            <a:ext cx="203200" cy="254000"/>
          </a:xfrm>
          <a:prstGeom prst="rect">
            <a:avLst/>
          </a:prstGeom>
        </p:spPr>
      </p:pic>
      <p:pic>
        <p:nvPicPr>
          <p:cNvPr id="14" name="Image 1" descr="arrow-down"/>
          <p:cNvPicPr>
            <a:picLocks noChangeAspect="1"/>
          </p:cNvPicPr>
          <p:nvPr/>
        </p:nvPicPr>
        <p:blipFill>
          <a:blip r:embed="rId3"/>
          <a:srcRect/>
          <a:stretch/>
        </p:blipFill>
        <p:spPr>
          <a:xfrm>
            <a:off x="5994400" y="3198614"/>
            <a:ext cx="203200" cy="254000"/>
          </a:xfrm>
          <a:prstGeom prst="rect">
            <a:avLst/>
          </a:prstGeom>
        </p:spPr>
      </p:pic>
      <p:pic>
        <p:nvPicPr>
          <p:cNvPr id="15" name="Image 2" descr="arrow-down"/>
          <p:cNvPicPr>
            <a:picLocks noChangeAspect="1"/>
          </p:cNvPicPr>
          <p:nvPr/>
        </p:nvPicPr>
        <p:blipFill>
          <a:blip r:embed="rId3"/>
          <a:srcRect/>
          <a:stretch/>
        </p:blipFill>
        <p:spPr>
          <a:xfrm>
            <a:off x="9516534" y="3198614"/>
            <a:ext cx="203200" cy="254000"/>
          </a:xfrm>
          <a:prstGeom prst="rect">
            <a:avLst/>
          </a:prstGeom>
        </p:spPr>
      </p:pic>
      <p:sp>
        <p:nvSpPr>
          <p:cNvPr id="16" name="Shape 11"/>
          <p:cNvSpPr/>
          <p:nvPr/>
        </p:nvSpPr>
        <p:spPr>
          <a:xfrm>
            <a:off x="822325" y="3716139"/>
            <a:ext cx="10547350" cy="944430"/>
          </a:xfrm>
          <a:prstGeom prst="roundRect">
            <a:avLst>
              <a:gd name="adj" fmla="val 7060"/>
            </a:avLst>
          </a:prstGeom>
          <a:solidFill>
            <a:srgbClr val="FDE7E3"/>
          </a:solidFill>
          <a:ln w="19050">
            <a:solidFill>
              <a:srgbClr val="C4271A"/>
            </a:solidFill>
            <a:prstDash val="solid"/>
          </a:ln>
        </p:spPr>
        <p:txBody>
          <a:bodyPr/>
          <a:lstStyle/>
          <a:p>
            <a:endParaRPr lang="en-IN"/>
          </a:p>
        </p:txBody>
      </p:sp>
      <p:sp>
        <p:nvSpPr>
          <p:cNvPr id="17" name="Text 12"/>
          <p:cNvSpPr/>
          <p:nvPr/>
        </p:nvSpPr>
        <p:spPr>
          <a:xfrm>
            <a:off x="5023333" y="3901348"/>
            <a:ext cx="2145268" cy="299707"/>
          </a:xfrm>
          <a:prstGeom prst="rect">
            <a:avLst/>
          </a:prstGeom>
          <a:noFill/>
          <a:ln/>
        </p:spPr>
        <p:txBody>
          <a:bodyPr wrap="square" lIns="0" tIns="0" rIns="0" bIns="0" rtlCol="0" anchor="t">
            <a:normAutofit/>
          </a:bodyPr>
          <a:lstStyle/>
          <a:p>
            <a:pPr marL="0" indent="0" algn="ctr">
              <a:lnSpc>
                <a:spcPts val="2160"/>
              </a:lnSpc>
              <a:buNone/>
            </a:pPr>
            <a:r>
              <a:rPr lang="en-US" sz="1800" b="1" dirty="0">
                <a:solidFill>
                  <a:srgbClr val="121212"/>
                </a:solidFill>
                <a:latin typeface="Inter" pitchFamily="34" charset="0"/>
                <a:ea typeface="Inter" pitchFamily="34" charset="-122"/>
                <a:cs typeface="Inter" pitchFamily="34" charset="-120"/>
              </a:rPr>
              <a:t>Decision engine</a:t>
            </a:r>
            <a:endParaRPr lang="en-US" sz="1800" dirty="0"/>
          </a:p>
        </p:txBody>
      </p:sp>
      <p:sp>
        <p:nvSpPr>
          <p:cNvPr id="18" name="Text 13"/>
          <p:cNvSpPr/>
          <p:nvPr/>
        </p:nvSpPr>
        <p:spPr>
          <a:xfrm>
            <a:off x="2874334" y="4226455"/>
            <a:ext cx="6443266" cy="274307"/>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121212"/>
                </a:solidFill>
                <a:latin typeface="Inter" pitchFamily="34" charset="0"/>
                <a:ea typeface="Inter" pitchFamily="34" charset="-122"/>
                <a:cs typeface="Inter" pitchFamily="34" charset="-120"/>
              </a:rPr>
              <a:t>Allocation · expiry risk · demand forecasting · transfer strategies</a:t>
            </a:r>
            <a:endParaRPr lang="en-US" sz="1400" dirty="0"/>
          </a:p>
        </p:txBody>
      </p:sp>
      <p:sp>
        <p:nvSpPr>
          <p:cNvPr id="19" name="Shape 14"/>
          <p:cNvSpPr/>
          <p:nvPr/>
        </p:nvSpPr>
        <p:spPr>
          <a:xfrm>
            <a:off x="815975" y="4927270"/>
            <a:ext cx="10560050" cy="931730"/>
          </a:xfrm>
          <a:prstGeom prst="roundRect">
            <a:avLst>
              <a:gd name="adj" fmla="val 7838"/>
            </a:avLst>
          </a:prstGeom>
          <a:solidFill>
            <a:srgbClr val="FBFAF6"/>
          </a:solidFill>
          <a:ln w="6350">
            <a:solidFill>
              <a:srgbClr val="DDD6C8"/>
            </a:solidFill>
            <a:prstDash val="solid"/>
          </a:ln>
        </p:spPr>
        <p:txBody>
          <a:bodyPr/>
          <a:lstStyle/>
          <a:p>
            <a:endParaRPr lang="en-IN"/>
          </a:p>
        </p:txBody>
      </p:sp>
      <p:sp>
        <p:nvSpPr>
          <p:cNvPr id="20" name="Text 15"/>
          <p:cNvSpPr/>
          <p:nvPr/>
        </p:nvSpPr>
        <p:spPr>
          <a:xfrm>
            <a:off x="5138341" y="5106129"/>
            <a:ext cx="1915319" cy="299707"/>
          </a:xfrm>
          <a:prstGeom prst="rect">
            <a:avLst/>
          </a:prstGeom>
          <a:noFill/>
          <a:ln/>
        </p:spPr>
        <p:txBody>
          <a:bodyPr wrap="square" lIns="0" tIns="0" rIns="0" bIns="0" rtlCol="0" anchor="t">
            <a:normAutofit/>
          </a:bodyPr>
          <a:lstStyle/>
          <a:p>
            <a:pPr marL="0" indent="0" algn="ctr">
              <a:lnSpc>
                <a:spcPts val="2160"/>
              </a:lnSpc>
              <a:buNone/>
            </a:pPr>
            <a:r>
              <a:rPr lang="en-US" sz="1800" b="1" dirty="0">
                <a:solidFill>
                  <a:srgbClr val="121212"/>
                </a:solidFill>
                <a:latin typeface="Inter" pitchFamily="34" charset="0"/>
                <a:ea typeface="Inter" pitchFamily="34" charset="-122"/>
                <a:cs typeface="Inter" pitchFamily="34" charset="-120"/>
              </a:rPr>
              <a:t>Domain model</a:t>
            </a:r>
            <a:endParaRPr lang="en-US" sz="1800" dirty="0"/>
          </a:p>
        </p:txBody>
      </p:sp>
      <p:sp>
        <p:nvSpPr>
          <p:cNvPr id="21" name="Text 16"/>
          <p:cNvSpPr/>
          <p:nvPr/>
        </p:nvSpPr>
        <p:spPr>
          <a:xfrm>
            <a:off x="3011256" y="5431234"/>
            <a:ext cx="6169422" cy="274307"/>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4A463F"/>
                </a:solidFill>
                <a:latin typeface="Inter" pitchFamily="34" charset="0"/>
                <a:ea typeface="Inter" pitchFamily="34" charset="-122"/>
                <a:cs typeface="Inter" pitchFamily="34" charset="-120"/>
              </a:rPr>
              <a:t>Components · facilities · inventory · compatibility · exceptions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07"/>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C4271A"/>
                </a:solidFill>
                <a:latin typeface="Inter" pitchFamily="34" charset="0"/>
                <a:ea typeface="Inter" pitchFamily="34" charset="-122"/>
                <a:cs typeface="Inter" pitchFamily="34" charset="-120"/>
              </a:rPr>
              <a:t>OBJECT-ORIENTED DESIGN</a:t>
            </a:r>
            <a:endParaRPr lang="en-US" sz="1400" dirty="0"/>
          </a:p>
        </p:txBody>
      </p:sp>
      <p:sp>
        <p:nvSpPr>
          <p:cNvPr id="3" name="Text 1"/>
          <p:cNvSpPr>
            <a:spLocks noGrp="1"/>
          </p:cNvSpPr>
          <p:nvPr>
            <p:ph type="title"/>
          </p:nvPr>
        </p:nvSpPr>
        <p:spPr>
          <a:xfrm>
            <a:off x="812800" y="1315709"/>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21212"/>
                </a:solidFill>
                <a:latin typeface="Anton" pitchFamily="34" charset="0"/>
                <a:ea typeface="Anton" pitchFamily="34" charset="-122"/>
                <a:cs typeface="Anton" pitchFamily="34" charset="-120"/>
              </a:rPr>
              <a:t>THE FOUR PILLARS, IN REAL CLASSES</a:t>
            </a:r>
            <a:endParaRPr lang="en-US" sz="3600" dirty="0"/>
          </a:p>
        </p:txBody>
      </p:sp>
      <p:sp>
        <p:nvSpPr>
          <p:cNvPr id="4" name="Shape 2"/>
          <p:cNvSpPr/>
          <p:nvPr/>
        </p:nvSpPr>
        <p:spPr>
          <a:xfrm>
            <a:off x="815975" y="2075790"/>
            <a:ext cx="5187950" cy="1256837"/>
          </a:xfrm>
          <a:prstGeom prst="roundRect">
            <a:avLst>
              <a:gd name="adj" fmla="val 7831"/>
            </a:avLst>
          </a:prstGeom>
          <a:solidFill>
            <a:srgbClr val="FBFAF6"/>
          </a:solidFill>
          <a:ln w="6350">
            <a:solidFill>
              <a:srgbClr val="DDD6C8"/>
            </a:solidFill>
            <a:prstDash val="solid"/>
          </a:ln>
        </p:spPr>
        <p:txBody>
          <a:bodyPr/>
          <a:lstStyle/>
          <a:p>
            <a:endParaRPr lang="en-IN"/>
          </a:p>
        </p:txBody>
      </p:sp>
      <p:sp>
        <p:nvSpPr>
          <p:cNvPr id="5" name="Text 3"/>
          <p:cNvSpPr/>
          <p:nvPr/>
        </p:nvSpPr>
        <p:spPr>
          <a:xfrm>
            <a:off x="1071033" y="2280047"/>
            <a:ext cx="4818168"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1212"/>
                </a:solidFill>
                <a:latin typeface="Inter" pitchFamily="34" charset="0"/>
                <a:ea typeface="Inter" pitchFamily="34" charset="-122"/>
                <a:cs typeface="Inter" pitchFamily="34" charset="-120"/>
              </a:rPr>
              <a:t>Abstraction</a:t>
            </a:r>
            <a:endParaRPr lang="en-US" sz="1800" dirty="0"/>
          </a:p>
        </p:txBody>
      </p:sp>
      <p:sp>
        <p:nvSpPr>
          <p:cNvPr id="6" name="Text 4"/>
          <p:cNvSpPr/>
          <p:nvPr/>
        </p:nvSpPr>
        <p:spPr>
          <a:xfrm>
            <a:off x="1071033" y="2630556"/>
            <a:ext cx="4818168" cy="52321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A463F"/>
                </a:solidFill>
                <a:latin typeface="Inter" pitchFamily="34" charset="0"/>
                <a:ea typeface="Inter" pitchFamily="34" charset="-122"/>
                <a:cs typeface="Inter" pitchFamily="34" charset="-120"/>
              </a:rPr>
              <a:t>BloodComponent</a:t>
            </a:r>
            <a:r>
              <a:rPr lang="en-US" sz="1400" dirty="0">
                <a:solidFill>
                  <a:srgbClr val="4A463F"/>
                </a:solidFill>
                <a:latin typeface="Inter" pitchFamily="34" charset="0"/>
                <a:ea typeface="Inter" pitchFamily="34" charset="-122"/>
                <a:cs typeface="Inter" pitchFamily="34" charset="-120"/>
              </a:rPr>
              <a:t> and </a:t>
            </a:r>
            <a:r>
              <a:rPr lang="en-US" sz="1400" b="1" dirty="0">
                <a:solidFill>
                  <a:srgbClr val="4A463F"/>
                </a:solidFill>
                <a:latin typeface="Inter" pitchFamily="34" charset="0"/>
                <a:ea typeface="Inter" pitchFamily="34" charset="-122"/>
                <a:cs typeface="Inter" pitchFamily="34" charset="-120"/>
              </a:rPr>
              <a:t>Facility</a:t>
            </a:r>
            <a:r>
              <a:rPr lang="en-US" sz="1400" dirty="0">
                <a:solidFill>
                  <a:srgbClr val="4A463F"/>
                </a:solidFill>
                <a:latin typeface="Inter" pitchFamily="34" charset="0"/>
                <a:ea typeface="Inter" pitchFamily="34" charset="-122"/>
                <a:cs typeface="Inter" pitchFamily="34" charset="-120"/>
              </a:rPr>
              <a:t> are abstract: code works with "a component" without knowing which.</a:t>
            </a:r>
            <a:endParaRPr lang="en-US" sz="1400" dirty="0"/>
          </a:p>
        </p:txBody>
      </p:sp>
      <p:sp>
        <p:nvSpPr>
          <p:cNvPr id="7" name="Shape 5"/>
          <p:cNvSpPr/>
          <p:nvPr/>
        </p:nvSpPr>
        <p:spPr>
          <a:xfrm>
            <a:off x="6188075" y="2075790"/>
            <a:ext cx="5187950" cy="1256837"/>
          </a:xfrm>
          <a:prstGeom prst="roundRect">
            <a:avLst>
              <a:gd name="adj" fmla="val 7831"/>
            </a:avLst>
          </a:prstGeom>
          <a:solidFill>
            <a:srgbClr val="FBFAF6"/>
          </a:solidFill>
          <a:ln w="6350">
            <a:solidFill>
              <a:srgbClr val="DDD6C8"/>
            </a:solidFill>
            <a:prstDash val="solid"/>
          </a:ln>
        </p:spPr>
        <p:txBody>
          <a:bodyPr/>
          <a:lstStyle/>
          <a:p>
            <a:endParaRPr lang="en-IN"/>
          </a:p>
        </p:txBody>
      </p:sp>
      <p:sp>
        <p:nvSpPr>
          <p:cNvPr id="8" name="Text 6"/>
          <p:cNvSpPr/>
          <p:nvPr/>
        </p:nvSpPr>
        <p:spPr>
          <a:xfrm>
            <a:off x="6443133" y="2280047"/>
            <a:ext cx="4818168"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1212"/>
                </a:solidFill>
                <a:latin typeface="Inter" pitchFamily="34" charset="0"/>
                <a:ea typeface="Inter" pitchFamily="34" charset="-122"/>
                <a:cs typeface="Inter" pitchFamily="34" charset="-120"/>
              </a:rPr>
              <a:t>Encapsulation</a:t>
            </a:r>
            <a:endParaRPr lang="en-US" sz="1800" dirty="0"/>
          </a:p>
        </p:txBody>
      </p:sp>
      <p:sp>
        <p:nvSpPr>
          <p:cNvPr id="9" name="Text 7"/>
          <p:cNvSpPr/>
          <p:nvPr/>
        </p:nvSpPr>
        <p:spPr>
          <a:xfrm>
            <a:off x="6443133" y="2630556"/>
            <a:ext cx="4818168" cy="52321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A463F"/>
                </a:solidFill>
                <a:latin typeface="Inter" pitchFamily="34" charset="0"/>
                <a:ea typeface="Inter" pitchFamily="34" charset="-122"/>
                <a:cs typeface="Inter" pitchFamily="34" charset="-120"/>
              </a:rPr>
              <a:t>Inventory</a:t>
            </a:r>
            <a:r>
              <a:rPr lang="en-US" sz="1400" dirty="0">
                <a:solidFill>
                  <a:srgbClr val="4A463F"/>
                </a:solidFill>
                <a:latin typeface="Inter" pitchFamily="34" charset="0"/>
                <a:ea typeface="Inter" pitchFamily="34" charset="-122"/>
                <a:cs typeface="Inter" pitchFamily="34" charset="-120"/>
              </a:rPr>
              <a:t> keeps stock private, in expiry order; it changes only through its methods.</a:t>
            </a:r>
            <a:endParaRPr lang="en-US" sz="1400" dirty="0"/>
          </a:p>
        </p:txBody>
      </p:sp>
      <p:sp>
        <p:nvSpPr>
          <p:cNvPr id="10" name="Shape 8"/>
          <p:cNvSpPr/>
          <p:nvPr/>
        </p:nvSpPr>
        <p:spPr>
          <a:xfrm>
            <a:off x="815975" y="3516778"/>
            <a:ext cx="5187950" cy="1256837"/>
          </a:xfrm>
          <a:prstGeom prst="roundRect">
            <a:avLst>
              <a:gd name="adj" fmla="val 7831"/>
            </a:avLst>
          </a:prstGeom>
          <a:solidFill>
            <a:srgbClr val="FBFAF6"/>
          </a:solidFill>
          <a:ln w="6350">
            <a:solidFill>
              <a:srgbClr val="DDD6C8"/>
            </a:solidFill>
            <a:prstDash val="solid"/>
          </a:ln>
        </p:spPr>
        <p:txBody>
          <a:bodyPr/>
          <a:lstStyle/>
          <a:p>
            <a:endParaRPr lang="en-IN"/>
          </a:p>
        </p:txBody>
      </p:sp>
      <p:sp>
        <p:nvSpPr>
          <p:cNvPr id="11" name="Text 9"/>
          <p:cNvSpPr/>
          <p:nvPr/>
        </p:nvSpPr>
        <p:spPr>
          <a:xfrm>
            <a:off x="1071033" y="3721035"/>
            <a:ext cx="4818168"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1212"/>
                </a:solidFill>
                <a:latin typeface="Inter" pitchFamily="34" charset="0"/>
                <a:ea typeface="Inter" pitchFamily="34" charset="-122"/>
                <a:cs typeface="Inter" pitchFamily="34" charset="-120"/>
              </a:rPr>
              <a:t>Inheritance</a:t>
            </a:r>
            <a:endParaRPr lang="en-US" sz="1800" dirty="0"/>
          </a:p>
        </p:txBody>
      </p:sp>
      <p:sp>
        <p:nvSpPr>
          <p:cNvPr id="12" name="Text 10"/>
          <p:cNvSpPr/>
          <p:nvPr/>
        </p:nvSpPr>
        <p:spPr>
          <a:xfrm>
            <a:off x="1071033" y="4071541"/>
            <a:ext cx="4818168" cy="52321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A463F"/>
                </a:solidFill>
                <a:latin typeface="Inter" pitchFamily="34" charset="0"/>
                <a:ea typeface="Inter" pitchFamily="34" charset="-122"/>
                <a:cs typeface="Inter" pitchFamily="34" charset="-120"/>
              </a:rPr>
              <a:t>Platelets</a:t>
            </a:r>
            <a:r>
              <a:rPr lang="en-US" sz="1400" dirty="0">
                <a:solidFill>
                  <a:srgbClr val="4A463F"/>
                </a:solidFill>
                <a:latin typeface="Inter" pitchFamily="34" charset="0"/>
                <a:ea typeface="Inter" pitchFamily="34" charset="-122"/>
                <a:cs typeface="Inter" pitchFamily="34" charset="-120"/>
              </a:rPr>
              <a:t> and three more extend </a:t>
            </a:r>
            <a:r>
              <a:rPr lang="en-US" sz="1400" b="1" dirty="0">
                <a:solidFill>
                  <a:srgbClr val="4A463F"/>
                </a:solidFill>
                <a:latin typeface="Inter" pitchFamily="34" charset="0"/>
                <a:ea typeface="Inter" pitchFamily="34" charset="-122"/>
                <a:cs typeface="Inter" pitchFamily="34" charset="-120"/>
              </a:rPr>
              <a:t>BloodComponent</a:t>
            </a:r>
            <a:r>
              <a:rPr lang="en-US" sz="1400" dirty="0">
                <a:solidFill>
                  <a:srgbClr val="4A463F"/>
                </a:solidFill>
                <a:latin typeface="Inter" pitchFamily="34" charset="0"/>
                <a:ea typeface="Inter" pitchFamily="34" charset="-122"/>
                <a:cs typeface="Inter" pitchFamily="34" charset="-120"/>
              </a:rPr>
              <a:t>; all errors extend </a:t>
            </a:r>
            <a:r>
              <a:rPr lang="en-US" sz="1400" b="1" dirty="0">
                <a:solidFill>
                  <a:srgbClr val="4A463F"/>
                </a:solidFill>
                <a:latin typeface="Inter" pitchFamily="34" charset="0"/>
                <a:ea typeface="Inter" pitchFamily="34" charset="-122"/>
                <a:cs typeface="Inter" pitchFamily="34" charset="-120"/>
              </a:rPr>
              <a:t>RaktSetuException</a:t>
            </a:r>
            <a:r>
              <a:rPr lang="en-US" sz="1400" dirty="0">
                <a:solidFill>
                  <a:srgbClr val="4A463F"/>
                </a:solidFill>
                <a:latin typeface="Inter" pitchFamily="34" charset="0"/>
                <a:ea typeface="Inter" pitchFamily="34" charset="-122"/>
                <a:cs typeface="Inter" pitchFamily="34" charset="-120"/>
              </a:rPr>
              <a:t>.</a:t>
            </a:r>
            <a:endParaRPr lang="en-US" sz="1400" dirty="0"/>
          </a:p>
        </p:txBody>
      </p:sp>
      <p:sp>
        <p:nvSpPr>
          <p:cNvPr id="13" name="Shape 11"/>
          <p:cNvSpPr/>
          <p:nvPr/>
        </p:nvSpPr>
        <p:spPr>
          <a:xfrm>
            <a:off x="6188075" y="3516778"/>
            <a:ext cx="5187950" cy="1256837"/>
          </a:xfrm>
          <a:prstGeom prst="roundRect">
            <a:avLst>
              <a:gd name="adj" fmla="val 7831"/>
            </a:avLst>
          </a:prstGeom>
          <a:solidFill>
            <a:srgbClr val="FBFAF6"/>
          </a:solidFill>
          <a:ln w="6350">
            <a:solidFill>
              <a:srgbClr val="DDD6C8"/>
            </a:solidFill>
            <a:prstDash val="solid"/>
          </a:ln>
        </p:spPr>
        <p:txBody>
          <a:bodyPr/>
          <a:lstStyle/>
          <a:p>
            <a:endParaRPr lang="en-IN"/>
          </a:p>
        </p:txBody>
      </p:sp>
      <p:sp>
        <p:nvSpPr>
          <p:cNvPr id="14" name="Text 12"/>
          <p:cNvSpPr/>
          <p:nvPr/>
        </p:nvSpPr>
        <p:spPr>
          <a:xfrm>
            <a:off x="6443133" y="3721035"/>
            <a:ext cx="4818168"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1212"/>
                </a:solidFill>
                <a:latin typeface="Inter" pitchFamily="34" charset="0"/>
                <a:ea typeface="Inter" pitchFamily="34" charset="-122"/>
                <a:cs typeface="Inter" pitchFamily="34" charset="-120"/>
              </a:rPr>
              <a:t>Polymorphism</a:t>
            </a:r>
            <a:endParaRPr lang="en-US" sz="1800" dirty="0"/>
          </a:p>
        </p:txBody>
      </p:sp>
      <p:sp>
        <p:nvSpPr>
          <p:cNvPr id="15" name="Text 13"/>
          <p:cNvSpPr/>
          <p:nvPr/>
        </p:nvSpPr>
        <p:spPr>
          <a:xfrm>
            <a:off x="6443133" y="4071541"/>
            <a:ext cx="4818168" cy="523214"/>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A463F"/>
                </a:solidFill>
                <a:latin typeface="Inter" pitchFamily="34" charset="0"/>
                <a:ea typeface="Inter" pitchFamily="34" charset="-122"/>
                <a:cs typeface="Inter" pitchFamily="34" charset="-120"/>
              </a:rPr>
              <a:t>getShelfLifeDays()</a:t>
            </a:r>
            <a:r>
              <a:rPr lang="en-US" sz="1400" dirty="0">
                <a:solidFill>
                  <a:srgbClr val="4A463F"/>
                </a:solidFill>
                <a:latin typeface="Inter" pitchFamily="34" charset="0"/>
                <a:ea typeface="Inter" pitchFamily="34" charset="-122"/>
                <a:cs typeface="Inter" pitchFamily="34" charset="-120"/>
              </a:rPr>
              <a:t> returns 5, 35, 42 or 365: one expiry rule for every component.</a:t>
            </a:r>
            <a:endParaRPr lang="en-US" sz="1400" dirty="0"/>
          </a:p>
        </p:txBody>
      </p:sp>
      <p:sp>
        <p:nvSpPr>
          <p:cNvPr id="16" name="Text 14"/>
          <p:cNvSpPr/>
          <p:nvPr/>
        </p:nvSpPr>
        <p:spPr>
          <a:xfrm>
            <a:off x="812800" y="5030788"/>
            <a:ext cx="10883392"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21212"/>
                </a:solidFill>
                <a:latin typeface="Inter" pitchFamily="34" charset="0"/>
                <a:ea typeface="Inter" pitchFamily="34" charset="-122"/>
                <a:cs typeface="Inter" pitchFamily="34" charset="-120"/>
              </a:rPr>
              <a:t>Patterns:</a:t>
            </a:r>
            <a:r>
              <a:rPr lang="en-US" sz="1400" dirty="0">
                <a:solidFill>
                  <a:srgbClr val="4A463F"/>
                </a:solidFill>
                <a:latin typeface="Inter" pitchFamily="34" charset="0"/>
                <a:ea typeface="Inter" pitchFamily="34" charset="-122"/>
                <a:cs typeface="Inter" pitchFamily="34" charset="-120"/>
              </a:rPr>
              <a:t> Strategy (planners, forecasters, SMS channels), Template Method, Factory, Repository, transactional outbox.</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07"/>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C4271A"/>
                </a:solidFill>
                <a:latin typeface="Inter" pitchFamily="34" charset="0"/>
                <a:ea typeface="Inter" pitchFamily="34" charset="-122"/>
                <a:cs typeface="Inter" pitchFamily="34" charset="-120"/>
              </a:rPr>
              <a:t>KEY ALGORITHMS</a:t>
            </a:r>
            <a:endParaRPr lang="en-US" sz="1400" dirty="0"/>
          </a:p>
        </p:txBody>
      </p:sp>
      <p:sp>
        <p:nvSpPr>
          <p:cNvPr id="3" name="Text 1"/>
          <p:cNvSpPr>
            <a:spLocks noGrp="1"/>
          </p:cNvSpPr>
          <p:nvPr>
            <p:ph type="title"/>
          </p:nvPr>
        </p:nvSpPr>
        <p:spPr>
          <a:xfrm>
            <a:off x="812800" y="1315709"/>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21212"/>
                </a:solidFill>
                <a:latin typeface="Anton" pitchFamily="34" charset="0"/>
                <a:ea typeface="Anton" pitchFamily="34" charset="-122"/>
                <a:cs typeface="Anton" pitchFamily="34" charset="-120"/>
              </a:rPr>
              <a:t>SERVE NOW, RESCUE WHAT WILL EXPIRE, PROVE IT</a:t>
            </a:r>
            <a:endParaRPr lang="en-US" sz="3600" dirty="0"/>
          </a:p>
        </p:txBody>
      </p:sp>
      <p:sp>
        <p:nvSpPr>
          <p:cNvPr id="4" name="Shape 2"/>
          <p:cNvSpPr/>
          <p:nvPr/>
        </p:nvSpPr>
        <p:spPr>
          <a:xfrm>
            <a:off x="815975" y="2075790"/>
            <a:ext cx="3380317" cy="2124075"/>
          </a:xfrm>
          <a:prstGeom prst="roundRect">
            <a:avLst>
              <a:gd name="adj" fmla="val 4634"/>
            </a:avLst>
          </a:prstGeom>
          <a:solidFill>
            <a:srgbClr val="FBFAF6"/>
          </a:solidFill>
          <a:ln w="6350">
            <a:solidFill>
              <a:srgbClr val="DDD6C8"/>
            </a:solidFill>
            <a:prstDash val="solid"/>
          </a:ln>
        </p:spPr>
        <p:txBody>
          <a:bodyPr/>
          <a:lstStyle/>
          <a:p>
            <a:endParaRPr lang="en-IN"/>
          </a:p>
        </p:txBody>
      </p:sp>
      <p:sp>
        <p:nvSpPr>
          <p:cNvPr id="5" name="Text 3"/>
          <p:cNvSpPr/>
          <p:nvPr/>
        </p:nvSpPr>
        <p:spPr>
          <a:xfrm>
            <a:off x="1071033" y="2305447"/>
            <a:ext cx="2956306"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1212"/>
                </a:solidFill>
                <a:latin typeface="Inter" pitchFamily="34" charset="0"/>
                <a:ea typeface="Inter" pitchFamily="34" charset="-122"/>
                <a:cs typeface="Inter" pitchFamily="34" charset="-120"/>
              </a:rPr>
              <a:t>Allocate</a:t>
            </a:r>
            <a:endParaRPr lang="en-US" sz="1800" dirty="0"/>
          </a:p>
        </p:txBody>
      </p:sp>
      <p:sp>
        <p:nvSpPr>
          <p:cNvPr id="6" name="Text 4"/>
          <p:cNvSpPr/>
          <p:nvPr/>
        </p:nvSpPr>
        <p:spPr>
          <a:xfrm>
            <a:off x="1114227" y="2681356"/>
            <a:ext cx="2905493" cy="1314252"/>
          </a:xfrm>
          <a:prstGeom prst="rect">
            <a:avLst/>
          </a:prstGeom>
          <a:noFill/>
          <a:ln/>
        </p:spPr>
        <p:txBody>
          <a:bodyPr wrap="square" lIns="0" tIns="0" rIns="0" bIns="0" rtlCol="0" anchor="t">
            <a:normAutofit/>
          </a:bodyPr>
          <a:lstStyle/>
          <a:p>
            <a:pPr marL="210807" indent="-210807" algn="l">
              <a:lnSpc>
                <a:spcPts val="2030"/>
              </a:lnSpc>
              <a:buSzPct val="100000"/>
              <a:buFontTx/>
              <a:buAutoNum type="arabicPeriod"/>
            </a:pPr>
            <a:r>
              <a:rPr lang="en-US" sz="1400" dirty="0">
                <a:solidFill>
                  <a:srgbClr val="4A463F"/>
                </a:solidFill>
                <a:latin typeface="Inter" pitchFamily="34" charset="0"/>
                <a:ea typeface="Inter" pitchFamily="34" charset="-122"/>
                <a:cs typeface="Inter" pitchFamily="34" charset="-120"/>
              </a:rPr>
              <a:t>Centres within 90 minutes, nearest first</a:t>
            </a:r>
            <a:endParaRPr lang="en-US" sz="1400" dirty="0"/>
          </a:p>
          <a:p>
            <a:pPr marL="210807" indent="-210807" algn="l">
              <a:lnSpc>
                <a:spcPts val="2030"/>
              </a:lnSpc>
              <a:buSzPct val="100000"/>
              <a:buFontTx/>
              <a:buAutoNum type="arabicPeriod"/>
            </a:pPr>
            <a:r>
              <a:rPr lang="en-US" sz="1400" dirty="0">
                <a:solidFill>
                  <a:srgbClr val="4A463F"/>
                </a:solidFill>
                <a:latin typeface="Inter" pitchFamily="34" charset="0"/>
                <a:ea typeface="Inter" pitchFamily="34" charset="-122"/>
                <a:cs typeface="Inter" pitchFamily="34" charset="-120"/>
              </a:rPr>
              <a:t>Same group first; O- last</a:t>
            </a:r>
            <a:endParaRPr lang="en-US" sz="1400" dirty="0"/>
          </a:p>
          <a:p>
            <a:pPr marL="210807" indent="-210807" algn="l">
              <a:lnSpc>
                <a:spcPts val="2030"/>
              </a:lnSpc>
              <a:buSzPct val="100000"/>
              <a:buFontTx/>
              <a:buAutoNum type="arabicPeriod"/>
            </a:pPr>
            <a:r>
              <a:rPr lang="en-US" sz="1400" dirty="0">
                <a:solidFill>
                  <a:srgbClr val="4A463F"/>
                </a:solidFill>
                <a:latin typeface="Inter" pitchFamily="34" charset="0"/>
                <a:ea typeface="Inter" pitchFamily="34" charset="-122"/>
                <a:cs typeface="Inter" pitchFamily="34" charset="-120"/>
              </a:rPr>
              <a:t>Soonest-expiring units first</a:t>
            </a:r>
            <a:endParaRPr lang="en-US" sz="1400" dirty="0"/>
          </a:p>
          <a:p>
            <a:pPr marL="210807" indent="-210807" algn="l">
              <a:lnSpc>
                <a:spcPts val="2030"/>
              </a:lnSpc>
              <a:buSzPct val="100000"/>
              <a:buFontTx/>
              <a:buAutoNum type="arabicPeriod"/>
            </a:pPr>
            <a:r>
              <a:rPr lang="en-US" sz="1400" dirty="0">
                <a:solidFill>
                  <a:srgbClr val="4A463F"/>
                </a:solidFill>
                <a:latin typeface="Inter" pitchFamily="34" charset="0"/>
                <a:ea typeface="Inter" pitchFamily="34" charset="-122"/>
                <a:cs typeface="Inter" pitchFamily="34" charset="-120"/>
              </a:rPr>
              <a:t>All or nothing</a:t>
            </a:r>
            <a:endParaRPr lang="en-US" sz="1400" dirty="0"/>
          </a:p>
        </p:txBody>
      </p:sp>
      <p:sp>
        <p:nvSpPr>
          <p:cNvPr id="7" name="Shape 5"/>
          <p:cNvSpPr/>
          <p:nvPr/>
        </p:nvSpPr>
        <p:spPr>
          <a:xfrm>
            <a:off x="4405842" y="2075790"/>
            <a:ext cx="3380317" cy="2124075"/>
          </a:xfrm>
          <a:prstGeom prst="roundRect">
            <a:avLst>
              <a:gd name="adj" fmla="val 4634"/>
            </a:avLst>
          </a:prstGeom>
          <a:solidFill>
            <a:srgbClr val="FBFAF6"/>
          </a:solidFill>
          <a:ln w="6350">
            <a:solidFill>
              <a:srgbClr val="DDD6C8"/>
            </a:solidFill>
            <a:prstDash val="solid"/>
          </a:ln>
        </p:spPr>
        <p:txBody>
          <a:bodyPr/>
          <a:lstStyle/>
          <a:p>
            <a:endParaRPr lang="en-IN"/>
          </a:p>
        </p:txBody>
      </p:sp>
      <p:sp>
        <p:nvSpPr>
          <p:cNvPr id="8" name="Text 6"/>
          <p:cNvSpPr/>
          <p:nvPr/>
        </p:nvSpPr>
        <p:spPr>
          <a:xfrm>
            <a:off x="4660900" y="2305447"/>
            <a:ext cx="2956306"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1212"/>
                </a:solidFill>
                <a:latin typeface="Inter" pitchFamily="34" charset="0"/>
                <a:ea typeface="Inter" pitchFamily="34" charset="-122"/>
                <a:cs typeface="Inter" pitchFamily="34" charset="-120"/>
              </a:rPr>
              <a:t>Find at risk</a:t>
            </a:r>
            <a:endParaRPr lang="en-US" sz="1800" dirty="0"/>
          </a:p>
        </p:txBody>
      </p:sp>
      <p:sp>
        <p:nvSpPr>
          <p:cNvPr id="9" name="Text 7"/>
          <p:cNvSpPr/>
          <p:nvPr/>
        </p:nvSpPr>
        <p:spPr>
          <a:xfrm>
            <a:off x="4660900" y="2681356"/>
            <a:ext cx="2956306" cy="105648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A463F"/>
                </a:solidFill>
                <a:latin typeface="Inter" pitchFamily="34" charset="0"/>
                <a:ea typeface="Inter" pitchFamily="34" charset="-122"/>
                <a:cs typeface="Inter" pitchFamily="34" charset="-120"/>
              </a:rPr>
              <a:t>The </a:t>
            </a:r>
            <a:r>
              <a:rPr lang="en-US" sz="1400" b="1" dirty="0">
                <a:solidFill>
                  <a:srgbClr val="121212"/>
                </a:solidFill>
                <a:latin typeface="Inter" pitchFamily="34" charset="0"/>
                <a:ea typeface="Inter" pitchFamily="34" charset="-122"/>
                <a:cs typeface="Inter" pitchFamily="34" charset="-120"/>
              </a:rPr>
              <a:t>k</a:t>
            </a:r>
            <a:r>
              <a:rPr lang="en-US" sz="1400" dirty="0">
                <a:solidFill>
                  <a:srgbClr val="4A463F"/>
                </a:solidFill>
                <a:latin typeface="Inter" pitchFamily="34" charset="0"/>
                <a:ea typeface="Inter" pitchFamily="34" charset="-122"/>
                <a:cs typeface="Inter" pitchFamily="34" charset="-120"/>
              </a:rPr>
              <a:t>-th unit to expire is at risk if </a:t>
            </a:r>
            <a:r>
              <a:rPr lang="en-US" sz="1400" b="1" dirty="0">
                <a:solidFill>
                  <a:srgbClr val="121212"/>
                </a:solidFill>
                <a:latin typeface="Inter" pitchFamily="34" charset="0"/>
                <a:ea typeface="Inter" pitchFamily="34" charset="-122"/>
                <a:cs typeface="Inter" pitchFamily="34" charset="-120"/>
              </a:rPr>
              <a:t>k</a:t>
            </a:r>
            <a:r>
              <a:rPr lang="en-US" sz="1400" dirty="0">
                <a:solidFill>
                  <a:srgbClr val="4A463F"/>
                </a:solidFill>
                <a:latin typeface="Inter" pitchFamily="34" charset="0"/>
                <a:ea typeface="Inter" pitchFamily="34" charset="-122"/>
                <a:cs typeface="Inter" pitchFamily="34" charset="-120"/>
              </a:rPr>
              <a:t> exceeds the demand forecast before it expires. Staff approve each planned transfer.</a:t>
            </a:r>
            <a:endParaRPr lang="en-US" sz="1400" dirty="0"/>
          </a:p>
        </p:txBody>
      </p:sp>
      <p:sp>
        <p:nvSpPr>
          <p:cNvPr id="10" name="Shape 8"/>
          <p:cNvSpPr/>
          <p:nvPr/>
        </p:nvSpPr>
        <p:spPr>
          <a:xfrm>
            <a:off x="7995709" y="2075790"/>
            <a:ext cx="3380317" cy="2124075"/>
          </a:xfrm>
          <a:prstGeom prst="roundRect">
            <a:avLst>
              <a:gd name="adj" fmla="val 4634"/>
            </a:avLst>
          </a:prstGeom>
          <a:solidFill>
            <a:srgbClr val="FBFAF6"/>
          </a:solidFill>
          <a:ln w="6350">
            <a:solidFill>
              <a:srgbClr val="DDD6C8"/>
            </a:solidFill>
            <a:prstDash val="solid"/>
          </a:ln>
        </p:spPr>
        <p:txBody>
          <a:bodyPr/>
          <a:lstStyle/>
          <a:p>
            <a:endParaRPr lang="en-IN"/>
          </a:p>
        </p:txBody>
      </p:sp>
      <p:sp>
        <p:nvSpPr>
          <p:cNvPr id="11" name="Text 9"/>
          <p:cNvSpPr/>
          <p:nvPr/>
        </p:nvSpPr>
        <p:spPr>
          <a:xfrm>
            <a:off x="8250767" y="2305447"/>
            <a:ext cx="2956306"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21212"/>
                </a:solidFill>
                <a:latin typeface="Inter" pitchFamily="34" charset="0"/>
                <a:ea typeface="Inter" pitchFamily="34" charset="-122"/>
                <a:cs typeface="Inter" pitchFamily="34" charset="-120"/>
              </a:rPr>
              <a:t>Prove it</a:t>
            </a:r>
            <a:endParaRPr lang="en-US" sz="1800" dirty="0"/>
          </a:p>
        </p:txBody>
      </p:sp>
      <p:sp>
        <p:nvSpPr>
          <p:cNvPr id="12" name="Text 10"/>
          <p:cNvSpPr/>
          <p:nvPr/>
        </p:nvSpPr>
        <p:spPr>
          <a:xfrm>
            <a:off x="8250767" y="2681356"/>
            <a:ext cx="2956306" cy="105648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4A463F"/>
                </a:solidFill>
                <a:latin typeface="Inter" pitchFamily="34" charset="0"/>
                <a:ea typeface="Inter" pitchFamily="34" charset="-122"/>
                <a:cs typeface="Inter" pitchFamily="34" charset="-120"/>
              </a:rPr>
              <a:t>Each audit entry's SHA-256 hash includes the previous one. Edit any entry and every later hash breaks.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F3E2B"/>
        </a:solidFill>
        <a:effectLst/>
      </p:bgPr>
    </p:bg>
    <p:spTree>
      <p:nvGrpSpPr>
        <p:cNvPr id="1" name=""/>
        <p:cNvGrpSpPr/>
        <p:nvPr/>
      </p:nvGrpSpPr>
      <p:grpSpPr>
        <a:xfrm>
          <a:off x="0" y="0"/>
          <a:ext cx="0" cy="0"/>
          <a:chOff x="0" y="0"/>
          <a:chExt cx="0" cy="0"/>
        </a:xfrm>
      </p:grpSpPr>
      <p:sp>
        <p:nvSpPr>
          <p:cNvPr id="2" name="Text 0"/>
          <p:cNvSpPr/>
          <p:nvPr/>
        </p:nvSpPr>
        <p:spPr>
          <a:xfrm>
            <a:off x="812800" y="1196315"/>
            <a:ext cx="4813808" cy="274307"/>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121212"/>
                </a:solidFill>
                <a:latin typeface="Inter" pitchFamily="34" charset="0"/>
                <a:ea typeface="Inter" pitchFamily="34" charset="-122"/>
                <a:cs typeface="Inter" pitchFamily="34" charset="-120"/>
              </a:rPr>
              <a:t>LIVE DEMONSTRATION</a:t>
            </a:r>
            <a:endParaRPr lang="en-US" sz="1400" dirty="0"/>
          </a:p>
        </p:txBody>
      </p:sp>
      <p:sp>
        <p:nvSpPr>
          <p:cNvPr id="3" name="Text 1"/>
          <p:cNvSpPr>
            <a:spLocks noGrp="1"/>
          </p:cNvSpPr>
          <p:nvPr>
            <p:ph type="title"/>
          </p:nvPr>
        </p:nvSpPr>
        <p:spPr>
          <a:xfrm>
            <a:off x="812800" y="1597620"/>
            <a:ext cx="4813808" cy="4089400"/>
          </a:xfrm>
          <a:prstGeom prst="rect">
            <a:avLst/>
          </a:prstGeom>
          <a:noFill/>
          <a:ln/>
        </p:spPr>
        <p:txBody>
          <a:bodyPr wrap="square" lIns="0" tIns="0" rIns="0" bIns="0" rtlCol="0" anchor="t">
            <a:normAutofit/>
          </a:bodyPr>
          <a:lstStyle/>
          <a:p>
            <a:pPr marL="0" indent="0" algn="l">
              <a:lnSpc>
                <a:spcPts val="8000"/>
              </a:lnSpc>
              <a:buNone/>
            </a:pPr>
            <a:r>
              <a:rPr lang="en-US" sz="8000" b="0" i="0" dirty="0">
                <a:solidFill>
                  <a:srgbClr val="121212"/>
                </a:solidFill>
                <a:latin typeface="Anton" pitchFamily="34" charset="0"/>
                <a:ea typeface="Anton" pitchFamily="34" charset="-122"/>
                <a:cs typeface="Anton" pitchFamily="34" charset="-120"/>
              </a:rPr>
              <a:t>FROM EMPTY TO RESCUED BLOOD</a:t>
            </a:r>
            <a:endParaRPr lang="en-US" sz="8000" dirty="0"/>
          </a:p>
        </p:txBody>
      </p:sp>
      <p:sp>
        <p:nvSpPr>
          <p:cNvPr id="4" name="Shape 2"/>
          <p:cNvSpPr/>
          <p:nvPr/>
        </p:nvSpPr>
        <p:spPr>
          <a:xfrm>
            <a:off x="6096000" y="1905000"/>
            <a:ext cx="5283200" cy="3048000"/>
          </a:xfrm>
          <a:prstGeom prst="roundRect">
            <a:avLst>
              <a:gd name="adj" fmla="val 3333"/>
            </a:avLst>
          </a:prstGeom>
          <a:solidFill>
            <a:srgbClr val="121212"/>
          </a:solidFill>
          <a:ln/>
        </p:spPr>
        <p:txBody>
          <a:bodyPr/>
          <a:lstStyle/>
          <a:p>
            <a:endParaRPr lang="en-IN"/>
          </a:p>
        </p:txBody>
      </p:sp>
      <p:sp>
        <p:nvSpPr>
          <p:cNvPr id="5" name="Text 3"/>
          <p:cNvSpPr/>
          <p:nvPr/>
        </p:nvSpPr>
        <p:spPr>
          <a:xfrm>
            <a:off x="6413897" y="2209800"/>
            <a:ext cx="4793091" cy="2463800"/>
          </a:xfrm>
          <a:prstGeom prst="rect">
            <a:avLst/>
          </a:prstGeom>
          <a:noFill/>
          <a:ln/>
        </p:spPr>
        <p:txBody>
          <a:bodyPr wrap="square" lIns="0" tIns="0" rIns="0" bIns="0" rtlCol="0" anchor="t">
            <a:normAutofit/>
          </a:bodyPr>
          <a:lstStyle/>
          <a:p>
            <a:pPr marL="240903" indent="-240903" algn="l">
              <a:lnSpc>
                <a:spcPts val="2400"/>
              </a:lnSpc>
              <a:buSzPct val="100000"/>
              <a:buFontTx/>
              <a:buAutoNum type="arabicPeriod"/>
            </a:pPr>
            <a:r>
              <a:rPr lang="en-US" sz="1600" dirty="0">
                <a:solidFill>
                  <a:srgbClr val="F4F1EA"/>
                </a:solidFill>
                <a:latin typeface="Inter" pitchFamily="34" charset="0"/>
                <a:ea typeface="Inter" pitchFamily="34" charset="-122"/>
                <a:cs typeface="Inter" pitchFamily="34" charset="-120"/>
              </a:rPr>
              <a:t>Set up the first administrator</a:t>
            </a:r>
            <a:endParaRPr lang="en-US" sz="1600" dirty="0"/>
          </a:p>
          <a:p>
            <a:pPr marL="240903" indent="-240903" algn="l">
              <a:lnSpc>
                <a:spcPts val="2400"/>
              </a:lnSpc>
              <a:buSzPct val="100000"/>
              <a:buFontTx/>
              <a:buAutoNum type="arabicPeriod"/>
            </a:pPr>
            <a:r>
              <a:rPr lang="en-US" sz="1600" dirty="0">
                <a:solidFill>
                  <a:srgbClr val="F4F1EA"/>
                </a:solidFill>
                <a:latin typeface="Inter" pitchFamily="34" charset="0"/>
                <a:ea typeface="Inter" pitchFamily="34" charset="-122"/>
                <a:cs typeface="Inter" pitchFamily="34" charset="-120"/>
              </a:rPr>
              <a:t>Add a hub, a centre and a hospital on the map</a:t>
            </a:r>
            <a:endParaRPr lang="en-US" sz="1600" dirty="0"/>
          </a:p>
          <a:p>
            <a:pPr marL="240903" indent="-240903" algn="l">
              <a:lnSpc>
                <a:spcPts val="2400"/>
              </a:lnSpc>
              <a:buSzPct val="100000"/>
              <a:buFontTx/>
              <a:buAutoNum type="arabicPeriod"/>
            </a:pPr>
            <a:r>
              <a:rPr lang="en-US" sz="1600" dirty="0">
                <a:solidFill>
                  <a:srgbClr val="F4F1EA"/>
                </a:solidFill>
                <a:latin typeface="Inter" pitchFamily="34" charset="0"/>
                <a:ea typeface="Inter" pitchFamily="34" charset="-122"/>
                <a:cs typeface="Inter" pitchFamily="34" charset="-120"/>
              </a:rPr>
              <a:t>Create staff with one-time passwords</a:t>
            </a:r>
            <a:endParaRPr lang="en-US" sz="1600" dirty="0"/>
          </a:p>
          <a:p>
            <a:pPr marL="240903" indent="-240903" algn="l">
              <a:lnSpc>
                <a:spcPts val="2400"/>
              </a:lnSpc>
              <a:buSzPct val="100000"/>
              <a:buFontTx/>
              <a:buAutoNum type="arabicPeriod"/>
            </a:pPr>
            <a:r>
              <a:rPr lang="en-US" sz="1600" dirty="0">
                <a:solidFill>
                  <a:srgbClr val="F4F1EA"/>
                </a:solidFill>
                <a:latin typeface="Inter" pitchFamily="34" charset="0"/>
                <a:ea typeface="Inter" pitchFamily="34" charset="-122"/>
                <a:cs typeface="Inter" pitchFamily="34" charset="-120"/>
              </a:rPr>
              <a:t>Log stock with a donation number</a:t>
            </a:r>
            <a:endParaRPr lang="en-US" sz="1600" dirty="0"/>
          </a:p>
          <a:p>
            <a:pPr marL="240903" indent="-240903" algn="l">
              <a:lnSpc>
                <a:spcPts val="2400"/>
              </a:lnSpc>
              <a:buSzPct val="100000"/>
              <a:buFontTx/>
              <a:buAutoNum type="arabicPeriod"/>
            </a:pPr>
            <a:r>
              <a:rPr lang="en-US" sz="1600" dirty="0">
                <a:solidFill>
                  <a:srgbClr val="F4F1EA"/>
                </a:solidFill>
                <a:latin typeface="Inter" pitchFamily="34" charset="0"/>
                <a:ea typeface="Inter" pitchFamily="34" charset="-122"/>
                <a:cs typeface="Inter" pitchFamily="34" charset="-120"/>
              </a:rPr>
              <a:t>Raise an emergency request; dispatch; receive</a:t>
            </a:r>
            <a:endParaRPr lang="en-US" sz="1600" dirty="0"/>
          </a:p>
          <a:p>
            <a:pPr marL="240903" indent="-240903" algn="l">
              <a:lnSpc>
                <a:spcPts val="2400"/>
              </a:lnSpc>
              <a:buSzPct val="100000"/>
              <a:buFontTx/>
              <a:buAutoNum type="arabicPeriod"/>
            </a:pPr>
            <a:r>
              <a:rPr lang="en-US" sz="1600" dirty="0">
                <a:solidFill>
                  <a:srgbClr val="F4F1EA"/>
                </a:solidFill>
                <a:latin typeface="Inter" pitchFamily="34" charset="0"/>
                <a:ea typeface="Inter" pitchFamily="34" charset="-122"/>
                <a:cs typeface="Inter" pitchFamily="34" charset="-120"/>
              </a:rPr>
              <a:t>Plan and approve a transfer; show the audit log</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07"/>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C4271A"/>
                </a:solidFill>
                <a:latin typeface="Inter" pitchFamily="34" charset="0"/>
                <a:ea typeface="Inter" pitchFamily="34" charset="-122"/>
                <a:cs typeface="Inter" pitchFamily="34" charset="-120"/>
              </a:rPr>
              <a:t>EVIDENCE: QUALITY AND SPEED</a:t>
            </a:r>
            <a:endParaRPr lang="en-US" sz="1400" dirty="0"/>
          </a:p>
        </p:txBody>
      </p:sp>
      <p:sp>
        <p:nvSpPr>
          <p:cNvPr id="3" name="Text 1"/>
          <p:cNvSpPr>
            <a:spLocks noGrp="1"/>
          </p:cNvSpPr>
          <p:nvPr>
            <p:ph type="title"/>
          </p:nvPr>
        </p:nvSpPr>
        <p:spPr>
          <a:xfrm>
            <a:off x="812800" y="1315709"/>
            <a:ext cx="10883392" cy="528307"/>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21212"/>
                </a:solidFill>
                <a:latin typeface="Anton" pitchFamily="34" charset="0"/>
                <a:ea typeface="Anton" pitchFamily="34" charset="-122"/>
                <a:cs typeface="Anton" pitchFamily="34" charset="-120"/>
              </a:rPr>
              <a:t>TESTED ON EVERY CHANGE, THEN MADE FASTER</a:t>
            </a:r>
            <a:endParaRPr lang="en-US" sz="3600" dirty="0"/>
          </a:p>
        </p:txBody>
      </p:sp>
      <p:sp>
        <p:nvSpPr>
          <p:cNvPr id="4" name="Shape 2"/>
          <p:cNvSpPr/>
          <p:nvPr/>
        </p:nvSpPr>
        <p:spPr>
          <a:xfrm>
            <a:off x="815975" y="2075790"/>
            <a:ext cx="3397250" cy="1566730"/>
          </a:xfrm>
          <a:prstGeom prst="roundRect">
            <a:avLst>
              <a:gd name="adj" fmla="val 6282"/>
            </a:avLst>
          </a:prstGeom>
          <a:solidFill>
            <a:srgbClr val="FBFAF6"/>
          </a:solidFill>
          <a:ln w="6350">
            <a:solidFill>
              <a:srgbClr val="DDD6C8"/>
            </a:solidFill>
            <a:prstDash val="solid"/>
          </a:ln>
        </p:spPr>
        <p:txBody>
          <a:bodyPr/>
          <a:lstStyle/>
          <a:p>
            <a:endParaRPr lang="en-IN"/>
          </a:p>
        </p:txBody>
      </p:sp>
      <p:sp>
        <p:nvSpPr>
          <p:cNvPr id="5" name="Text 3"/>
          <p:cNvSpPr/>
          <p:nvPr/>
        </p:nvSpPr>
        <p:spPr>
          <a:xfrm>
            <a:off x="1071033" y="2391173"/>
            <a:ext cx="2973747" cy="635000"/>
          </a:xfrm>
          <a:prstGeom prst="rect">
            <a:avLst/>
          </a:prstGeom>
          <a:noFill/>
          <a:ln/>
        </p:spPr>
        <p:txBody>
          <a:bodyPr wrap="square" lIns="0" tIns="0" rIns="0" bIns="0" rtlCol="0" anchor="t">
            <a:normAutofit/>
          </a:bodyPr>
          <a:lstStyle/>
          <a:p>
            <a:pPr marL="0" indent="0" algn="l">
              <a:lnSpc>
                <a:spcPts val="4800"/>
              </a:lnSpc>
              <a:buNone/>
            </a:pPr>
            <a:r>
              <a:rPr lang="en-US" sz="4800" dirty="0">
                <a:solidFill>
                  <a:srgbClr val="C4271A"/>
                </a:solidFill>
                <a:latin typeface="Anton" pitchFamily="34" charset="0"/>
                <a:ea typeface="Anton" pitchFamily="34" charset="-122"/>
                <a:cs typeface="Anton" pitchFamily="34" charset="-120"/>
              </a:rPr>
              <a:t>195</a:t>
            </a:r>
            <a:endParaRPr lang="en-US" sz="4800" dirty="0"/>
          </a:p>
        </p:txBody>
      </p:sp>
      <p:sp>
        <p:nvSpPr>
          <p:cNvPr id="6" name="Text 4"/>
          <p:cNvSpPr/>
          <p:nvPr/>
        </p:nvSpPr>
        <p:spPr>
          <a:xfrm>
            <a:off x="1071033" y="2940447"/>
            <a:ext cx="2973747"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63F"/>
                </a:solidFill>
                <a:latin typeface="Inter" pitchFamily="34" charset="0"/>
                <a:ea typeface="Inter" pitchFamily="34" charset="-122"/>
                <a:cs typeface="Inter" pitchFamily="34" charset="-120"/>
              </a:rPr>
              <a:t>Automated tests, run on every change</a:t>
            </a:r>
            <a:endParaRPr lang="en-US" sz="1400" dirty="0"/>
          </a:p>
        </p:txBody>
      </p:sp>
      <p:sp>
        <p:nvSpPr>
          <p:cNvPr id="7" name="Shape 5"/>
          <p:cNvSpPr/>
          <p:nvPr/>
        </p:nvSpPr>
        <p:spPr>
          <a:xfrm>
            <a:off x="4397375" y="2075790"/>
            <a:ext cx="3397250" cy="1566730"/>
          </a:xfrm>
          <a:prstGeom prst="roundRect">
            <a:avLst>
              <a:gd name="adj" fmla="val 6282"/>
            </a:avLst>
          </a:prstGeom>
          <a:solidFill>
            <a:srgbClr val="FBFAF6"/>
          </a:solidFill>
          <a:ln w="6350">
            <a:solidFill>
              <a:srgbClr val="DDD6C8"/>
            </a:solidFill>
            <a:prstDash val="solid"/>
          </a:ln>
        </p:spPr>
        <p:txBody>
          <a:bodyPr/>
          <a:lstStyle/>
          <a:p>
            <a:endParaRPr lang="en-IN"/>
          </a:p>
        </p:txBody>
      </p:sp>
      <p:sp>
        <p:nvSpPr>
          <p:cNvPr id="8" name="Text 6"/>
          <p:cNvSpPr/>
          <p:nvPr/>
        </p:nvSpPr>
        <p:spPr>
          <a:xfrm>
            <a:off x="4652433" y="2380140"/>
            <a:ext cx="2973747" cy="635000"/>
          </a:xfrm>
          <a:prstGeom prst="rect">
            <a:avLst/>
          </a:prstGeom>
          <a:noFill/>
          <a:ln/>
        </p:spPr>
        <p:txBody>
          <a:bodyPr wrap="square" lIns="0" tIns="0" rIns="0" bIns="0" rtlCol="0" anchor="t">
            <a:normAutofit/>
          </a:bodyPr>
          <a:lstStyle/>
          <a:p>
            <a:pPr marL="0" indent="0" algn="l">
              <a:lnSpc>
                <a:spcPts val="4800"/>
              </a:lnSpc>
              <a:buNone/>
            </a:pPr>
            <a:r>
              <a:rPr lang="en-US" sz="4800" dirty="0">
                <a:solidFill>
                  <a:srgbClr val="C4271A"/>
                </a:solidFill>
                <a:latin typeface="Anton" pitchFamily="34" charset="0"/>
                <a:ea typeface="Anton" pitchFamily="34" charset="-122"/>
                <a:cs typeface="Anton" pitchFamily="34" charset="-120"/>
              </a:rPr>
              <a:t>80%</a:t>
            </a:r>
            <a:endParaRPr lang="en-US" sz="4800" dirty="0"/>
          </a:p>
        </p:txBody>
      </p:sp>
      <p:sp>
        <p:nvSpPr>
          <p:cNvPr id="9" name="Text 7"/>
          <p:cNvSpPr/>
          <p:nvPr/>
        </p:nvSpPr>
        <p:spPr>
          <a:xfrm>
            <a:off x="4652433" y="2940447"/>
            <a:ext cx="2973747"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63F"/>
                </a:solidFill>
                <a:latin typeface="Inter" pitchFamily="34" charset="0"/>
                <a:ea typeface="Inter" pitchFamily="34" charset="-122"/>
                <a:cs typeface="Inter" pitchFamily="34" charset="-120"/>
              </a:rPr>
              <a:t>Line coverage enforced per module</a:t>
            </a:r>
            <a:endParaRPr lang="en-US" sz="1400" dirty="0"/>
          </a:p>
        </p:txBody>
      </p:sp>
      <p:sp>
        <p:nvSpPr>
          <p:cNvPr id="10" name="Shape 8"/>
          <p:cNvSpPr/>
          <p:nvPr/>
        </p:nvSpPr>
        <p:spPr>
          <a:xfrm>
            <a:off x="7978775" y="2075790"/>
            <a:ext cx="3397250" cy="1566730"/>
          </a:xfrm>
          <a:prstGeom prst="roundRect">
            <a:avLst>
              <a:gd name="adj" fmla="val 6282"/>
            </a:avLst>
          </a:prstGeom>
          <a:solidFill>
            <a:srgbClr val="FBFAF6"/>
          </a:solidFill>
          <a:ln w="6350">
            <a:solidFill>
              <a:srgbClr val="DDD6C8"/>
            </a:solidFill>
            <a:prstDash val="solid"/>
          </a:ln>
        </p:spPr>
        <p:txBody>
          <a:bodyPr/>
          <a:lstStyle/>
          <a:p>
            <a:endParaRPr lang="en-IN"/>
          </a:p>
        </p:txBody>
      </p:sp>
      <p:sp>
        <p:nvSpPr>
          <p:cNvPr id="11" name="Text 9"/>
          <p:cNvSpPr/>
          <p:nvPr/>
        </p:nvSpPr>
        <p:spPr>
          <a:xfrm>
            <a:off x="8233834" y="2353855"/>
            <a:ext cx="2973747" cy="635000"/>
          </a:xfrm>
          <a:prstGeom prst="rect">
            <a:avLst/>
          </a:prstGeom>
          <a:noFill/>
          <a:ln/>
        </p:spPr>
        <p:txBody>
          <a:bodyPr wrap="square" lIns="0" tIns="0" rIns="0" bIns="0" rtlCol="0" anchor="t">
            <a:normAutofit/>
          </a:bodyPr>
          <a:lstStyle/>
          <a:p>
            <a:pPr marL="0" indent="0" algn="l">
              <a:lnSpc>
                <a:spcPts val="4800"/>
              </a:lnSpc>
              <a:buNone/>
            </a:pPr>
            <a:r>
              <a:rPr lang="en-US" sz="4800" dirty="0">
                <a:solidFill>
                  <a:srgbClr val="C4271A"/>
                </a:solidFill>
                <a:latin typeface="Anton" pitchFamily="34" charset="0"/>
                <a:ea typeface="Anton" pitchFamily="34" charset="-122"/>
                <a:cs typeface="Anton" pitchFamily="34" charset="-120"/>
              </a:rPr>
              <a:t>3 CI</a:t>
            </a:r>
            <a:endParaRPr lang="en-US" sz="4800" dirty="0"/>
          </a:p>
        </p:txBody>
      </p:sp>
      <p:sp>
        <p:nvSpPr>
          <p:cNvPr id="12" name="Text 10"/>
          <p:cNvSpPr/>
          <p:nvPr/>
        </p:nvSpPr>
        <p:spPr>
          <a:xfrm>
            <a:off x="8233834" y="2940447"/>
            <a:ext cx="2973747"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63F"/>
                </a:solidFill>
                <a:latin typeface="Inter" pitchFamily="34" charset="0"/>
                <a:ea typeface="Inter" pitchFamily="34" charset="-122"/>
                <a:cs typeface="Inter" pitchFamily="34" charset="-120"/>
              </a:rPr>
              <a:t>Java 21, Java 25 and PostgreSQL 17</a:t>
            </a:r>
            <a:endParaRPr lang="en-US" sz="1400" dirty="0"/>
          </a:p>
        </p:txBody>
      </p:sp>
      <p:sp>
        <p:nvSpPr>
          <p:cNvPr id="13" name="Shape 11"/>
          <p:cNvSpPr/>
          <p:nvPr/>
        </p:nvSpPr>
        <p:spPr>
          <a:xfrm>
            <a:off x="815975" y="3826669"/>
            <a:ext cx="3397250" cy="1566730"/>
          </a:xfrm>
          <a:prstGeom prst="roundRect">
            <a:avLst>
              <a:gd name="adj" fmla="val 6282"/>
            </a:avLst>
          </a:prstGeom>
          <a:solidFill>
            <a:srgbClr val="FBFAF6"/>
          </a:solidFill>
          <a:ln w="6350">
            <a:solidFill>
              <a:srgbClr val="DDD6C8"/>
            </a:solidFill>
            <a:prstDash val="solid"/>
          </a:ln>
        </p:spPr>
        <p:txBody>
          <a:bodyPr/>
          <a:lstStyle/>
          <a:p>
            <a:endParaRPr lang="en-IN"/>
          </a:p>
        </p:txBody>
      </p:sp>
      <p:sp>
        <p:nvSpPr>
          <p:cNvPr id="14" name="Text 12"/>
          <p:cNvSpPr/>
          <p:nvPr/>
        </p:nvSpPr>
        <p:spPr>
          <a:xfrm>
            <a:off x="1071033" y="4079138"/>
            <a:ext cx="2973747" cy="635000"/>
          </a:xfrm>
          <a:prstGeom prst="rect">
            <a:avLst/>
          </a:prstGeom>
          <a:noFill/>
          <a:ln/>
        </p:spPr>
        <p:txBody>
          <a:bodyPr wrap="square" lIns="0" tIns="0" rIns="0" bIns="0" rtlCol="0" anchor="t">
            <a:normAutofit/>
          </a:bodyPr>
          <a:lstStyle/>
          <a:p>
            <a:pPr marL="0" indent="0" algn="l">
              <a:lnSpc>
                <a:spcPts val="4800"/>
              </a:lnSpc>
              <a:buNone/>
            </a:pPr>
            <a:r>
              <a:rPr lang="en-US" sz="4800" dirty="0">
                <a:solidFill>
                  <a:srgbClr val="C4271A"/>
                </a:solidFill>
                <a:latin typeface="Anton" pitchFamily="34" charset="0"/>
                <a:ea typeface="Anton" pitchFamily="34" charset="-122"/>
                <a:cs typeface="Anton" pitchFamily="34" charset="-120"/>
              </a:rPr>
              <a:t>66x</a:t>
            </a:r>
            <a:endParaRPr lang="en-US" sz="4800" dirty="0"/>
          </a:p>
        </p:txBody>
      </p:sp>
      <p:sp>
        <p:nvSpPr>
          <p:cNvPr id="15" name="Text 13"/>
          <p:cNvSpPr/>
          <p:nvPr/>
        </p:nvSpPr>
        <p:spPr>
          <a:xfrm>
            <a:off x="1071033" y="4691329"/>
            <a:ext cx="2973747"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63F"/>
                </a:solidFill>
                <a:latin typeface="Inter" pitchFamily="34" charset="0"/>
                <a:ea typeface="Inter" pitchFamily="34" charset="-122"/>
                <a:cs typeface="Inter" pitchFamily="34" charset="-120"/>
              </a:rPr>
              <a:t>Faster emergency request: 8.5 to 0.13 ms</a:t>
            </a:r>
            <a:endParaRPr lang="en-US" sz="1400" dirty="0"/>
          </a:p>
        </p:txBody>
      </p:sp>
      <p:sp>
        <p:nvSpPr>
          <p:cNvPr id="16" name="Shape 14"/>
          <p:cNvSpPr/>
          <p:nvPr/>
        </p:nvSpPr>
        <p:spPr>
          <a:xfrm>
            <a:off x="4397375" y="3826669"/>
            <a:ext cx="3397250" cy="1566730"/>
          </a:xfrm>
          <a:prstGeom prst="roundRect">
            <a:avLst>
              <a:gd name="adj" fmla="val 6282"/>
            </a:avLst>
          </a:prstGeom>
          <a:solidFill>
            <a:srgbClr val="FBFAF6"/>
          </a:solidFill>
          <a:ln w="6350">
            <a:solidFill>
              <a:srgbClr val="DDD6C8"/>
            </a:solidFill>
            <a:prstDash val="solid"/>
          </a:ln>
        </p:spPr>
        <p:txBody>
          <a:bodyPr/>
          <a:lstStyle/>
          <a:p>
            <a:endParaRPr lang="en-IN"/>
          </a:p>
        </p:txBody>
      </p:sp>
      <p:sp>
        <p:nvSpPr>
          <p:cNvPr id="17" name="Text 15"/>
          <p:cNvSpPr/>
          <p:nvPr/>
        </p:nvSpPr>
        <p:spPr>
          <a:xfrm>
            <a:off x="4652433" y="4079138"/>
            <a:ext cx="2973747" cy="635000"/>
          </a:xfrm>
          <a:prstGeom prst="rect">
            <a:avLst/>
          </a:prstGeom>
          <a:noFill/>
          <a:ln/>
        </p:spPr>
        <p:txBody>
          <a:bodyPr wrap="square" lIns="0" tIns="0" rIns="0" bIns="0" rtlCol="0" anchor="t">
            <a:normAutofit/>
          </a:bodyPr>
          <a:lstStyle/>
          <a:p>
            <a:pPr marL="0" indent="0" algn="l">
              <a:lnSpc>
                <a:spcPts val="4800"/>
              </a:lnSpc>
              <a:buNone/>
            </a:pPr>
            <a:r>
              <a:rPr lang="en-US" sz="4800" dirty="0">
                <a:solidFill>
                  <a:srgbClr val="C4271A"/>
                </a:solidFill>
                <a:latin typeface="Anton" pitchFamily="34" charset="0"/>
                <a:ea typeface="Anton" pitchFamily="34" charset="-122"/>
                <a:cs typeface="Anton" pitchFamily="34" charset="-120"/>
              </a:rPr>
              <a:t>47x</a:t>
            </a:r>
            <a:endParaRPr lang="en-US" sz="4800" dirty="0"/>
          </a:p>
        </p:txBody>
      </p:sp>
      <p:sp>
        <p:nvSpPr>
          <p:cNvPr id="18" name="Text 16"/>
          <p:cNvSpPr/>
          <p:nvPr/>
        </p:nvSpPr>
        <p:spPr>
          <a:xfrm>
            <a:off x="4652433" y="4691329"/>
            <a:ext cx="3139017"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63F"/>
                </a:solidFill>
                <a:latin typeface="Inter" pitchFamily="34" charset="0"/>
                <a:ea typeface="Inter" pitchFamily="34" charset="-122"/>
                <a:cs typeface="Inter" pitchFamily="34" charset="-120"/>
              </a:rPr>
              <a:t>Faster network plan: 31.6 to 0.67 s</a:t>
            </a:r>
            <a:endParaRPr lang="en-US" sz="1400" dirty="0"/>
          </a:p>
        </p:txBody>
      </p:sp>
      <p:sp>
        <p:nvSpPr>
          <p:cNvPr id="19" name="Shape 17"/>
          <p:cNvSpPr/>
          <p:nvPr/>
        </p:nvSpPr>
        <p:spPr>
          <a:xfrm>
            <a:off x="7978775" y="3826669"/>
            <a:ext cx="3397250" cy="1566730"/>
          </a:xfrm>
          <a:prstGeom prst="roundRect">
            <a:avLst>
              <a:gd name="adj" fmla="val 6282"/>
            </a:avLst>
          </a:prstGeom>
          <a:solidFill>
            <a:srgbClr val="FBFAF6"/>
          </a:solidFill>
          <a:ln w="6350">
            <a:solidFill>
              <a:srgbClr val="DDD6C8"/>
            </a:solidFill>
            <a:prstDash val="solid"/>
          </a:ln>
        </p:spPr>
        <p:txBody>
          <a:bodyPr/>
          <a:lstStyle/>
          <a:p>
            <a:endParaRPr lang="en-IN"/>
          </a:p>
        </p:txBody>
      </p:sp>
      <p:sp>
        <p:nvSpPr>
          <p:cNvPr id="20" name="Text 18"/>
          <p:cNvSpPr/>
          <p:nvPr/>
        </p:nvSpPr>
        <p:spPr>
          <a:xfrm>
            <a:off x="8233834" y="4091787"/>
            <a:ext cx="2973747" cy="635000"/>
          </a:xfrm>
          <a:prstGeom prst="rect">
            <a:avLst/>
          </a:prstGeom>
          <a:noFill/>
          <a:ln/>
        </p:spPr>
        <p:txBody>
          <a:bodyPr wrap="square" lIns="0" tIns="0" rIns="0" bIns="0" rtlCol="0" anchor="t">
            <a:normAutofit/>
          </a:bodyPr>
          <a:lstStyle/>
          <a:p>
            <a:pPr marL="0" indent="0" algn="l">
              <a:lnSpc>
                <a:spcPts val="4800"/>
              </a:lnSpc>
              <a:buNone/>
            </a:pPr>
            <a:r>
              <a:rPr lang="en-US" sz="4800" dirty="0">
                <a:solidFill>
                  <a:srgbClr val="C4271A"/>
                </a:solidFill>
                <a:latin typeface="Anton" pitchFamily="34" charset="0"/>
                <a:ea typeface="Anton" pitchFamily="34" charset="-122"/>
                <a:cs typeface="Anton" pitchFamily="34" charset="-120"/>
              </a:rPr>
              <a:t>4.4x</a:t>
            </a:r>
            <a:endParaRPr lang="en-US" sz="4800" dirty="0"/>
          </a:p>
        </p:txBody>
      </p:sp>
      <p:sp>
        <p:nvSpPr>
          <p:cNvPr id="21" name="Text 19"/>
          <p:cNvSpPr/>
          <p:nvPr/>
        </p:nvSpPr>
        <p:spPr>
          <a:xfrm>
            <a:off x="8233834" y="4691329"/>
            <a:ext cx="2973747"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63F"/>
                </a:solidFill>
                <a:latin typeface="Inter" pitchFamily="34" charset="0"/>
                <a:ea typeface="Inter" pitchFamily="34" charset="-122"/>
                <a:cs typeface="Inter" pitchFamily="34" charset="-120"/>
              </a:rPr>
              <a:t>Server throughput, 200 users, 0 errors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F3E2B"/>
        </a:solidFill>
        <a:effectLst/>
      </p:bgPr>
    </p:bg>
    <p:spTree>
      <p:nvGrpSpPr>
        <p:cNvPr id="1" name=""/>
        <p:cNvGrpSpPr/>
        <p:nvPr/>
      </p:nvGrpSpPr>
      <p:grpSpPr>
        <a:xfrm>
          <a:off x="0" y="0"/>
          <a:ext cx="0" cy="0"/>
          <a:chOff x="0" y="0"/>
          <a:chExt cx="0" cy="0"/>
        </a:xfrm>
      </p:grpSpPr>
      <p:sp>
        <p:nvSpPr>
          <p:cNvPr id="2" name="Text 0"/>
          <p:cNvSpPr/>
          <p:nvPr/>
        </p:nvSpPr>
        <p:spPr>
          <a:xfrm>
            <a:off x="812800" y="1633209"/>
            <a:ext cx="4813808" cy="274307"/>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121212"/>
                </a:solidFill>
                <a:latin typeface="Inter" pitchFamily="34" charset="0"/>
                <a:ea typeface="Inter" pitchFamily="34" charset="-122"/>
                <a:cs typeface="Inter" pitchFamily="34" charset="-120"/>
              </a:rPr>
              <a:t>EVIDENCE: RESEARCH</a:t>
            </a:r>
            <a:endParaRPr lang="en-US" sz="1400" dirty="0"/>
          </a:p>
        </p:txBody>
      </p:sp>
      <p:sp>
        <p:nvSpPr>
          <p:cNvPr id="3" name="Text 1"/>
          <p:cNvSpPr/>
          <p:nvPr/>
        </p:nvSpPr>
        <p:spPr>
          <a:xfrm>
            <a:off x="812800" y="2235138"/>
            <a:ext cx="4813808" cy="1549400"/>
          </a:xfrm>
          <a:prstGeom prst="rect">
            <a:avLst/>
          </a:prstGeom>
          <a:noFill/>
          <a:ln/>
        </p:spPr>
        <p:txBody>
          <a:bodyPr wrap="square" lIns="0" tIns="0" rIns="0" bIns="0" rtlCol="0" anchor="t">
            <a:normAutofit/>
          </a:bodyPr>
          <a:lstStyle/>
          <a:p>
            <a:pPr marL="0" indent="0" algn="l">
              <a:lnSpc>
                <a:spcPts val="12000"/>
              </a:lnSpc>
              <a:buNone/>
            </a:pPr>
            <a:r>
              <a:rPr lang="en-US" sz="12000" dirty="0">
                <a:solidFill>
                  <a:srgbClr val="121212"/>
                </a:solidFill>
                <a:latin typeface="Anton" pitchFamily="34" charset="0"/>
                <a:ea typeface="Anton" pitchFamily="34" charset="-122"/>
                <a:cs typeface="Anton" pitchFamily="34" charset="-120"/>
              </a:rPr>
              <a:t>-60%</a:t>
            </a:r>
            <a:endParaRPr lang="en-US" sz="12000" dirty="0"/>
          </a:p>
        </p:txBody>
      </p:sp>
      <p:sp>
        <p:nvSpPr>
          <p:cNvPr id="4" name="Text 2"/>
          <p:cNvSpPr/>
          <p:nvPr/>
        </p:nvSpPr>
        <p:spPr>
          <a:xfrm>
            <a:off x="812800" y="3710918"/>
            <a:ext cx="4813808" cy="685800"/>
          </a:xfrm>
          <a:prstGeom prst="rect">
            <a:avLst/>
          </a:prstGeom>
          <a:noFill/>
          <a:ln/>
        </p:spPr>
        <p:txBody>
          <a:bodyPr wrap="square" lIns="0" tIns="0" rIns="0" bIns="0" rtlCol="0" anchor="t">
            <a:normAutofit/>
          </a:bodyPr>
          <a:lstStyle/>
          <a:p>
            <a:pPr marL="0" indent="0" algn="l">
              <a:lnSpc>
                <a:spcPts val="2600"/>
              </a:lnSpc>
              <a:buNone/>
            </a:pPr>
            <a:r>
              <a:rPr lang="en-US" sz="2000" b="1" dirty="0">
                <a:solidFill>
                  <a:srgbClr val="121212"/>
                </a:solidFill>
                <a:latin typeface="Inter" pitchFamily="34" charset="0"/>
                <a:ea typeface="Inter" pitchFamily="34" charset="-122"/>
                <a:cs typeface="Inter" pitchFamily="34" charset="-120"/>
              </a:rPr>
              <a:t>Expired units when at-risk stock is moved to where it will be used</a:t>
            </a:r>
            <a:endParaRPr lang="en-US" sz="2000" dirty="0"/>
          </a:p>
        </p:txBody>
      </p:sp>
      <p:sp>
        <p:nvSpPr>
          <p:cNvPr id="5" name="Text 3"/>
          <p:cNvSpPr/>
          <p:nvPr/>
        </p:nvSpPr>
        <p:spPr>
          <a:xfrm>
            <a:off x="812800" y="4523718"/>
            <a:ext cx="4813808"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212"/>
                </a:solidFill>
                <a:latin typeface="Inter" pitchFamily="34" charset="0"/>
                <a:ea typeface="Inter" pitchFamily="34" charset="-122"/>
                <a:cs typeface="Inter" pitchFamily="34" charset="-120"/>
              </a:rPr>
              <a:t>1,890 to 750 units in 120 days; unmet demand halved, 2.1% to 1.0%</a:t>
            </a:r>
            <a:endParaRPr lang="en-US" sz="1400" dirty="0"/>
          </a:p>
        </p:txBody>
      </p:sp>
      <p:sp>
        <p:nvSpPr>
          <p:cNvPr id="6" name="Shape 4"/>
          <p:cNvSpPr/>
          <p:nvPr/>
        </p:nvSpPr>
        <p:spPr>
          <a:xfrm>
            <a:off x="6096000" y="2067657"/>
            <a:ext cx="5283200" cy="2519495"/>
          </a:xfrm>
          <a:prstGeom prst="roundRect">
            <a:avLst>
              <a:gd name="adj" fmla="val 4033"/>
            </a:avLst>
          </a:prstGeom>
          <a:solidFill>
            <a:srgbClr val="121212"/>
          </a:solidFill>
          <a:ln/>
        </p:spPr>
        <p:txBody>
          <a:bodyPr/>
          <a:lstStyle/>
          <a:p>
            <a:endParaRPr lang="en-IN"/>
          </a:p>
        </p:txBody>
      </p:sp>
      <p:sp>
        <p:nvSpPr>
          <p:cNvPr id="7" name="Text 5"/>
          <p:cNvSpPr>
            <a:spLocks noGrp="1"/>
          </p:cNvSpPr>
          <p:nvPr>
            <p:ph type="title"/>
          </p:nvPr>
        </p:nvSpPr>
        <p:spPr>
          <a:xfrm>
            <a:off x="6400800" y="2372457"/>
            <a:ext cx="4813808" cy="330200"/>
          </a:xfrm>
          <a:prstGeom prst="rect">
            <a:avLst/>
          </a:prstGeom>
          <a:noFill/>
          <a:ln/>
        </p:spPr>
        <p:txBody>
          <a:bodyPr wrap="square" lIns="0" tIns="0" rIns="0" bIns="0" rtlCol="0" anchor="t">
            <a:normAutofit/>
          </a:bodyPr>
          <a:lstStyle/>
          <a:p>
            <a:pPr marL="0" indent="0" algn="l">
              <a:lnSpc>
                <a:spcPts val="2400"/>
              </a:lnSpc>
              <a:buNone/>
            </a:pPr>
            <a:r>
              <a:rPr lang="en-US" sz="2000" b="1" i="0" dirty="0">
                <a:solidFill>
                  <a:srgbClr val="F4F1EA"/>
                </a:solidFill>
                <a:latin typeface="Inter" pitchFamily="34" charset="0"/>
                <a:ea typeface="Inter" pitchFamily="34" charset="-122"/>
                <a:cs typeface="Inter" pitchFamily="34" charset="-120"/>
              </a:rPr>
              <a:t>A surprising finding</a:t>
            </a:r>
            <a:endParaRPr lang="en-US" sz="2000" dirty="0"/>
          </a:p>
        </p:txBody>
      </p:sp>
      <p:sp>
        <p:nvSpPr>
          <p:cNvPr id="8" name="Text 6"/>
          <p:cNvSpPr/>
          <p:nvPr/>
        </p:nvSpPr>
        <p:spPr>
          <a:xfrm>
            <a:off x="6400800" y="2804257"/>
            <a:ext cx="4813808" cy="87868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4F1EA"/>
                </a:solidFill>
                <a:latin typeface="Inter" pitchFamily="34" charset="0"/>
                <a:ea typeface="Inter" pitchFamily="34" charset="-122"/>
                <a:cs typeface="Inter" pitchFamily="34" charset="-120"/>
              </a:rPr>
              <a:t>More accurate demand forecasts did </a:t>
            </a:r>
            <a:r>
              <a:rPr lang="en-US" sz="1600" b="1" dirty="0">
                <a:solidFill>
                  <a:srgbClr val="F4F1EA"/>
                </a:solidFill>
                <a:latin typeface="Inter" pitchFamily="34" charset="0"/>
                <a:ea typeface="Inter" pitchFamily="34" charset="-122"/>
                <a:cs typeface="Inter" pitchFamily="34" charset="-120"/>
              </a:rPr>
              <a:t>not</a:t>
            </a:r>
            <a:r>
              <a:rPr lang="en-US" sz="1600" dirty="0">
                <a:solidFill>
                  <a:srgbClr val="F4F1EA"/>
                </a:solidFill>
                <a:latin typeface="Inter" pitchFamily="34" charset="0"/>
                <a:ea typeface="Inter" pitchFamily="34" charset="-122"/>
                <a:cs typeface="Inter" pitchFamily="34" charset="-120"/>
              </a:rPr>
              <a:t> give better plans: forecasters differed by under 20 expired units.</a:t>
            </a:r>
            <a:endParaRPr lang="en-US" sz="1600" dirty="0"/>
          </a:p>
        </p:txBody>
      </p:sp>
      <p:sp>
        <p:nvSpPr>
          <p:cNvPr id="9" name="Text 7"/>
          <p:cNvSpPr/>
          <p:nvPr/>
        </p:nvSpPr>
        <p:spPr>
          <a:xfrm>
            <a:off x="6400800" y="3784538"/>
            <a:ext cx="4813808"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DB8AE"/>
                </a:solidFill>
                <a:latin typeface="Inter" pitchFamily="34" charset="0"/>
                <a:ea typeface="Inter" pitchFamily="34" charset="-122"/>
                <a:cs typeface="Inter" pitchFamily="34" charset="-120"/>
              </a:rPr>
              <a:t>Judge forecasts by the waste they cause, not by their error.</a:t>
            </a:r>
            <a:endParaRPr lang="en-US" sz="1400" dirty="0"/>
          </a:p>
        </p:txBody>
      </p:sp>
      <p:sp>
        <p:nvSpPr>
          <p:cNvPr id="10" name="Text 8"/>
          <p:cNvSpPr/>
          <p:nvPr/>
        </p:nvSpPr>
        <p:spPr>
          <a:xfrm>
            <a:off x="812800" y="6238280"/>
            <a:ext cx="1085723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21212"/>
                </a:solidFill>
                <a:latin typeface="Inter" pitchFamily="34" charset="0"/>
                <a:ea typeface="Inter" pitchFamily="34" charset="-122"/>
                <a:cs typeface="Inter" pitchFamily="34" charset="-120"/>
              </a:rPr>
              <a:t>Digital twin of a synthetic Pune district network: 10 centres, 22 hospitals, 20 paired runs. Patterns are illustrative, not yet calibrated.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F3E2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1729718"/>
            <a:ext cx="4813808" cy="2565400"/>
          </a:xfrm>
          <a:prstGeom prst="rect">
            <a:avLst/>
          </a:prstGeom>
          <a:noFill/>
          <a:ln/>
        </p:spPr>
        <p:txBody>
          <a:bodyPr wrap="square" lIns="0" tIns="0" rIns="0" bIns="0" rtlCol="0" anchor="t">
            <a:normAutofit/>
          </a:bodyPr>
          <a:lstStyle/>
          <a:p>
            <a:pPr marL="0" indent="0" algn="l">
              <a:lnSpc>
                <a:spcPts val="10000"/>
              </a:lnSpc>
              <a:buNone/>
            </a:pPr>
            <a:r>
              <a:rPr lang="en-US" sz="10000" b="0" i="0" dirty="0">
                <a:solidFill>
                  <a:srgbClr val="121212"/>
                </a:solidFill>
                <a:latin typeface="Anton" pitchFamily="34" charset="0"/>
                <a:ea typeface="Anton" pitchFamily="34" charset="-122"/>
                <a:cs typeface="Anton" pitchFamily="34" charset="-120"/>
              </a:rPr>
              <a:t>THANK YOU</a:t>
            </a:r>
            <a:endParaRPr lang="en-US" sz="10000" dirty="0"/>
          </a:p>
        </p:txBody>
      </p:sp>
      <p:sp>
        <p:nvSpPr>
          <p:cNvPr id="3" name="Text 1"/>
          <p:cNvSpPr/>
          <p:nvPr/>
        </p:nvSpPr>
        <p:spPr>
          <a:xfrm>
            <a:off x="812800" y="4422118"/>
            <a:ext cx="4813808" cy="528307"/>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121212"/>
                </a:solidFill>
                <a:latin typeface="Anton" pitchFamily="34" charset="0"/>
                <a:ea typeface="Anton" pitchFamily="34" charset="-122"/>
                <a:cs typeface="Anton" pitchFamily="34" charset="-120"/>
              </a:rPr>
              <a:t>QUESTIONS?</a:t>
            </a:r>
            <a:endParaRPr lang="en-US" sz="3600" dirty="0"/>
          </a:p>
        </p:txBody>
      </p:sp>
      <p:sp>
        <p:nvSpPr>
          <p:cNvPr id="4" name="Shape 2"/>
          <p:cNvSpPr/>
          <p:nvPr/>
        </p:nvSpPr>
        <p:spPr>
          <a:xfrm>
            <a:off x="6096000" y="2197100"/>
            <a:ext cx="5283200" cy="2260600"/>
          </a:xfrm>
          <a:prstGeom prst="roundRect">
            <a:avLst>
              <a:gd name="adj" fmla="val 4494"/>
            </a:avLst>
          </a:prstGeom>
          <a:solidFill>
            <a:srgbClr val="121212"/>
          </a:solidFill>
          <a:ln/>
        </p:spPr>
        <p:txBody>
          <a:bodyPr/>
          <a:lstStyle/>
          <a:p>
            <a:endParaRPr lang="en-IN"/>
          </a:p>
        </p:txBody>
      </p:sp>
      <p:sp>
        <p:nvSpPr>
          <p:cNvPr id="5" name="Text 3"/>
          <p:cNvSpPr/>
          <p:nvPr/>
        </p:nvSpPr>
        <p:spPr>
          <a:xfrm>
            <a:off x="6400800" y="2501900"/>
            <a:ext cx="481380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4F1EA"/>
                </a:solidFill>
                <a:latin typeface="Inter" pitchFamily="34" charset="0"/>
                <a:ea typeface="Inter" pitchFamily="34" charset="-122"/>
                <a:cs typeface="Inter" pitchFamily="34" charset="-120"/>
              </a:rPr>
              <a:t>Next steps</a:t>
            </a:r>
            <a:endParaRPr lang="en-US" sz="2000" dirty="0"/>
          </a:p>
        </p:txBody>
      </p:sp>
      <p:sp>
        <p:nvSpPr>
          <p:cNvPr id="6" name="Text 4"/>
          <p:cNvSpPr/>
          <p:nvPr/>
        </p:nvSpPr>
        <p:spPr>
          <a:xfrm>
            <a:off x="6413897" y="2933700"/>
            <a:ext cx="4793091" cy="1244600"/>
          </a:xfrm>
          <a:prstGeom prst="rect">
            <a:avLst/>
          </a:prstGeom>
          <a:noFill/>
          <a:ln/>
        </p:spPr>
        <p:txBody>
          <a:bodyPr wrap="square" lIns="0" tIns="0" rIns="0" bIns="0" rtlCol="0" anchor="t">
            <a:normAutofit/>
          </a:bodyPr>
          <a:lstStyle/>
          <a:p>
            <a:pPr marL="240903" indent="-240903" algn="l">
              <a:lnSpc>
                <a:spcPts val="2400"/>
              </a:lnSpc>
              <a:buSzPct val="100000"/>
              <a:buFontTx/>
              <a:buAutoNum type="arabicPeriod"/>
            </a:pPr>
            <a:r>
              <a:rPr lang="en-US" sz="1600" dirty="0">
                <a:solidFill>
                  <a:srgbClr val="F4F1EA"/>
                </a:solidFill>
                <a:latin typeface="Inter" pitchFamily="34" charset="0"/>
                <a:ea typeface="Inter" pitchFamily="34" charset="-122"/>
                <a:cs typeface="Inter" pitchFamily="34" charset="-120"/>
              </a:rPr>
              <a:t>Calibrate with real usage data</a:t>
            </a:r>
            <a:endParaRPr lang="en-US" sz="1600" dirty="0"/>
          </a:p>
          <a:p>
            <a:pPr marL="240903" indent="-240903" algn="l">
              <a:lnSpc>
                <a:spcPts val="2400"/>
              </a:lnSpc>
              <a:buSzPct val="100000"/>
              <a:buFontTx/>
              <a:buAutoNum type="arabicPeriod"/>
            </a:pPr>
            <a:r>
              <a:rPr lang="en-US" sz="1600" dirty="0">
                <a:solidFill>
                  <a:srgbClr val="F4F1EA"/>
                </a:solidFill>
                <a:latin typeface="Inter" pitchFamily="34" charset="0"/>
                <a:ea typeface="Inter" pitchFamily="34" charset="-122"/>
                <a:cs typeface="Inter" pitchFamily="34" charset="-120"/>
              </a:rPr>
              <a:t>Study stale stock reports</a:t>
            </a:r>
            <a:endParaRPr lang="en-US" sz="1600" dirty="0"/>
          </a:p>
          <a:p>
            <a:pPr marL="240903" indent="-240903" algn="l">
              <a:lnSpc>
                <a:spcPts val="2400"/>
              </a:lnSpc>
              <a:buSzPct val="100000"/>
              <a:buFontTx/>
              <a:buAutoNum type="arabicPeriod"/>
            </a:pPr>
            <a:r>
              <a:rPr lang="en-US" sz="1600" dirty="0">
                <a:solidFill>
                  <a:srgbClr val="F4F1EA"/>
                </a:solidFill>
                <a:latin typeface="Inter" pitchFamily="34" charset="0"/>
                <a:ea typeface="Inter" pitchFamily="34" charset="-122"/>
                <a:cs typeface="Inter" pitchFamily="34" charset="-120"/>
              </a:rPr>
              <a:t>Barcodes and regional servers</a:t>
            </a:r>
            <a:endParaRPr lang="en-US" sz="1600" dirty="0"/>
          </a:p>
          <a:p>
            <a:pPr marL="240903" indent="-240903" algn="l">
              <a:lnSpc>
                <a:spcPts val="2400"/>
              </a:lnSpc>
              <a:buSzPct val="100000"/>
              <a:buFontTx/>
              <a:buAutoNum type="arabicPeriod"/>
            </a:pPr>
            <a:r>
              <a:rPr lang="en-US" sz="1600" dirty="0">
                <a:solidFill>
                  <a:srgbClr val="F4F1EA"/>
                </a:solidFill>
                <a:latin typeface="Inter" pitchFamily="34" charset="0"/>
                <a:ea typeface="Inter" pitchFamily="34" charset="-122"/>
                <a:cs typeface="Inter" pitchFamily="34" charset="-120"/>
              </a:rPr>
              <a:t>Write the study up as a paper</a:t>
            </a:r>
            <a:endParaRPr lang="en-US" sz="1600" dirty="0"/>
          </a:p>
        </p:txBody>
      </p:sp>
      <p:sp>
        <p:nvSpPr>
          <p:cNvPr id="7" name="Text 5"/>
          <p:cNvSpPr/>
          <p:nvPr/>
        </p:nvSpPr>
        <p:spPr>
          <a:xfrm>
            <a:off x="812800" y="6238280"/>
            <a:ext cx="1085723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21212"/>
                </a:solidFill>
                <a:latin typeface="Inter" pitchFamily="34" charset="0"/>
                <a:ea typeface="Inter" pitchFamily="34" charset="-122"/>
                <a:cs typeface="Inter" pitchFamily="34" charset="-120"/>
              </a:rPr>
              <a:t>Code, UML, report and research: github.com/pritikakhandelwal/raktsetu</a:t>
            </a:r>
            <a:endParaRPr lang="en-US" sz="1200" dirty="0"/>
          </a:p>
        </p:txBody>
      </p:sp>
    </p:spTree>
  </p:cSld>
  <p:clrMapOvr>
    <a:masterClrMapping/>
  </p:clrMapOvr>
</p:sld>
</file>

<file path=ppt/theme/theme1.xml><?xml version="1.0" encoding="utf-8"?>
<a:theme xmlns:a="http://schemas.openxmlformats.org/drawingml/2006/main" name="RaktSetu: Every unit counts">
  <a:themeElements>
    <a:clrScheme name="RaktSetu: Every unit counts">
      <a:dk1>
        <a:srgbClr val="121212"/>
      </a:dk1>
      <a:lt1>
        <a:srgbClr val="F4F1EA"/>
      </a:lt1>
      <a:dk2>
        <a:srgbClr val="4B4A48"/>
      </a:dk2>
      <a:lt2>
        <a:srgbClr val="DDDBD4"/>
      </a:lt2>
      <a:accent1>
        <a:srgbClr val="C4271A"/>
      </a:accent1>
      <a:accent2>
        <a:srgbClr val="EF3E2B"/>
      </a:accent2>
      <a:accent3>
        <a:srgbClr val="4A463F"/>
      </a:accent3>
      <a:accent4>
        <a:srgbClr val="BDB8AE"/>
      </a:accent4>
      <a:accent5>
        <a:srgbClr val="6B665C"/>
      </a:accent5>
      <a:accent6>
        <a:srgbClr val="9AA0A6"/>
      </a:accent6>
      <a:hlink>
        <a:srgbClr val="0563C1"/>
      </a:hlink>
      <a:folHlink>
        <a:srgbClr val="954F72"/>
      </a:folHlink>
    </a:clrScheme>
    <a:fontScheme name="RaktSetu: Every unit counts">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1872</Words>
  <Application>Microsoft Office PowerPoint</Application>
  <PresentationFormat>Widescreen</PresentationFormat>
  <Paragraphs>126</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Anton</vt:lpstr>
      <vt:lpstr>Arial</vt:lpstr>
      <vt:lpstr>Inter</vt:lpstr>
      <vt:lpstr>Wingdings</vt:lpstr>
      <vt:lpstr>RaktSetu: Every unit counts</vt:lpstr>
      <vt:lpstr>RAKTSETU</vt:lpstr>
      <vt:lpstr>BLOOD EXPIRES IN THE WRONG PLACE</vt:lpstr>
      <vt:lpstr>ONE NETWORK, THREE KINDS OF USER</vt:lpstr>
      <vt:lpstr>EVERY FRONT END RUNS THE SAME ENGINE</vt:lpstr>
      <vt:lpstr>THE FOUR PILLARS, IN REAL CLASSES</vt:lpstr>
      <vt:lpstr>SERVE NOW, RESCUE WHAT WILL EXPIRE, PROVE IT</vt:lpstr>
      <vt:lpstr>FROM EMPTY TO RESCUED BLOOD</vt:lpstr>
      <vt:lpstr>TESTED ON EVERY CHANGE, THEN MADE FASTER</vt:lpstr>
      <vt:lpstr>A surprising finding</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RaktSetu: Every unit counts</dc:title>
  <dc:subject/>
  <dc:creator>Pritika Khandelwal</dc:creator>
  <cp:lastModifiedBy>Pritika Khandelwal</cp:lastModifiedBy>
  <cp:revision>4</cp:revision>
  <dcterms:created xsi:type="dcterms:W3CDTF">2026-10-01T03:45:38Z</dcterms:created>
  <dcterms:modified xsi:type="dcterms:W3CDTF">2026-10-01T12:10:36Z</dcterms:modified>
</cp:coreProperties>
</file>